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"Week 3 zoomed in" — last week we scanned entire networks broadly; this week we take one service, HTTP, and go deep on it specifically. That pattern (broad scan, then deep-dive one service at a time) repeats for the rest of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phase as last week — worth a quick reminder that Phase 2 spans several weeks because there are simply many different services worth enumerating deeply. Web is the obvious first stop given how common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five is the philosophical core of the week — everything else is mechanical tool usage, but "know what automation cannot find" is the actual skill being taught. Preview that the lab's second flag depends entirely on this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if anyone has ever guessed a URL out of curiosity and found something unexpected — most people have a story like this without realizing it is literally the technique being formalized today. That relatable moment helps the concept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real time on the status-code table (200/301/403/404) — reading these correctly is a skill in itself, and it is very common for students to misinterpret a 403 as "nothing here" when it actually confirms something exists but is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gobuster goes first because it is genuinely most people's daily-driver choice — fast, simple output, hard to misuse. Set the expectation that we will compare it against two alternatives shortly, not because gobuster is wrong, but because knowing options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irony explicitly: robots.txt exists specifically to keep crawlers OUT of certain paths, which paradoxically makes it one of the best free hint sources for a human attacker. This always gets a laugh/reaction and helps the concept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answer to "which one should I use" is genuinely "try more than one" — different tools sometimes surface slightly different results even with the same wordlist, due to small implementation differences. That is worth saying out loud rather than picking a single favorite for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can, actually time these two commands live side by side — the speed gap between dirb and ffuf is large enough to be a genuinely convincing demo, more persuasive than any slide claiming "ffuf is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payoff of the whole week — everything before it was mechanics, this is the actual lesson. Make sure it lands before releasing students into the lab, since the second flag is specifically designed to be unreachable by automation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distinction to hammer home: gobuster/dirb/ffuf ask "what paths exist that I don't know about," while nikto asks "of what I already know is running, what's wrong with it." Different questions, both valuable, often run back-to-back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explicitly that nikto independently re-found /admin/ and /backup/ — reinforcing that these tools overlap in places but each also contributes unique findings the others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footnote is this week's one-sentence takeaway — worth reading aloud verbatim. This table is a good one to keep visible while transitioning into the lab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Pitfall three (403 misreading) is worth a direct poll again, same pattern as previous weeks — these binary "what does X actually mean" checks are cheap to run and catch real misunderstanding before it costs someone marks or lab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reference pacing — pause here, no new teaching, let it sink in before the lab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before releasing the room: students who only run the automated tools and stop will get exactly one of the two flags. That is intentional and matches the week's central lesson — encourage them to actually read what they find, not just collect status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answers: Q1-B, Q2-B, Q3-B, Q4-B. Q3 is really just this week's central lesson restated as a question — if it is missed widely, that is a signal to revisit the "what automation can never find" slide before the lab, not just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tying it back to Week 3's pattern: broad scan (nmap), then deep-dive one service (web this week). Next week does the same deep-dive treatment for three more services at once — LDAP, SMB, and 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595360" y="0"/>
            <a:ext cx="3596335" cy="6858000"/>
          </a:xfrm>
          <a:prstGeom prst="rect">
            <a:avLst/>
          </a:prstGeom>
          <a:solidFill>
            <a:srgbClr val="1B2740"/>
          </a:solidFill>
          <a:ln/>
        </p:spPr>
      </p:sp>
      <p:pic>
        <p:nvPicPr>
          <p:cNvPr id="3" name="Image 0" descr="preencoded.png">    </p:cNvPr>
          <p:cNvPicPr>
            <a:picLocks noChangeAspect="1"/>
          </p:cNvPicPr>
          <p:nvPr/>
        </p:nvPicPr>
        <p:blipFill>
          <a:blip r:embed="rId1">
            <a:alphaModFix amt="85000"/>
          </a:blip>
          <a:stretch>
            <a:fillRect/>
          </a:stretch>
        </p:blipFill>
        <p:spPr>
          <a:xfrm>
            <a:off x="9189720" y="2606040"/>
            <a:ext cx="2011680" cy="2011680"/>
          </a:xfrm>
          <a:prstGeom prst="rect">
            <a:avLst/>
          </a:prstGeom>
        </p:spPr>
      </p:pic>
      <p:sp>
        <p:nvSpPr>
          <p:cNvPr id="4" name="Text 1"/>
          <p:cNvSpPr/>
          <p:nvPr/>
        </p:nvSpPr>
        <p:spPr>
          <a:xfrm>
            <a:off x="731520" y="960120"/>
            <a:ext cx="7315200" cy="320040"/>
          </a:xfrm>
          <a:prstGeom prst="rect">
            <a:avLst/>
          </a:prstGeom>
          <a:noFill/>
          <a:ln/>
        </p:spPr>
        <p:txBody>
          <a:bodyPr wrap="square" lIns="0" tIns="0" rIns="0" bIns="0" rtlCol="0" anchor="ctr"/>
          <a:lstStyle/>
          <a:p>
            <a:pPr indent="0" marL="0">
              <a:buNone/>
            </a:pPr>
            <a:r>
              <a:rPr lang="en-US" sz="1300" b="1" spc="200" kern="0" dirty="0">
                <a:solidFill>
                  <a:srgbClr val="22D3EE"/>
                </a:solidFill>
                <a:latin typeface="Calibri" pitchFamily="34" charset="0"/>
                <a:ea typeface="Calibri" pitchFamily="34" charset="-122"/>
                <a:cs typeface="Calibri" pitchFamily="34" charset="-120"/>
              </a:rPr>
              <a:t>PHASE 2 — SCANNING &amp; ENUMERATION</a:t>
            </a:r>
            <a:endParaRPr lang="en-US" sz="1300" dirty="0"/>
          </a:p>
        </p:txBody>
      </p:sp>
      <p:sp>
        <p:nvSpPr>
          <p:cNvPr id="5" name="Text 2"/>
          <p:cNvSpPr/>
          <p:nvPr/>
        </p:nvSpPr>
        <p:spPr>
          <a:xfrm>
            <a:off x="685800" y="1371600"/>
            <a:ext cx="7589520" cy="2377440"/>
          </a:xfrm>
          <a:prstGeom prst="rect">
            <a:avLst/>
          </a:prstGeom>
          <a:noFill/>
          <a:ln/>
        </p:spPr>
        <p:txBody>
          <a:bodyPr wrap="square" lIns="0" tIns="0" rIns="0" bIns="0" rtlCol="0" anchor="t"/>
          <a:lstStyle/>
          <a:p>
            <a:pPr indent="0" marL="0">
              <a:lnSpc>
                <a:spcPct val="105000"/>
              </a:lnSpc>
              <a:buNone/>
            </a:pPr>
            <a:r>
              <a:rPr lang="en-US" sz="4000" b="1" dirty="0">
                <a:solidFill>
                  <a:srgbClr val="F8FAFC"/>
                </a:solidFill>
                <a:latin typeface="Calibri" pitchFamily="34" charset="0"/>
                <a:ea typeface="Calibri" pitchFamily="34" charset="-122"/>
                <a:cs typeface="Calibri" pitchFamily="34" charset="-120"/>
              </a:rPr>
              <a:t>Web Enumeration</a:t>
            </a:r>
            <a:endParaRPr lang="en-US" sz="4000" dirty="0"/>
          </a:p>
        </p:txBody>
      </p:sp>
      <p:sp>
        <p:nvSpPr>
          <p:cNvPr id="6" name="Text 3"/>
          <p:cNvSpPr/>
          <p:nvPr/>
        </p:nvSpPr>
        <p:spPr>
          <a:xfrm>
            <a:off x="731520" y="3520440"/>
            <a:ext cx="7315200" cy="731520"/>
          </a:xfrm>
          <a:prstGeom prst="rect">
            <a:avLst/>
          </a:prstGeom>
          <a:noFill/>
          <a:ln/>
        </p:spPr>
        <p:txBody>
          <a:bodyPr wrap="square" lIns="0" tIns="0" rIns="0" bIns="0" rtlCol="0" anchor="ctr"/>
          <a:lstStyle/>
          <a:p>
            <a:pPr indent="0" marL="0">
              <a:buNone/>
            </a:pPr>
            <a:r>
              <a:rPr lang="en-US" sz="1700" dirty="0">
                <a:solidFill>
                  <a:srgbClr val="94A3B8"/>
                </a:solidFill>
                <a:latin typeface="Calibri" pitchFamily="34" charset="0"/>
                <a:ea typeface="Calibri" pitchFamily="34" charset="-122"/>
                <a:cs typeface="Calibri" pitchFamily="34" charset="-120"/>
              </a:rPr>
              <a:t>A homepage rarely shows everything a web server is actually hosting.</a:t>
            </a:r>
            <a:endParaRPr lang="en-US" sz="1700" dirty="0"/>
          </a:p>
        </p:txBody>
      </p:sp>
      <p:sp>
        <p:nvSpPr>
          <p:cNvPr id="7" name="Shape 4"/>
          <p:cNvSpPr/>
          <p:nvPr/>
        </p:nvSpPr>
        <p:spPr>
          <a:xfrm>
            <a:off x="731520" y="4572000"/>
            <a:ext cx="2286000" cy="566928"/>
          </a:xfrm>
          <a:prstGeom prst="roundRect">
            <a:avLst>
              <a:gd name="adj" fmla="val 16129"/>
            </a:avLst>
          </a:prstGeom>
          <a:solidFill>
            <a:srgbClr val="22D3EE"/>
          </a:solidFill>
          <a:ln/>
        </p:spPr>
      </p:sp>
      <p:sp>
        <p:nvSpPr>
          <p:cNvPr id="8" name="Text 5"/>
          <p:cNvSpPr/>
          <p:nvPr/>
        </p:nvSpPr>
        <p:spPr>
          <a:xfrm>
            <a:off x="731520" y="4572000"/>
            <a:ext cx="2286000" cy="566928"/>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WEEK 4</a:t>
            </a:r>
            <a:endParaRPr lang="en-US" sz="1500" dirty="0"/>
          </a:p>
        </p:txBody>
      </p:sp>
      <p:sp>
        <p:nvSpPr>
          <p:cNvPr id="9" name="Shape 6"/>
          <p:cNvSpPr/>
          <p:nvPr/>
        </p:nvSpPr>
        <p:spPr>
          <a:xfrm>
            <a:off x="3200400" y="4572000"/>
            <a:ext cx="3200400" cy="566928"/>
          </a:xfrm>
          <a:prstGeom prst="roundRect">
            <a:avLst>
              <a:gd name="adj" fmla="val 16129"/>
            </a:avLst>
          </a:prstGeom>
          <a:solidFill>
            <a:srgbClr val="FFFFFF">
              <a:alpha val="8000"/>
            </a:srgbClr>
          </a:solidFill>
          <a:ln w="12700">
            <a:solidFill>
              <a:srgbClr val="94A3B8"/>
            </a:solidFill>
            <a:prstDash val="solid"/>
          </a:ln>
        </p:spPr>
      </p:sp>
      <p:sp>
        <p:nvSpPr>
          <p:cNvPr id="10" name="Text 7"/>
          <p:cNvSpPr/>
          <p:nvPr/>
        </p:nvSpPr>
        <p:spPr>
          <a:xfrm>
            <a:off x="3200400" y="4572000"/>
            <a:ext cx="3200400" cy="566928"/>
          </a:xfrm>
          <a:prstGeom prst="rect">
            <a:avLst/>
          </a:prstGeom>
          <a:noFill/>
          <a:ln/>
        </p:spPr>
        <p:txBody>
          <a:bodyPr wrap="square" lIns="0" tIns="0" rIns="0" bIns="0" rtlCol="0" anchor="ctr"/>
          <a:lstStyle/>
          <a:p>
            <a:pPr algn="ctr" indent="0" marL="0">
              <a:buNone/>
            </a:pPr>
            <a:r>
              <a:rPr lang="en-US" sz="1400" b="1" dirty="0">
                <a:solidFill>
                  <a:srgbClr val="F8FAFC"/>
                </a:solidFill>
                <a:latin typeface="Calibri" pitchFamily="34" charset="0"/>
                <a:ea typeface="Calibri" pitchFamily="34" charset="-122"/>
                <a:cs typeface="Calibri" pitchFamily="34" charset="-120"/>
              </a:rPr>
              <a:t>Phase 2 of 5: Scanning &amp; Enumeration</a:t>
            </a:r>
            <a:endParaRPr lang="en-US" sz="1400" dirty="0"/>
          </a:p>
        </p:txBody>
      </p:sp>
      <p:sp>
        <p:nvSpPr>
          <p:cNvPr id="11" name="Text 8"/>
          <p:cNvSpPr/>
          <p:nvPr/>
        </p:nvSpPr>
        <p:spPr>
          <a:xfrm>
            <a:off x="731520" y="635508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Ethical Hacking Course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COURSE ROADMAP</a:t>
            </a:r>
            <a:endParaRPr lang="en-US" sz="1300" dirty="0"/>
          </a:p>
        </p:txBody>
      </p:sp>
      <p:sp>
        <p:nvSpPr>
          <p:cNvPr id="3" name="Text 1"/>
          <p:cNvSpPr/>
          <p:nvPr/>
        </p:nvSpPr>
        <p:spPr>
          <a:xfrm>
            <a:off x="640080" y="841248"/>
            <a:ext cx="10058400" cy="640080"/>
          </a:xfrm>
          <a:prstGeom prst="rect">
            <a:avLst/>
          </a:prstGeom>
          <a:noFill/>
          <a:ln/>
        </p:spPr>
        <p:txBody>
          <a:bodyPr wrap="square" lIns="0" tIns="0" rIns="0" bIns="0" rtlCol="0" anchor="ctr"/>
          <a:lstStyle/>
          <a:p>
            <a:pPr indent="0" marL="0">
              <a:buNone/>
            </a:pPr>
            <a:r>
              <a:rPr lang="en-US" sz="2800" b="1" dirty="0">
                <a:solidFill>
                  <a:srgbClr val="F8FAFC"/>
                </a:solidFill>
                <a:latin typeface="Calibri" pitchFamily="34" charset="0"/>
                <a:ea typeface="Calibri" pitchFamily="34" charset="-122"/>
                <a:cs typeface="Calibri" pitchFamily="34" charset="-120"/>
              </a:rPr>
              <a:t>Where This Week Fits</a:t>
            </a:r>
            <a:endParaRPr lang="en-US" sz="2800" dirty="0"/>
          </a:p>
        </p:txBody>
      </p:sp>
      <p:sp>
        <p:nvSpPr>
          <p:cNvPr id="4" name="Shape 2"/>
          <p:cNvSpPr/>
          <p:nvPr/>
        </p:nvSpPr>
        <p:spPr>
          <a:xfrm>
            <a:off x="1623060" y="3337560"/>
            <a:ext cx="8915400" cy="0"/>
          </a:xfrm>
          <a:prstGeom prst="line">
            <a:avLst/>
          </a:prstGeom>
          <a:noFill/>
          <a:ln w="38100">
            <a:solidFill>
              <a:srgbClr val="1B2740"/>
            </a:solidFill>
            <a:prstDash val="solid"/>
          </a:ln>
        </p:spPr>
      </p:sp>
      <p:sp>
        <p:nvSpPr>
          <p:cNvPr id="5" name="Shape 3"/>
          <p:cNvSpPr/>
          <p:nvPr/>
        </p:nvSpPr>
        <p:spPr>
          <a:xfrm>
            <a:off x="640080" y="2377440"/>
            <a:ext cx="1965960" cy="1920240"/>
          </a:xfrm>
          <a:prstGeom prst="roundRect">
            <a:avLst>
              <a:gd name="adj" fmla="val 3810"/>
            </a:avLst>
          </a:prstGeom>
          <a:solidFill>
            <a:srgbClr val="1B2740"/>
          </a:solidFill>
          <a:ln w="9525">
            <a:solidFill>
              <a:srgbClr val="64748B"/>
            </a:solidFill>
            <a:prstDash val="solid"/>
          </a:ln>
        </p:spPr>
      </p:sp>
      <p:sp>
        <p:nvSpPr>
          <p:cNvPr id="6" name="Text 4"/>
          <p:cNvSpPr/>
          <p:nvPr/>
        </p:nvSpPr>
        <p:spPr>
          <a:xfrm>
            <a:off x="777240" y="2560320"/>
            <a:ext cx="1691640" cy="274320"/>
          </a:xfrm>
          <a:prstGeom prst="rect">
            <a:avLst/>
          </a:prstGeom>
          <a:noFill/>
          <a:ln/>
        </p:spPr>
        <p:txBody>
          <a:bodyPr wrap="square" lIns="0" tIns="0" rIns="0" bIns="0" rtlCol="0" anchor="ctr"/>
          <a:lstStyle/>
          <a:p>
            <a:pPr indent="0" marL="0">
              <a:buNone/>
            </a:pPr>
            <a:r>
              <a:rPr lang="en-US" sz="1050" b="1" dirty="0">
                <a:solidFill>
                  <a:srgbClr val="94A3B8"/>
                </a:solidFill>
                <a:latin typeface="Courier New" pitchFamily="34" charset="0"/>
                <a:ea typeface="Courier New" pitchFamily="34" charset="-122"/>
                <a:cs typeface="Courier New" pitchFamily="34" charset="-120"/>
              </a:rPr>
              <a:t>PHASE 1</a:t>
            </a:r>
            <a:endParaRPr lang="en-US" sz="1050" dirty="0"/>
          </a:p>
        </p:txBody>
      </p:sp>
      <p:sp>
        <p:nvSpPr>
          <p:cNvPr id="7" name="Text 5"/>
          <p:cNvSpPr/>
          <p:nvPr/>
        </p:nvSpPr>
        <p:spPr>
          <a:xfrm>
            <a:off x="777240" y="2880360"/>
            <a:ext cx="1691640" cy="1280160"/>
          </a:xfrm>
          <a:prstGeom prst="rect">
            <a:avLst/>
          </a:prstGeom>
          <a:noFill/>
          <a:ln/>
        </p:spPr>
        <p:txBody>
          <a:bodyPr wrap="square" lIns="0" tIns="0" rIns="0" bIns="0" rtlCol="0" anchor="t"/>
          <a:lstStyle/>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Reconnaissance</a:t>
            </a:r>
            <a:endParaRPr lang="en-US" sz="1400" dirty="0"/>
          </a:p>
        </p:txBody>
      </p:sp>
      <p:sp>
        <p:nvSpPr>
          <p:cNvPr id="8" name="Shape 6"/>
          <p:cNvSpPr/>
          <p:nvPr/>
        </p:nvSpPr>
        <p:spPr>
          <a:xfrm>
            <a:off x="2868930" y="2377440"/>
            <a:ext cx="1965960" cy="1920240"/>
          </a:xfrm>
          <a:prstGeom prst="roundRect">
            <a:avLst>
              <a:gd name="adj" fmla="val 3810"/>
            </a:avLst>
          </a:prstGeom>
          <a:solidFill>
            <a:srgbClr val="22D3EE"/>
          </a:solidFill>
          <a:ln/>
          <a:effectLst>
            <a:outerShdw sx="100000" sy="100000" kx="0" ky="0" algn="bl" rotWithShape="0" blurRad="127000" dist="50800" dir="5400000">
              <a:srgbClr val="22D3EE">
                <a:alpha val="35000"/>
              </a:srgbClr>
            </a:outerShdw>
          </a:effectLst>
        </p:spPr>
      </p:sp>
      <p:sp>
        <p:nvSpPr>
          <p:cNvPr id="9" name="Text 7"/>
          <p:cNvSpPr/>
          <p:nvPr/>
        </p:nvSpPr>
        <p:spPr>
          <a:xfrm>
            <a:off x="3006090" y="2560320"/>
            <a:ext cx="1691640" cy="274320"/>
          </a:xfrm>
          <a:prstGeom prst="rect">
            <a:avLst/>
          </a:prstGeom>
          <a:noFill/>
          <a:ln/>
        </p:spPr>
        <p:txBody>
          <a:bodyPr wrap="square" lIns="0" tIns="0" rIns="0" bIns="0" rtlCol="0" anchor="ctr"/>
          <a:lstStyle/>
          <a:p>
            <a:pPr indent="0" marL="0">
              <a:buNone/>
            </a:pPr>
            <a:r>
              <a:rPr lang="en-US" sz="1050" b="1" dirty="0">
                <a:solidFill>
                  <a:srgbClr val="0F172A"/>
                </a:solidFill>
                <a:latin typeface="Courier New" pitchFamily="34" charset="0"/>
                <a:ea typeface="Courier New" pitchFamily="34" charset="-122"/>
                <a:cs typeface="Courier New" pitchFamily="34" charset="-120"/>
              </a:rPr>
              <a:t>PHASE 2</a:t>
            </a:r>
            <a:endParaRPr lang="en-US" sz="1050" dirty="0"/>
          </a:p>
        </p:txBody>
      </p:sp>
      <p:sp>
        <p:nvSpPr>
          <p:cNvPr id="10" name="Text 8"/>
          <p:cNvSpPr/>
          <p:nvPr/>
        </p:nvSpPr>
        <p:spPr>
          <a:xfrm>
            <a:off x="3006090" y="2880360"/>
            <a:ext cx="1691640" cy="1280160"/>
          </a:xfrm>
          <a:prstGeom prst="rect">
            <a:avLst/>
          </a:prstGeom>
          <a:noFill/>
          <a:ln/>
        </p:spPr>
        <p:txBody>
          <a:bodyPr wrap="square" lIns="0" tIns="0" rIns="0" bIns="0" rtlCol="0" anchor="t"/>
          <a:lstStyle/>
          <a:p>
            <a:pPr indent="0" marL="0">
              <a:lnSpc>
                <a:spcPct val="105000"/>
              </a:lnSpc>
              <a:buNone/>
            </a:pPr>
            <a:r>
              <a:rPr lang="en-US" sz="1400" b="1" dirty="0">
                <a:solidFill>
                  <a:srgbClr val="0F172A"/>
                </a:solidFill>
                <a:latin typeface="Calibri" pitchFamily="34" charset="0"/>
                <a:ea typeface="Calibri" pitchFamily="34" charset="-122"/>
                <a:cs typeface="Calibri" pitchFamily="34" charset="-120"/>
              </a:rPr>
              <a:t>Scanning &amp;</a:t>
            </a:r>
            <a:endParaRPr lang="en-US" sz="1400" dirty="0"/>
          </a:p>
          <a:p>
            <a:pPr indent="0" marL="0">
              <a:lnSpc>
                <a:spcPct val="105000"/>
              </a:lnSpc>
              <a:buNone/>
            </a:pPr>
            <a:r>
              <a:rPr lang="en-US" sz="1400" b="1" dirty="0">
                <a:solidFill>
                  <a:srgbClr val="0F172A"/>
                </a:solidFill>
                <a:latin typeface="Calibri" pitchFamily="34" charset="0"/>
                <a:ea typeface="Calibri" pitchFamily="34" charset="-122"/>
                <a:cs typeface="Calibri" pitchFamily="34" charset="-120"/>
              </a:rPr>
              <a:t>Enumeration</a:t>
            </a:r>
            <a:endParaRPr lang="en-US" sz="1400" dirty="0"/>
          </a:p>
        </p:txBody>
      </p:sp>
      <p:sp>
        <p:nvSpPr>
          <p:cNvPr id="11" name="Shape 9"/>
          <p:cNvSpPr/>
          <p:nvPr/>
        </p:nvSpPr>
        <p:spPr>
          <a:xfrm>
            <a:off x="3006090" y="4434840"/>
            <a:ext cx="1691640" cy="320040"/>
          </a:xfrm>
          <a:prstGeom prst="roundRect">
            <a:avLst>
              <a:gd name="adj" fmla="val 85714"/>
            </a:avLst>
          </a:prstGeom>
          <a:solidFill>
            <a:srgbClr val="FFFFFF">
              <a:alpha val="10000"/>
            </a:srgbClr>
          </a:solidFill>
          <a:ln/>
        </p:spPr>
      </p:sp>
      <p:sp>
        <p:nvSpPr>
          <p:cNvPr id="12" name="Text 10"/>
          <p:cNvSpPr/>
          <p:nvPr/>
        </p:nvSpPr>
        <p:spPr>
          <a:xfrm>
            <a:off x="3006090" y="4434840"/>
            <a:ext cx="1691640" cy="320040"/>
          </a:xfrm>
          <a:prstGeom prst="rect">
            <a:avLst/>
          </a:prstGeom>
          <a:noFill/>
          <a:ln/>
        </p:spPr>
        <p:txBody>
          <a:bodyPr wrap="square" lIns="0" tIns="0" rIns="0" bIns="0" rtlCol="0" anchor="ctr"/>
          <a:lstStyle/>
          <a:p>
            <a:pPr algn="ctr" indent="0" marL="0">
              <a:buNone/>
            </a:pPr>
            <a:r>
              <a:rPr lang="en-US" sz="950" b="1" dirty="0">
                <a:solidFill>
                  <a:srgbClr val="22D3EE"/>
                </a:solidFill>
                <a:latin typeface="Calibri" pitchFamily="34" charset="0"/>
                <a:ea typeface="Calibri" pitchFamily="34" charset="-122"/>
                <a:cs typeface="Calibri" pitchFamily="34" charset="-120"/>
              </a:rPr>
              <a:t>YOU ARE HERE</a:t>
            </a:r>
            <a:endParaRPr lang="en-US" sz="950" dirty="0"/>
          </a:p>
        </p:txBody>
      </p:sp>
      <p:sp>
        <p:nvSpPr>
          <p:cNvPr id="13" name="Shape 11"/>
          <p:cNvSpPr/>
          <p:nvPr/>
        </p:nvSpPr>
        <p:spPr>
          <a:xfrm>
            <a:off x="5097780" y="2377440"/>
            <a:ext cx="1965960" cy="1920240"/>
          </a:xfrm>
          <a:prstGeom prst="roundRect">
            <a:avLst>
              <a:gd name="adj" fmla="val 3810"/>
            </a:avLst>
          </a:prstGeom>
          <a:solidFill>
            <a:srgbClr val="1B2740"/>
          </a:solidFill>
          <a:ln w="9525">
            <a:solidFill>
              <a:srgbClr val="64748B"/>
            </a:solidFill>
            <a:prstDash val="solid"/>
          </a:ln>
        </p:spPr>
      </p:sp>
      <p:sp>
        <p:nvSpPr>
          <p:cNvPr id="14" name="Text 12"/>
          <p:cNvSpPr/>
          <p:nvPr/>
        </p:nvSpPr>
        <p:spPr>
          <a:xfrm>
            <a:off x="5234940" y="2560320"/>
            <a:ext cx="1691640" cy="274320"/>
          </a:xfrm>
          <a:prstGeom prst="rect">
            <a:avLst/>
          </a:prstGeom>
          <a:noFill/>
          <a:ln/>
        </p:spPr>
        <p:txBody>
          <a:bodyPr wrap="square" lIns="0" tIns="0" rIns="0" bIns="0" rtlCol="0" anchor="ctr"/>
          <a:lstStyle/>
          <a:p>
            <a:pPr indent="0" marL="0">
              <a:buNone/>
            </a:pPr>
            <a:r>
              <a:rPr lang="en-US" sz="1050" b="1" dirty="0">
                <a:solidFill>
                  <a:srgbClr val="94A3B8"/>
                </a:solidFill>
                <a:latin typeface="Courier New" pitchFamily="34" charset="0"/>
                <a:ea typeface="Courier New" pitchFamily="34" charset="-122"/>
                <a:cs typeface="Courier New" pitchFamily="34" charset="-120"/>
              </a:rPr>
              <a:t>PHASE 3</a:t>
            </a:r>
            <a:endParaRPr lang="en-US" sz="1050" dirty="0"/>
          </a:p>
        </p:txBody>
      </p:sp>
      <p:sp>
        <p:nvSpPr>
          <p:cNvPr id="15" name="Text 13"/>
          <p:cNvSpPr/>
          <p:nvPr/>
        </p:nvSpPr>
        <p:spPr>
          <a:xfrm>
            <a:off x="5234940" y="2880360"/>
            <a:ext cx="1691640" cy="1280160"/>
          </a:xfrm>
          <a:prstGeom prst="rect">
            <a:avLst/>
          </a:prstGeom>
          <a:noFill/>
          <a:ln/>
        </p:spPr>
        <p:txBody>
          <a:bodyPr wrap="square" lIns="0" tIns="0" rIns="0" bIns="0" rtlCol="0" anchor="t"/>
          <a:lstStyle/>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Gaining</a:t>
            </a:r>
            <a:endParaRPr lang="en-US" sz="1400" dirty="0"/>
          </a:p>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Access</a:t>
            </a:r>
            <a:endParaRPr lang="en-US" sz="1400" dirty="0"/>
          </a:p>
        </p:txBody>
      </p:sp>
      <p:sp>
        <p:nvSpPr>
          <p:cNvPr id="16" name="Shape 14"/>
          <p:cNvSpPr/>
          <p:nvPr/>
        </p:nvSpPr>
        <p:spPr>
          <a:xfrm>
            <a:off x="7326630" y="2377440"/>
            <a:ext cx="1965960" cy="1920240"/>
          </a:xfrm>
          <a:prstGeom prst="roundRect">
            <a:avLst>
              <a:gd name="adj" fmla="val 3810"/>
            </a:avLst>
          </a:prstGeom>
          <a:solidFill>
            <a:srgbClr val="1B2740"/>
          </a:solidFill>
          <a:ln w="9525">
            <a:solidFill>
              <a:srgbClr val="64748B"/>
            </a:solidFill>
            <a:prstDash val="solid"/>
          </a:ln>
        </p:spPr>
      </p:sp>
      <p:sp>
        <p:nvSpPr>
          <p:cNvPr id="17" name="Text 15"/>
          <p:cNvSpPr/>
          <p:nvPr/>
        </p:nvSpPr>
        <p:spPr>
          <a:xfrm>
            <a:off x="7463790" y="2560320"/>
            <a:ext cx="1691640" cy="274320"/>
          </a:xfrm>
          <a:prstGeom prst="rect">
            <a:avLst/>
          </a:prstGeom>
          <a:noFill/>
          <a:ln/>
        </p:spPr>
        <p:txBody>
          <a:bodyPr wrap="square" lIns="0" tIns="0" rIns="0" bIns="0" rtlCol="0" anchor="ctr"/>
          <a:lstStyle/>
          <a:p>
            <a:pPr indent="0" marL="0">
              <a:buNone/>
            </a:pPr>
            <a:r>
              <a:rPr lang="en-US" sz="1050" b="1" dirty="0">
                <a:solidFill>
                  <a:srgbClr val="94A3B8"/>
                </a:solidFill>
                <a:latin typeface="Courier New" pitchFamily="34" charset="0"/>
                <a:ea typeface="Courier New" pitchFamily="34" charset="-122"/>
                <a:cs typeface="Courier New" pitchFamily="34" charset="-120"/>
              </a:rPr>
              <a:t>PHASE 4</a:t>
            </a:r>
            <a:endParaRPr lang="en-US" sz="1050" dirty="0"/>
          </a:p>
        </p:txBody>
      </p:sp>
      <p:sp>
        <p:nvSpPr>
          <p:cNvPr id="18" name="Text 16"/>
          <p:cNvSpPr/>
          <p:nvPr/>
        </p:nvSpPr>
        <p:spPr>
          <a:xfrm>
            <a:off x="7463790" y="2880360"/>
            <a:ext cx="1691640" cy="1280160"/>
          </a:xfrm>
          <a:prstGeom prst="rect">
            <a:avLst/>
          </a:prstGeom>
          <a:noFill/>
          <a:ln/>
        </p:spPr>
        <p:txBody>
          <a:bodyPr wrap="square" lIns="0" tIns="0" rIns="0" bIns="0" rtlCol="0" anchor="t"/>
          <a:lstStyle/>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Maintaining</a:t>
            </a:r>
            <a:endParaRPr lang="en-US" sz="1400" dirty="0"/>
          </a:p>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Access</a:t>
            </a:r>
            <a:endParaRPr lang="en-US" sz="1400" dirty="0"/>
          </a:p>
        </p:txBody>
      </p:sp>
      <p:sp>
        <p:nvSpPr>
          <p:cNvPr id="19" name="Shape 17"/>
          <p:cNvSpPr/>
          <p:nvPr/>
        </p:nvSpPr>
        <p:spPr>
          <a:xfrm>
            <a:off x="9555480" y="2377440"/>
            <a:ext cx="1965960" cy="1920240"/>
          </a:xfrm>
          <a:prstGeom prst="roundRect">
            <a:avLst>
              <a:gd name="adj" fmla="val 3810"/>
            </a:avLst>
          </a:prstGeom>
          <a:solidFill>
            <a:srgbClr val="1B2740"/>
          </a:solidFill>
          <a:ln w="9525">
            <a:solidFill>
              <a:srgbClr val="64748B"/>
            </a:solidFill>
            <a:prstDash val="solid"/>
          </a:ln>
        </p:spPr>
      </p:sp>
      <p:sp>
        <p:nvSpPr>
          <p:cNvPr id="20" name="Text 18"/>
          <p:cNvSpPr/>
          <p:nvPr/>
        </p:nvSpPr>
        <p:spPr>
          <a:xfrm>
            <a:off x="9692640" y="2560320"/>
            <a:ext cx="1691640" cy="274320"/>
          </a:xfrm>
          <a:prstGeom prst="rect">
            <a:avLst/>
          </a:prstGeom>
          <a:noFill/>
          <a:ln/>
        </p:spPr>
        <p:txBody>
          <a:bodyPr wrap="square" lIns="0" tIns="0" rIns="0" bIns="0" rtlCol="0" anchor="ctr"/>
          <a:lstStyle/>
          <a:p>
            <a:pPr indent="0" marL="0">
              <a:buNone/>
            </a:pPr>
            <a:r>
              <a:rPr lang="en-US" sz="1050" b="1" dirty="0">
                <a:solidFill>
                  <a:srgbClr val="94A3B8"/>
                </a:solidFill>
                <a:latin typeface="Courier New" pitchFamily="34" charset="0"/>
                <a:ea typeface="Courier New" pitchFamily="34" charset="-122"/>
                <a:cs typeface="Courier New" pitchFamily="34" charset="-120"/>
              </a:rPr>
              <a:t>PHASE 5</a:t>
            </a:r>
            <a:endParaRPr lang="en-US" sz="1050" dirty="0"/>
          </a:p>
        </p:txBody>
      </p:sp>
      <p:sp>
        <p:nvSpPr>
          <p:cNvPr id="21" name="Text 19"/>
          <p:cNvSpPr/>
          <p:nvPr/>
        </p:nvSpPr>
        <p:spPr>
          <a:xfrm>
            <a:off x="9692640" y="2880360"/>
            <a:ext cx="1691640" cy="1280160"/>
          </a:xfrm>
          <a:prstGeom prst="rect">
            <a:avLst/>
          </a:prstGeom>
          <a:noFill/>
          <a:ln/>
        </p:spPr>
        <p:txBody>
          <a:bodyPr wrap="square" lIns="0" tIns="0" rIns="0" bIns="0" rtlCol="0" anchor="t"/>
          <a:lstStyle/>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Covering</a:t>
            </a:r>
            <a:endParaRPr lang="en-US" sz="1400" dirty="0"/>
          </a:p>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Tracks</a:t>
            </a:r>
            <a:endParaRPr lang="en-US" sz="1400" dirty="0"/>
          </a:p>
        </p:txBody>
      </p:sp>
      <p:sp>
        <p:nvSpPr>
          <p:cNvPr id="22" name="Text 20"/>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Week 4 · Phase 2: Scanning &amp; Enumeration</a:t>
            </a:r>
            <a:endParaRPr lang="en-US" sz="900" dirty="0"/>
          </a:p>
        </p:txBody>
      </p:sp>
      <p:sp>
        <p:nvSpPr>
          <p:cNvPr id="23" name="Text 21"/>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LEARNING OBJECTIVES</a:t>
            </a:r>
            <a:endParaRPr lang="en-US" sz="1300" dirty="0"/>
          </a:p>
        </p:txBody>
      </p:sp>
      <p:sp>
        <p:nvSpPr>
          <p:cNvPr id="3" name="Text 1"/>
          <p:cNvSpPr/>
          <p:nvPr/>
        </p:nvSpPr>
        <p:spPr>
          <a:xfrm>
            <a:off x="640080" y="841248"/>
            <a:ext cx="10058400" cy="731520"/>
          </a:xfrm>
          <a:prstGeom prst="rect">
            <a:avLst/>
          </a:prstGeom>
          <a:noFill/>
          <a:ln/>
        </p:spPr>
        <p:txBody>
          <a:bodyPr wrap="square" lIns="0" tIns="0" rIns="0" bIns="0" rtlCol="0" anchor="ctr"/>
          <a:lstStyle/>
          <a:p>
            <a:pPr indent="0" marL="0">
              <a:buNone/>
            </a:pPr>
            <a:r>
              <a:rPr lang="en-US" sz="3000" b="1" dirty="0">
                <a:solidFill>
                  <a:srgbClr val="F8FAFC"/>
                </a:solidFill>
                <a:latin typeface="Calibri" pitchFamily="34" charset="0"/>
                <a:ea typeface="Calibri" pitchFamily="34" charset="-122"/>
                <a:cs typeface="Calibri" pitchFamily="34" charset="-120"/>
              </a:rPr>
              <a:t>By the End of This Week, You Will Be Able To</a:t>
            </a:r>
            <a:endParaRPr lang="en-US" sz="3000" dirty="0"/>
          </a:p>
        </p:txBody>
      </p:sp>
      <p:sp>
        <p:nvSpPr>
          <p:cNvPr id="4" name="Shape 2"/>
          <p:cNvSpPr/>
          <p:nvPr/>
        </p:nvSpPr>
        <p:spPr>
          <a:xfrm>
            <a:off x="640080" y="1828800"/>
            <a:ext cx="457200" cy="457200"/>
          </a:xfrm>
          <a:prstGeom prst="roundRect">
            <a:avLst>
              <a:gd name="adj" fmla="val 16000"/>
            </a:avLst>
          </a:prstGeom>
          <a:solidFill>
            <a:srgbClr val="1B2740"/>
          </a:solidFill>
          <a:ln w="12700">
            <a:solidFill>
              <a:srgbClr val="22D3EE"/>
            </a:solidFill>
            <a:prstDash val="solid"/>
          </a:ln>
        </p:spPr>
      </p:sp>
      <p:sp>
        <p:nvSpPr>
          <p:cNvPr id="5" name="Text 3"/>
          <p:cNvSpPr/>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01</a:t>
            </a:r>
            <a:endParaRPr lang="en-US" sz="1300" dirty="0"/>
          </a:p>
        </p:txBody>
      </p:sp>
      <p:sp>
        <p:nvSpPr>
          <p:cNvPr id="6" name="Text 4"/>
          <p:cNvSpPr/>
          <p:nvPr/>
        </p:nvSpPr>
        <p:spPr>
          <a:xfrm>
            <a:off x="1234440" y="178308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Explain why web recon goes beyond the homepage</a:t>
            </a:r>
            <a:endParaRPr lang="en-US" sz="1450" dirty="0"/>
          </a:p>
        </p:txBody>
      </p:sp>
      <p:sp>
        <p:nvSpPr>
          <p:cNvPr id="7" name="Text 5"/>
          <p:cNvSpPr/>
          <p:nvPr/>
        </p:nvSpPr>
        <p:spPr>
          <a:xfrm>
            <a:off x="1234440" y="211226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Understand that a server can host far more than what's linked from its front page.</a:t>
            </a:r>
            <a:endParaRPr lang="en-US" sz="1150" dirty="0"/>
          </a:p>
        </p:txBody>
      </p:sp>
      <p:sp>
        <p:nvSpPr>
          <p:cNvPr id="8" name="Shape 6"/>
          <p:cNvSpPr/>
          <p:nvPr/>
        </p:nvSpPr>
        <p:spPr>
          <a:xfrm>
            <a:off x="640080" y="2697480"/>
            <a:ext cx="457200" cy="457200"/>
          </a:xfrm>
          <a:prstGeom prst="roundRect">
            <a:avLst>
              <a:gd name="adj" fmla="val 16000"/>
            </a:avLst>
          </a:prstGeom>
          <a:solidFill>
            <a:srgbClr val="1B2740"/>
          </a:solidFill>
          <a:ln w="12700">
            <a:solidFill>
              <a:srgbClr val="22D3EE"/>
            </a:solidFill>
            <a:prstDash val="solid"/>
          </a:ln>
        </p:spPr>
      </p:sp>
      <p:sp>
        <p:nvSpPr>
          <p:cNvPr id="9" name="Text 7"/>
          <p:cNvSpPr/>
          <p:nvPr/>
        </p:nvSpPr>
        <p:spPr>
          <a:xfrm>
            <a:off x="640080" y="269748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02</a:t>
            </a:r>
            <a:endParaRPr lang="en-US" sz="1300" dirty="0"/>
          </a:p>
        </p:txBody>
      </p:sp>
      <p:sp>
        <p:nvSpPr>
          <p:cNvPr id="10" name="Text 8"/>
          <p:cNvSpPr/>
          <p:nvPr/>
        </p:nvSpPr>
        <p:spPr>
          <a:xfrm>
            <a:off x="1234440" y="265176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Check robots.txt as a first, free step</a:t>
            </a:r>
            <a:endParaRPr lang="en-US" sz="1450" dirty="0"/>
          </a:p>
        </p:txBody>
      </p:sp>
      <p:sp>
        <p:nvSpPr>
          <p:cNvPr id="11" name="Text 9"/>
          <p:cNvSpPr/>
          <p:nvPr/>
        </p:nvSpPr>
        <p:spPr>
          <a:xfrm>
            <a:off x="1234440" y="298094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Recognize it as an instant hint at paths the site owner considers sensitive.</a:t>
            </a:r>
            <a:endParaRPr lang="en-US" sz="1150" dirty="0"/>
          </a:p>
        </p:txBody>
      </p:sp>
      <p:sp>
        <p:nvSpPr>
          <p:cNvPr id="12" name="Shape 10"/>
          <p:cNvSpPr/>
          <p:nvPr/>
        </p:nvSpPr>
        <p:spPr>
          <a:xfrm>
            <a:off x="640080" y="3566160"/>
            <a:ext cx="457200" cy="457200"/>
          </a:xfrm>
          <a:prstGeom prst="roundRect">
            <a:avLst>
              <a:gd name="adj" fmla="val 16000"/>
            </a:avLst>
          </a:prstGeom>
          <a:solidFill>
            <a:srgbClr val="1B2740"/>
          </a:solidFill>
          <a:ln w="12700">
            <a:solidFill>
              <a:srgbClr val="22D3EE"/>
            </a:solidFill>
            <a:prstDash val="solid"/>
          </a:ln>
        </p:spPr>
      </p:sp>
      <p:sp>
        <p:nvSpPr>
          <p:cNvPr id="13" name="Text 11"/>
          <p:cNvSpPr/>
          <p:nvPr/>
        </p:nvSpPr>
        <p:spPr>
          <a:xfrm>
            <a:off x="640080" y="356616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03</a:t>
            </a:r>
            <a:endParaRPr lang="en-US" sz="1300" dirty="0"/>
          </a:p>
        </p:txBody>
      </p:sp>
      <p:sp>
        <p:nvSpPr>
          <p:cNvPr id="14" name="Text 12"/>
          <p:cNvSpPr/>
          <p:nvPr/>
        </p:nvSpPr>
        <p:spPr>
          <a:xfrm>
            <a:off x="1234440" y="352044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Brute-force directories with gobuster and dirb</a:t>
            </a:r>
            <a:endParaRPr lang="en-US" sz="1450" dirty="0"/>
          </a:p>
        </p:txBody>
      </p:sp>
      <p:sp>
        <p:nvSpPr>
          <p:cNvPr id="15" name="Text 13"/>
          <p:cNvSpPr/>
          <p:nvPr/>
        </p:nvSpPr>
        <p:spPr>
          <a:xfrm>
            <a:off x="1234440" y="384962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Run wordlist-based content discovery and read the resulting status codes correctly.</a:t>
            </a:r>
            <a:endParaRPr lang="en-US" sz="1150" dirty="0"/>
          </a:p>
        </p:txBody>
      </p:sp>
      <p:sp>
        <p:nvSpPr>
          <p:cNvPr id="16" name="Shape 14"/>
          <p:cNvSpPr/>
          <p:nvPr/>
        </p:nvSpPr>
        <p:spPr>
          <a:xfrm>
            <a:off x="6126480" y="1828800"/>
            <a:ext cx="457200" cy="457200"/>
          </a:xfrm>
          <a:prstGeom prst="roundRect">
            <a:avLst>
              <a:gd name="adj" fmla="val 16000"/>
            </a:avLst>
          </a:prstGeom>
          <a:solidFill>
            <a:srgbClr val="1B2740"/>
          </a:solidFill>
          <a:ln w="12700">
            <a:solidFill>
              <a:srgbClr val="22D3EE"/>
            </a:solidFill>
            <a:prstDash val="solid"/>
          </a:ln>
        </p:spPr>
      </p:sp>
      <p:sp>
        <p:nvSpPr>
          <p:cNvPr id="17" name="Text 15"/>
          <p:cNvSpPr/>
          <p:nvPr/>
        </p:nvSpPr>
        <p:spPr>
          <a:xfrm>
            <a:off x="6126480" y="182880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04</a:t>
            </a:r>
            <a:endParaRPr lang="en-US" sz="1300" dirty="0"/>
          </a:p>
        </p:txBody>
      </p:sp>
      <p:sp>
        <p:nvSpPr>
          <p:cNvPr id="18" name="Text 16"/>
          <p:cNvSpPr/>
          <p:nvPr/>
        </p:nvSpPr>
        <p:spPr>
          <a:xfrm>
            <a:off x="6720840" y="178308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Fuzz efficiently with ffuf</a:t>
            </a:r>
            <a:endParaRPr lang="en-US" sz="1450" dirty="0"/>
          </a:p>
        </p:txBody>
      </p:sp>
      <p:sp>
        <p:nvSpPr>
          <p:cNvPr id="19" name="Text 17"/>
          <p:cNvSpPr/>
          <p:nvPr/>
        </p:nvSpPr>
        <p:spPr>
          <a:xfrm>
            <a:off x="6720840" y="211226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Use the FUZZ keyword pattern for fast, flexible content discovery.</a:t>
            </a:r>
            <a:endParaRPr lang="en-US" sz="1150" dirty="0"/>
          </a:p>
        </p:txBody>
      </p:sp>
      <p:sp>
        <p:nvSpPr>
          <p:cNvPr id="20" name="Shape 18"/>
          <p:cNvSpPr/>
          <p:nvPr/>
        </p:nvSpPr>
        <p:spPr>
          <a:xfrm>
            <a:off x="6126480" y="2697480"/>
            <a:ext cx="457200" cy="457200"/>
          </a:xfrm>
          <a:prstGeom prst="roundRect">
            <a:avLst>
              <a:gd name="adj" fmla="val 16000"/>
            </a:avLst>
          </a:prstGeom>
          <a:solidFill>
            <a:srgbClr val="1B2740"/>
          </a:solidFill>
          <a:ln w="12700">
            <a:solidFill>
              <a:srgbClr val="22D3EE"/>
            </a:solidFill>
            <a:prstDash val="solid"/>
          </a:ln>
        </p:spPr>
      </p:sp>
      <p:sp>
        <p:nvSpPr>
          <p:cNvPr id="21" name="Text 19"/>
          <p:cNvSpPr/>
          <p:nvPr/>
        </p:nvSpPr>
        <p:spPr>
          <a:xfrm>
            <a:off x="6126480" y="269748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05</a:t>
            </a:r>
            <a:endParaRPr lang="en-US" sz="1300" dirty="0"/>
          </a:p>
        </p:txBody>
      </p:sp>
      <p:sp>
        <p:nvSpPr>
          <p:cNvPr id="22" name="Text 20"/>
          <p:cNvSpPr/>
          <p:nvPr/>
        </p:nvSpPr>
        <p:spPr>
          <a:xfrm>
            <a:off x="6720840" y="265176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Follow up manually on automated findings</a:t>
            </a:r>
            <a:endParaRPr lang="en-US" sz="1450" dirty="0"/>
          </a:p>
        </p:txBody>
      </p:sp>
      <p:sp>
        <p:nvSpPr>
          <p:cNvPr id="23" name="Text 21"/>
          <p:cNvSpPr/>
          <p:nvPr/>
        </p:nvSpPr>
        <p:spPr>
          <a:xfrm>
            <a:off x="6720840" y="298094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Understand what a wordlist scan can never find on its own, and why.</a:t>
            </a:r>
            <a:endParaRPr lang="en-US" sz="1150" dirty="0"/>
          </a:p>
        </p:txBody>
      </p:sp>
      <p:sp>
        <p:nvSpPr>
          <p:cNvPr id="24" name="Shape 22"/>
          <p:cNvSpPr/>
          <p:nvPr/>
        </p:nvSpPr>
        <p:spPr>
          <a:xfrm>
            <a:off x="6126480" y="3566160"/>
            <a:ext cx="457200" cy="457200"/>
          </a:xfrm>
          <a:prstGeom prst="roundRect">
            <a:avLst>
              <a:gd name="adj" fmla="val 16000"/>
            </a:avLst>
          </a:prstGeom>
          <a:solidFill>
            <a:srgbClr val="1B2740"/>
          </a:solidFill>
          <a:ln w="12700">
            <a:solidFill>
              <a:srgbClr val="22D3EE"/>
            </a:solidFill>
            <a:prstDash val="solid"/>
          </a:ln>
        </p:spPr>
      </p:sp>
      <p:sp>
        <p:nvSpPr>
          <p:cNvPr id="25" name="Text 23"/>
          <p:cNvSpPr/>
          <p:nvPr/>
        </p:nvSpPr>
        <p:spPr>
          <a:xfrm>
            <a:off x="6126480" y="356616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06</a:t>
            </a:r>
            <a:endParaRPr lang="en-US" sz="1300" dirty="0"/>
          </a:p>
        </p:txBody>
      </p:sp>
      <p:sp>
        <p:nvSpPr>
          <p:cNvPr id="26" name="Text 24"/>
          <p:cNvSpPr/>
          <p:nvPr/>
        </p:nvSpPr>
        <p:spPr>
          <a:xfrm>
            <a:off x="6720840" y="352044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Run automated checks with nikto</a:t>
            </a:r>
            <a:endParaRPr lang="en-US" sz="1450" dirty="0"/>
          </a:p>
        </p:txBody>
      </p:sp>
      <p:sp>
        <p:nvSpPr>
          <p:cNvPr id="27" name="Text 25"/>
          <p:cNvSpPr/>
          <p:nvPr/>
        </p:nvSpPr>
        <p:spPr>
          <a:xfrm>
            <a:off x="6720840" y="384962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Distinguish what nikto is built to find versus what directory brute-forcing finds.</a:t>
            </a:r>
            <a:endParaRPr lang="en-US" sz="1150" dirty="0"/>
          </a:p>
        </p:txBody>
      </p:sp>
      <p:pic>
        <p:nvPicPr>
          <p:cNvPr id="28" name="Image 0" descr="preencoded.png">    </p:cNvPr>
          <p:cNvPicPr>
            <a:picLocks noChangeAspect="1"/>
          </p:cNvPicPr>
          <p:nvPr/>
        </p:nvPicPr>
        <p:blipFill>
          <a:blip r:embed="rId1">
            <a:alphaModFix amt="20000"/>
          </a:blip>
          <a:stretch>
            <a:fillRect/>
          </a:stretch>
        </p:blipFill>
        <p:spPr>
          <a:xfrm>
            <a:off x="10454335" y="5303520"/>
            <a:ext cx="1188720" cy="1188720"/>
          </a:xfrm>
          <a:prstGeom prst="rect">
            <a:avLst/>
          </a:prstGeom>
        </p:spPr>
      </p:pic>
      <p:sp>
        <p:nvSpPr>
          <p:cNvPr id="29" name="Text 2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Week 4 · Phase 2: Scanning &amp; Enumeration</a:t>
            </a:r>
            <a:endParaRPr lang="en-US" sz="900" dirty="0"/>
          </a:p>
        </p:txBody>
      </p:sp>
      <p:sp>
        <p:nvSpPr>
          <p:cNvPr id="30" name="Text 27"/>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640080" y="804672"/>
            <a:ext cx="10881360" cy="6858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Why Web Enumeration Matters</a:t>
            </a:r>
            <a:endParaRPr lang="en-US" sz="2800" dirty="0"/>
          </a:p>
        </p:txBody>
      </p:sp>
      <p:sp>
        <p:nvSpPr>
          <p:cNvPr id="4" name="Text 2"/>
          <p:cNvSpPr/>
          <p:nvPr/>
        </p:nvSpPr>
        <p:spPr>
          <a:xfrm>
            <a:off x="640080" y="1691640"/>
            <a:ext cx="6675120" cy="448056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500" dirty="0">
                <a:solidFill>
                  <a:srgbClr val="0F172A"/>
                </a:solidFill>
                <a:latin typeface="Calibri" pitchFamily="34" charset="0"/>
                <a:ea typeface="Calibri" pitchFamily="34" charset="-122"/>
                <a:cs typeface="Calibri" pitchFamily="34" charset="-120"/>
              </a:rPr>
              <a:t>A web server's homepage is what the developer wants you to see — not necessarily everything that's actually deployed.</a:t>
            </a:r>
            <a:endParaRPr lang="en-US" sz="1500" dirty="0"/>
          </a:p>
          <a:p>
            <a:pPr marL="228600" indent="-228600">
              <a:lnSpc>
                <a:spcPct val="115000"/>
              </a:lnSpc>
              <a:spcAft>
                <a:spcPts val="1400"/>
              </a:spcAft>
              <a:buSzPct val="100000"/>
              <a:buChar char="•"/>
            </a:pPr>
            <a:r>
              <a:rPr lang="en-US" sz="1500" dirty="0">
                <a:solidFill>
                  <a:srgbClr val="0F172A"/>
                </a:solidFill>
                <a:latin typeface="Calibri" pitchFamily="34" charset="0"/>
                <a:ea typeface="Calibri" pitchFamily="34" charset="-122"/>
                <a:cs typeface="Calibri" pitchFamily="34" charset="-120"/>
              </a:rPr>
              <a:t>Admin panels, backup files, old versions of pages, and internal tools are routinely left reachable, just not linked anywhere.</a:t>
            </a:r>
            <a:endParaRPr lang="en-US" sz="1500" dirty="0"/>
          </a:p>
          <a:p>
            <a:pPr marL="228600" indent="-228600">
              <a:lnSpc>
                <a:spcPct val="115000"/>
              </a:lnSpc>
              <a:spcAft>
                <a:spcPts val="1400"/>
              </a:spcAft>
              <a:buSzPct val="100000"/>
              <a:buChar char="•"/>
            </a:pPr>
            <a:r>
              <a:rPr lang="en-US" sz="1500" dirty="0">
                <a:solidFill>
                  <a:srgbClr val="0F172A"/>
                </a:solidFill>
                <a:latin typeface="Calibri" pitchFamily="34" charset="0"/>
                <a:ea typeface="Calibri" pitchFamily="34" charset="-122"/>
                <a:cs typeface="Calibri" pitchFamily="34" charset="-120"/>
              </a:rPr>
              <a:t>Directory/file brute-forcing systematically requests thousands of common names to find what isn't advertised.</a:t>
            </a:r>
            <a:endParaRPr lang="en-US" sz="1500" dirty="0"/>
          </a:p>
          <a:p>
            <a:pPr marL="228600" indent="-228600">
              <a:lnSpc>
                <a:spcPct val="115000"/>
              </a:lnSpc>
              <a:spcAft>
                <a:spcPts val="1400"/>
              </a:spcAft>
              <a:buSzPct val="100000"/>
              <a:buChar char="•"/>
            </a:pPr>
            <a:r>
              <a:rPr lang="en-US" sz="1500" dirty="0">
                <a:solidFill>
                  <a:srgbClr val="0F172A"/>
                </a:solidFill>
                <a:latin typeface="Calibri" pitchFamily="34" charset="0"/>
                <a:ea typeface="Calibri" pitchFamily="34" charset="-122"/>
                <a:cs typeface="Calibri" pitchFamily="34" charset="-120"/>
              </a:rPr>
              <a:t>This is still Phase 2 — you are not exploiting anything yet, just mapping out what actually exists on the server.</a:t>
            </a:r>
            <a:endParaRPr lang="en-US" sz="1500" dirty="0"/>
          </a:p>
        </p:txBody>
      </p:sp>
      <p:sp>
        <p:nvSpPr>
          <p:cNvPr id="5" name="Shape 3"/>
          <p:cNvSpPr/>
          <p:nvPr/>
        </p:nvSpPr>
        <p:spPr>
          <a:xfrm>
            <a:off x="7635240" y="1691640"/>
            <a:ext cx="3886200" cy="4023360"/>
          </a:xfrm>
          <a:prstGeom prst="roundRect">
            <a:avLst>
              <a:gd name="adj" fmla="val 1882"/>
            </a:avLst>
          </a:prstGeom>
          <a:solidFill>
            <a:srgbClr val="0F172A"/>
          </a:solidFill>
          <a:ln/>
          <a:effectLst>
            <a:outerShdw sx="100000" sy="100000" kx="0" ky="0" algn="bl" rotWithShape="0" blurRad="101600" dist="38100" dir="5400000">
              <a:srgbClr val="1E293B">
                <a:alpha val="25000"/>
              </a:srgbClr>
            </a:outerShdw>
          </a:effectLst>
        </p:spPr>
      </p:sp>
      <p:pic>
        <p:nvPicPr>
          <p:cNvPr id="6" name="Image 0" descr="preencoded.png">    </p:cNvPr>
          <p:cNvPicPr>
            <a:picLocks noChangeAspect="1"/>
          </p:cNvPicPr>
          <p:nvPr/>
        </p:nvPicPr>
        <p:blipFill>
          <a:blip r:embed="rId1"/>
          <a:stretch>
            <a:fillRect/>
          </a:stretch>
        </p:blipFill>
        <p:spPr>
          <a:xfrm>
            <a:off x="8001000" y="2011680"/>
            <a:ext cx="502920" cy="502920"/>
          </a:xfrm>
          <a:prstGeom prst="rect">
            <a:avLst/>
          </a:prstGeom>
        </p:spPr>
      </p:pic>
      <p:sp>
        <p:nvSpPr>
          <p:cNvPr id="7" name="Text 4"/>
          <p:cNvSpPr/>
          <p:nvPr/>
        </p:nvSpPr>
        <p:spPr>
          <a:xfrm>
            <a:off x="8001000" y="2651760"/>
            <a:ext cx="3246120" cy="457200"/>
          </a:xfrm>
          <a:prstGeom prst="rect">
            <a:avLst/>
          </a:prstGeom>
          <a:noFill/>
          <a:ln/>
        </p:spPr>
        <p:txBody>
          <a:bodyPr wrap="square" lIns="0" tIns="0" rIns="0" bIns="0" rtlCol="0" anchor="ctr"/>
          <a:lstStyle/>
          <a:p>
            <a:pPr indent="0" marL="0">
              <a:buNone/>
            </a:pPr>
            <a:r>
              <a:rPr lang="en-US" sz="1500" b="1" dirty="0">
                <a:solidFill>
                  <a:srgbClr val="22D3EE"/>
                </a:solidFill>
                <a:latin typeface="Calibri" pitchFamily="34" charset="0"/>
                <a:ea typeface="Calibri" pitchFamily="34" charset="-122"/>
                <a:cs typeface="Calibri" pitchFamily="34" charset="-120"/>
              </a:rPr>
              <a:t>The Core Idea</a:t>
            </a:r>
            <a:endParaRPr lang="en-US" sz="1500" dirty="0"/>
          </a:p>
        </p:txBody>
      </p:sp>
      <p:sp>
        <p:nvSpPr>
          <p:cNvPr id="8" name="Text 5"/>
          <p:cNvSpPr/>
          <p:nvPr/>
        </p:nvSpPr>
        <p:spPr>
          <a:xfrm>
            <a:off x="8001000" y="3154680"/>
            <a:ext cx="3246120" cy="2468880"/>
          </a:xfrm>
          <a:prstGeom prst="rect">
            <a:avLst/>
          </a:prstGeom>
          <a:noFill/>
          <a:ln/>
        </p:spPr>
        <p:txBody>
          <a:bodyPr wrap="square" lIns="0" tIns="0" rIns="0" bIns="0" rtlCol="0" anchor="t"/>
          <a:lstStyle/>
          <a:p>
            <a:pPr indent="0" marL="0">
              <a:lnSpc>
                <a:spcPct val="120000"/>
              </a:lnSpc>
              <a:buNone/>
            </a:pPr>
            <a:r>
              <a:rPr lang="en-US" sz="1250" dirty="0">
                <a:solidFill>
                  <a:srgbClr val="F8FAFC"/>
                </a:solidFill>
                <a:latin typeface="Calibri" pitchFamily="34" charset="0"/>
                <a:ea typeface="Calibri" pitchFamily="34" charset="-122"/>
                <a:cs typeface="Calibri" pitchFamily="34" charset="-120"/>
              </a:rPr>
              <a:t>"Not linked" is not the same as "not there." Everything this week is about finding content the site owner assumed nobody would go looking for.</a:t>
            </a:r>
            <a:endParaRPr lang="en-US" sz="1250" dirty="0"/>
          </a:p>
        </p:txBody>
      </p:sp>
      <p:sp>
        <p:nvSpPr>
          <p:cNvPr id="9" name="Text 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4 · Phase 2: Scanning &amp; Enumeration</a:t>
            </a:r>
            <a:endParaRPr lang="en-US" sz="900" dirty="0"/>
          </a:p>
        </p:txBody>
      </p:sp>
      <p:sp>
        <p:nvSpPr>
          <p:cNvPr id="10" name="Text 7"/>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640080" y="804672"/>
            <a:ext cx="10881360" cy="6858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How Wordlist-Based Discovery Works</a:t>
            </a:r>
            <a:endParaRPr lang="en-US" sz="2800" dirty="0"/>
          </a:p>
        </p:txBody>
      </p:sp>
      <p:sp>
        <p:nvSpPr>
          <p:cNvPr id="4" name="Text 2"/>
          <p:cNvSpPr/>
          <p:nvPr/>
        </p:nvSpPr>
        <p:spPr>
          <a:xfrm>
            <a:off x="640080" y="1691640"/>
            <a:ext cx="6675120" cy="4480560"/>
          </a:xfrm>
          <a:prstGeom prst="rect">
            <a:avLst/>
          </a:prstGeom>
          <a:noFill/>
          <a:ln/>
        </p:spPr>
        <p:txBody>
          <a:bodyPr wrap="square" lIns="0" tIns="0" rIns="0" bIns="0" rtlCol="0" anchor="t"/>
          <a:lstStyle/>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The mechanism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A tool takes a wordlist (a large file of common directory/file names) and requests each one against the target, one at a time.</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Reading the response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A 200 means the path exists and returned content; a 301/302 means it redirected (often a directory); a 403 means it exists but access is denied; a 404 means it genuinely isn't there.</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Wordlist quality matters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A bigger, better-curated wordlist finds more — but also takes longer and generates more traffic/noise.</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This is still just guessing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A brute-force scan can only find paths that are actually in its wordlist. That limitation is the whole reason Part 3 of today exists.</a:t>
            </a:r>
            <a:endParaRPr lang="en-US" sz="1500" dirty="0"/>
          </a:p>
        </p:txBody>
      </p:sp>
      <p:sp>
        <p:nvSpPr>
          <p:cNvPr id="5" name="Shape 3"/>
          <p:cNvSpPr/>
          <p:nvPr/>
        </p:nvSpPr>
        <p:spPr>
          <a:xfrm>
            <a:off x="7635240" y="1691640"/>
            <a:ext cx="3886200" cy="4023360"/>
          </a:xfrm>
          <a:prstGeom prst="roundRect">
            <a:avLst>
              <a:gd name="adj" fmla="val 1882"/>
            </a:avLst>
          </a:prstGeom>
          <a:solidFill>
            <a:srgbClr val="0F172A"/>
          </a:solidFill>
          <a:ln/>
          <a:effectLst>
            <a:outerShdw sx="100000" sy="100000" kx="0" ky="0" algn="bl" rotWithShape="0" blurRad="101600" dist="38100" dir="5400000">
              <a:srgbClr val="1E293B">
                <a:alpha val="25000"/>
              </a:srgbClr>
            </a:outerShdw>
          </a:effectLst>
        </p:spPr>
      </p:sp>
      <p:pic>
        <p:nvPicPr>
          <p:cNvPr id="6" name="Image 0" descr="preencoded.png">    </p:cNvPr>
          <p:cNvPicPr>
            <a:picLocks noChangeAspect="1"/>
          </p:cNvPicPr>
          <p:nvPr/>
        </p:nvPicPr>
        <p:blipFill>
          <a:blip r:embed="rId1"/>
          <a:stretch>
            <a:fillRect/>
          </a:stretch>
        </p:blipFill>
        <p:spPr>
          <a:xfrm>
            <a:off x="8001000" y="2011680"/>
            <a:ext cx="502920" cy="502920"/>
          </a:xfrm>
          <a:prstGeom prst="rect">
            <a:avLst/>
          </a:prstGeom>
        </p:spPr>
      </p:pic>
      <p:sp>
        <p:nvSpPr>
          <p:cNvPr id="7" name="Text 4"/>
          <p:cNvSpPr/>
          <p:nvPr/>
        </p:nvSpPr>
        <p:spPr>
          <a:xfrm>
            <a:off x="8001000" y="2651760"/>
            <a:ext cx="3246120" cy="457200"/>
          </a:xfrm>
          <a:prstGeom prst="rect">
            <a:avLst/>
          </a:prstGeom>
          <a:noFill/>
          <a:ln/>
        </p:spPr>
        <p:txBody>
          <a:bodyPr wrap="square" lIns="0" tIns="0" rIns="0" bIns="0" rtlCol="0" anchor="ctr"/>
          <a:lstStyle/>
          <a:p>
            <a:pPr indent="0" marL="0">
              <a:buNone/>
            </a:pPr>
            <a:r>
              <a:rPr lang="en-US" sz="1500" b="1" dirty="0">
                <a:solidFill>
                  <a:srgbClr val="22D3EE"/>
                </a:solidFill>
                <a:latin typeface="Calibri" pitchFamily="34" charset="0"/>
                <a:ea typeface="Calibri" pitchFamily="34" charset="-122"/>
                <a:cs typeface="Calibri" pitchFamily="34" charset="-120"/>
              </a:rPr>
              <a:t>This Lab's Wordlist</a:t>
            </a:r>
            <a:endParaRPr lang="en-US" sz="1500" dirty="0"/>
          </a:p>
        </p:txBody>
      </p:sp>
      <p:sp>
        <p:nvSpPr>
          <p:cNvPr id="8" name="Text 5"/>
          <p:cNvSpPr/>
          <p:nvPr/>
        </p:nvSpPr>
        <p:spPr>
          <a:xfrm>
            <a:off x="8001000" y="3154680"/>
            <a:ext cx="3246120" cy="2468880"/>
          </a:xfrm>
          <a:prstGeom prst="rect">
            <a:avLst/>
          </a:prstGeom>
          <a:noFill/>
          <a:ln/>
        </p:spPr>
        <p:txBody>
          <a:bodyPr wrap="square" lIns="0" tIns="0" rIns="0" bIns="0" rtlCol="0" anchor="t"/>
          <a:lstStyle/>
          <a:p>
            <a:pPr indent="0" marL="0">
              <a:lnSpc>
                <a:spcPct val="120000"/>
              </a:lnSpc>
              <a:buNone/>
            </a:pPr>
            <a:r>
              <a:rPr lang="en-US" sz="1250" dirty="0">
                <a:solidFill>
                  <a:srgbClr val="F8FAFC"/>
                </a:solidFill>
                <a:latin typeface="Calibri" pitchFamily="34" charset="0"/>
                <a:ea typeface="Calibri" pitchFamily="34" charset="-122"/>
                <a:cs typeface="Calibri" pitchFamily="34" charset="-120"/>
              </a:rPr>
              <a:t>We'll use dirb's common.txt — a well-established, general-purpose list of thousands of typical directory and file names.</a:t>
            </a:r>
            <a:endParaRPr lang="en-US" sz="1250" dirty="0"/>
          </a:p>
        </p:txBody>
      </p:sp>
      <p:sp>
        <p:nvSpPr>
          <p:cNvPr id="9" name="Text 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4 · Phase 2: Scanning &amp; Enumeration</a:t>
            </a:r>
            <a:endParaRPr lang="en-US" sz="900" dirty="0"/>
          </a:p>
        </p:txBody>
      </p:sp>
      <p:sp>
        <p:nvSpPr>
          <p:cNvPr id="10" name="Text 7"/>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F172A"/>
          </a:solidFill>
          <a:ln/>
        </p:spPr>
      </p:sp>
      <p:sp>
        <p:nvSpPr>
          <p:cNvPr id="3" name="Text 1"/>
          <p:cNvSpPr/>
          <p:nvPr/>
        </p:nvSpPr>
        <p:spPr>
          <a:xfrm>
            <a:off x="548640" y="640080"/>
            <a:ext cx="3200400" cy="320040"/>
          </a:xfrm>
          <a:prstGeom prst="rect">
            <a:avLst/>
          </a:prstGeom>
          <a:noFill/>
          <a:ln/>
        </p:spPr>
        <p:txBody>
          <a:bodyPr wrap="square" lIns="0" tIns="0" rIns="0" bIns="0" rtlCol="0" anchor="ctr"/>
          <a:lstStyle/>
          <a:p>
            <a:pPr indent="0" marL="0">
              <a:buNone/>
            </a:pPr>
            <a:r>
              <a:rPr lang="en-US" sz="1300" b="1" spc="200" kern="0" dirty="0">
                <a:solidFill>
                  <a:srgbClr val="22D3EE"/>
                </a:solidFill>
                <a:latin typeface="Calibri" pitchFamily="34" charset="0"/>
                <a:ea typeface="Calibri" pitchFamily="34" charset="-122"/>
                <a:cs typeface="Calibri" pitchFamily="34" charset="-120"/>
              </a:rPr>
              <a:t>TOOL 1</a:t>
            </a:r>
            <a:endParaRPr lang="en-US" sz="1300" dirty="0"/>
          </a:p>
        </p:txBody>
      </p:sp>
      <p:pic>
        <p:nvPicPr>
          <p:cNvPr id="4" name="Image 0" descr="preencoded.png">    </p:cNvPr>
          <p:cNvPicPr>
            <a:picLocks noChangeAspect="1"/>
          </p:cNvPicPr>
          <p:nvPr/>
        </p:nvPicPr>
        <p:blipFill>
          <a:blip r:embed="rId1"/>
          <a:stretch>
            <a:fillRect/>
          </a:stretch>
        </p:blipFill>
        <p:spPr>
          <a:xfrm>
            <a:off x="548640" y="2377440"/>
            <a:ext cx="1371600" cy="1371600"/>
          </a:xfrm>
          <a:prstGeom prst="rect">
            <a:avLst/>
          </a:prstGeom>
        </p:spPr>
      </p:pic>
      <p:sp>
        <p:nvSpPr>
          <p:cNvPr id="5" name="Text 2"/>
          <p:cNvSpPr/>
          <p:nvPr/>
        </p:nvSpPr>
        <p:spPr>
          <a:xfrm>
            <a:off x="548640" y="3886200"/>
            <a:ext cx="3383280" cy="1005840"/>
          </a:xfrm>
          <a:prstGeom prst="rect">
            <a:avLst/>
          </a:prstGeom>
          <a:noFill/>
          <a:ln/>
        </p:spPr>
        <p:txBody>
          <a:bodyPr wrap="square" lIns="0" tIns="0" rIns="0" bIns="0" rtlCol="0" anchor="ctr"/>
          <a:lstStyle/>
          <a:p>
            <a:pPr indent="0" marL="0">
              <a:buNone/>
            </a:pPr>
            <a:r>
              <a:rPr lang="en-US" sz="3200" b="1" dirty="0">
                <a:solidFill>
                  <a:srgbClr val="F8FAFC"/>
                </a:solidFill>
                <a:latin typeface="Calibri" pitchFamily="34" charset="0"/>
                <a:ea typeface="Calibri" pitchFamily="34" charset="-122"/>
                <a:cs typeface="Calibri" pitchFamily="34" charset="-120"/>
              </a:rPr>
              <a:t>gobuster</a:t>
            </a:r>
            <a:endParaRPr lang="en-US" sz="3200" dirty="0"/>
          </a:p>
        </p:txBody>
      </p:sp>
      <p:sp>
        <p:nvSpPr>
          <p:cNvPr id="6" name="Text 3"/>
          <p:cNvSpPr/>
          <p:nvPr/>
        </p:nvSpPr>
        <p:spPr>
          <a:xfrm>
            <a:off x="548640" y="4846320"/>
            <a:ext cx="3383280" cy="1097280"/>
          </a:xfrm>
          <a:prstGeom prst="rect">
            <a:avLst/>
          </a:prstGeom>
          <a:noFill/>
          <a:ln/>
        </p:spPr>
        <p:txBody>
          <a:bodyPr wrap="square" lIns="0" tIns="0" rIns="0" bIns="0" rtlCol="0" anchor="ctr"/>
          <a:lstStyle/>
          <a:p>
            <a:pPr indent="0" marL="0">
              <a:buNone/>
            </a:pPr>
            <a:r>
              <a:rPr lang="en-US" sz="1350" i="1" dirty="0">
                <a:solidFill>
                  <a:srgbClr val="94A3B8"/>
                </a:solidFill>
                <a:latin typeface="Calibri" pitchFamily="34" charset="0"/>
                <a:ea typeface="Calibri" pitchFamily="34" charset="-122"/>
                <a:cs typeface="Calibri" pitchFamily="34" charset="-120"/>
              </a:rPr>
              <a:t>A fast, modern directory and DNS brute-forcer written in Go.</a:t>
            </a:r>
            <a:endParaRPr lang="en-US" sz="1350" dirty="0"/>
          </a:p>
        </p:txBody>
      </p:sp>
      <p:sp>
        <p:nvSpPr>
          <p:cNvPr id="7" name="Text 4"/>
          <p:cNvSpPr/>
          <p:nvPr/>
        </p:nvSpPr>
        <p:spPr>
          <a:xfrm>
            <a:off x="4663440" y="822960"/>
            <a:ext cx="676656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WHAT IT IS</a:t>
            </a:r>
            <a:endParaRPr lang="en-US" sz="1300" dirty="0"/>
          </a:p>
        </p:txBody>
      </p:sp>
      <p:sp>
        <p:nvSpPr>
          <p:cNvPr id="8" name="Text 5"/>
          <p:cNvSpPr/>
          <p:nvPr/>
        </p:nvSpPr>
        <p:spPr>
          <a:xfrm>
            <a:off x="4663440" y="1188720"/>
            <a:ext cx="6858000" cy="2011680"/>
          </a:xfrm>
          <a:prstGeom prst="rect">
            <a:avLst/>
          </a:prstGeom>
          <a:noFill/>
          <a:ln/>
        </p:spPr>
        <p:txBody>
          <a:bodyPr wrap="square" lIns="0" tIns="0" rIns="0" bIns="0" rtlCol="0" anchor="t"/>
          <a:lstStyle/>
          <a:p>
            <a:pPr indent="0" marL="0">
              <a:lnSpc>
                <a:spcPct val="120000"/>
              </a:lnSpc>
              <a:buNone/>
            </a:pPr>
            <a:r>
              <a:rPr lang="en-US" sz="1500" dirty="0">
                <a:solidFill>
                  <a:srgbClr val="0F172A"/>
                </a:solidFill>
                <a:latin typeface="Calibri" pitchFamily="34" charset="0"/>
                <a:ea typeface="Calibri" pitchFamily="34" charset="-122"/>
                <a:cs typeface="Calibri" pitchFamily="34" charset="-120"/>
              </a:rPr>
              <a:t>A command-line content-discovery tool that brute-forces directories, files, DNS subdomains, and more, using a supplied wordlist. Its speed (thanks to Go's concurrency) makes it a common first choice.</a:t>
            </a:r>
            <a:endParaRPr lang="en-US" sz="1500" dirty="0"/>
          </a:p>
        </p:txBody>
      </p:sp>
      <p:sp>
        <p:nvSpPr>
          <p:cNvPr id="9" name="Text 6"/>
          <p:cNvSpPr/>
          <p:nvPr/>
        </p:nvSpPr>
        <p:spPr>
          <a:xfrm>
            <a:off x="4663440" y="3429000"/>
            <a:ext cx="676656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WHEN TO USE IT</a:t>
            </a:r>
            <a:endParaRPr lang="en-US" sz="1300" dirty="0"/>
          </a:p>
        </p:txBody>
      </p:sp>
      <p:sp>
        <p:nvSpPr>
          <p:cNvPr id="10" name="Text 7"/>
          <p:cNvSpPr/>
          <p:nvPr/>
        </p:nvSpPr>
        <p:spPr>
          <a:xfrm>
            <a:off x="4663440" y="3794760"/>
            <a:ext cx="6858000" cy="2377440"/>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A quick, fast first pass against a web target</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When you want clean, readable output with status codes built in</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DNS subdomain brute-forcing (dns mode), not just web paths</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As your default "go-to" before reaching for a more specialized tool</a:t>
            </a:r>
            <a:endParaRPr lang="en-US" sz="1400" dirty="0"/>
          </a:p>
        </p:txBody>
      </p:sp>
      <p:sp>
        <p:nvSpPr>
          <p:cNvPr id="11" name="Text 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4 · Phase 2: Scanning &amp; Enumeration</a:t>
            </a:r>
            <a:endParaRPr lang="en-US" sz="900" dirty="0"/>
          </a:p>
        </p:txBody>
      </p:sp>
      <p:sp>
        <p:nvSpPr>
          <p:cNvPr id="12" name="Text 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GOBUSTER · DIRECTORY BRUTE-FORCING</a:t>
            </a:r>
            <a:endParaRPr lang="en-US" sz="1300" dirty="0"/>
          </a:p>
        </p:txBody>
      </p:sp>
      <p:sp>
        <p:nvSpPr>
          <p:cNvPr id="3" name="Text 1"/>
          <p:cNvSpPr/>
          <p:nvPr/>
        </p:nvSpPr>
        <p:spPr>
          <a:xfrm>
            <a:off x="640080" y="804672"/>
            <a:ext cx="1088136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Finding What's Not Linked</a:t>
            </a:r>
            <a:endParaRPr lang="en-US" sz="2600" dirty="0"/>
          </a:p>
        </p:txBody>
      </p:sp>
      <p:sp>
        <p:nvSpPr>
          <p:cNvPr id="4" name="Text 2"/>
          <p:cNvSpPr/>
          <p:nvPr/>
        </p:nvSpPr>
        <p:spPr>
          <a:xfrm>
            <a:off x="640080" y="1298448"/>
            <a:ext cx="10881360" cy="41148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Always check robots.txt first — it can hint at paths before you brute-force anything.</a:t>
            </a:r>
            <a:endParaRPr lang="en-US" sz="1350" dirty="0"/>
          </a:p>
        </p:txBody>
      </p:sp>
      <p:sp>
        <p:nvSpPr>
          <p:cNvPr id="5" name="Shape 3"/>
          <p:cNvSpPr/>
          <p:nvPr/>
        </p:nvSpPr>
        <p:spPr>
          <a:xfrm>
            <a:off x="640080" y="1828800"/>
            <a:ext cx="10881360" cy="2867501"/>
          </a:xfrm>
          <a:prstGeom prst="roundRect">
            <a:avLst>
              <a:gd name="adj" fmla="val 1913"/>
            </a:avLst>
          </a:prstGeom>
          <a:solidFill>
            <a:srgbClr val="0B1220"/>
          </a:solidFill>
          <a:ln/>
        </p:spPr>
      </p:sp>
      <p:sp>
        <p:nvSpPr>
          <p:cNvPr id="6" name="Shape 4"/>
          <p:cNvSpPr/>
          <p:nvPr/>
        </p:nvSpPr>
        <p:spPr>
          <a:xfrm>
            <a:off x="914400" y="2029968"/>
            <a:ext cx="146304" cy="146304"/>
          </a:xfrm>
          <a:prstGeom prst="ellipse">
            <a:avLst/>
          </a:prstGeom>
          <a:solidFill>
            <a:srgbClr val="EF4444"/>
          </a:solidFill>
          <a:ln/>
        </p:spPr>
      </p:sp>
      <p:sp>
        <p:nvSpPr>
          <p:cNvPr id="7" name="Shape 5"/>
          <p:cNvSpPr/>
          <p:nvPr/>
        </p:nvSpPr>
        <p:spPr>
          <a:xfrm>
            <a:off x="1170432" y="2029968"/>
            <a:ext cx="146304" cy="146304"/>
          </a:xfrm>
          <a:prstGeom prst="ellipse">
            <a:avLst/>
          </a:prstGeom>
          <a:solidFill>
            <a:srgbClr val="F59E0B"/>
          </a:solidFill>
          <a:ln/>
        </p:spPr>
      </p:sp>
      <p:sp>
        <p:nvSpPr>
          <p:cNvPr id="8" name="Shape 6"/>
          <p:cNvSpPr/>
          <p:nvPr/>
        </p:nvSpPr>
        <p:spPr>
          <a:xfrm>
            <a:off x="1426464" y="2029968"/>
            <a:ext cx="146304" cy="146304"/>
          </a:xfrm>
          <a:prstGeom prst="ellipse">
            <a:avLst/>
          </a:prstGeom>
          <a:solidFill>
            <a:srgbClr val="10B981"/>
          </a:solidFill>
          <a:ln/>
        </p:spPr>
      </p:sp>
      <p:sp>
        <p:nvSpPr>
          <p:cNvPr id="9" name="Text 7"/>
          <p:cNvSpPr/>
          <p:nvPr/>
        </p:nvSpPr>
        <p:spPr>
          <a:xfrm>
            <a:off x="914400" y="2331720"/>
            <a:ext cx="10332720" cy="2227421"/>
          </a:xfrm>
          <a:prstGeom prst="rect">
            <a:avLst/>
          </a:prstGeom>
          <a:noFill/>
          <a:ln/>
        </p:spPr>
        <p:txBody>
          <a:bodyPr wrap="square" lIns="0" tIns="0" rIns="0" bIns="0" rtlCol="0" anchor="t"/>
          <a:lstStyle/>
          <a:p>
            <a:pPr indent="0" marL="0">
              <a:lnSpc>
                <a:spcPct val="115000"/>
              </a:lnSpc>
              <a:buNone/>
            </a:pPr>
            <a:r>
              <a:rPr lang="en-US" sz="1250" b="1" dirty="0">
                <a:solidFill>
                  <a:srgbClr val="4ADE80"/>
                </a:solidFill>
                <a:latin typeface="Courier New" pitchFamily="34" charset="0"/>
                <a:ea typeface="Courier New" pitchFamily="34" charset="-122"/>
                <a:cs typeface="Courier New" pitchFamily="34" charset="-120"/>
              </a:rPr>
              <a:t>$ curl http://10.10.4.10/robots.txt</a:t>
            </a:r>
            <a:endParaRPr lang="en-US" sz="1250" dirty="0"/>
          </a:p>
          <a:p>
            <a:pPr indent="0" marL="0">
              <a:lnSpc>
                <a:spcPct val="115000"/>
              </a:lnSpc>
              <a:buNone/>
            </a:pPr>
            <a:r>
              <a:rPr lang="en-US" sz="1250" dirty="0">
                <a:solidFill>
                  <a:srgbClr val="E2E8F0"/>
                </a:solidFill>
                <a:latin typeface="Courier New" pitchFamily="34" charset="0"/>
                <a:ea typeface="Courier New" pitchFamily="34" charset="-122"/>
                <a:cs typeface="Courier New" pitchFamily="34" charset="-120"/>
              </a:rPr>
              <a:t>User-agent: *</a:t>
            </a:r>
            <a:endParaRPr lang="en-US" sz="1250" dirty="0"/>
          </a:p>
          <a:p>
            <a:pPr indent="0" marL="0">
              <a:lnSpc>
                <a:spcPct val="115000"/>
              </a:lnSpc>
              <a:buNone/>
            </a:pPr>
            <a:r>
              <a:rPr lang="en-US" sz="1250" dirty="0">
                <a:solidFill>
                  <a:srgbClr val="E2E8F0"/>
                </a:solidFill>
                <a:latin typeface="Courier New" pitchFamily="34" charset="0"/>
                <a:ea typeface="Courier New" pitchFamily="34" charset="-122"/>
                <a:cs typeface="Courier New" pitchFamily="34" charset="-120"/>
              </a:rPr>
              <a:t>Disallow: /admin/</a:t>
            </a:r>
            <a:endParaRPr lang="en-US" sz="1250" dirty="0"/>
          </a:p>
          <a:p>
            <a:pPr indent="0" marL="0">
              <a:lnSpc>
                <a:spcPct val="115000"/>
              </a:lnSpc>
              <a:buNone/>
            </a:pPr>
            <a:r>
              <a:rPr lang="en-US" sz="1250" dirty="0">
                <a:solidFill>
                  <a:srgbClr val="E2E8F0"/>
                </a:solidFill>
                <a:latin typeface="Courier New" pitchFamily="34" charset="0"/>
                <a:ea typeface="Courier New" pitchFamily="34" charset="-122"/>
                <a:cs typeface="Courier New" pitchFamily="34" charset="-120"/>
              </a:rPr>
              <a:t>Disallow: /backup/</a:t>
            </a:r>
            <a:endParaRPr lang="en-US" sz="1250" dirty="0"/>
          </a:p>
          <a:p>
            <a:pPr indent="0" marL="0">
              <a:lnSpc>
                <a:spcPct val="115000"/>
              </a:lnSpc>
              <a:buNone/>
            </a:pPr>
            <a:endParaRPr lang="en-US" sz="1250" dirty="0"/>
          </a:p>
          <a:p>
            <a:pPr indent="0" marL="0">
              <a:lnSpc>
                <a:spcPct val="115000"/>
              </a:lnSpc>
              <a:buNone/>
            </a:pPr>
            <a:r>
              <a:rPr lang="en-US" sz="1250" b="1" dirty="0">
                <a:solidFill>
                  <a:srgbClr val="4ADE80"/>
                </a:solidFill>
                <a:latin typeface="Courier New" pitchFamily="34" charset="0"/>
                <a:ea typeface="Courier New" pitchFamily="34" charset="-122"/>
                <a:cs typeface="Courier New" pitchFamily="34" charset="-120"/>
              </a:rPr>
              <a:t>$ gobuster dir -u http://10.10.4.10 -w /usr/share/dirb/wordlists/common.txt</a:t>
            </a:r>
            <a:endParaRPr lang="en-US" sz="1250" dirty="0"/>
          </a:p>
          <a:p>
            <a:pPr indent="0" marL="0">
              <a:lnSpc>
                <a:spcPct val="115000"/>
              </a:lnSpc>
              <a:buNone/>
            </a:pPr>
            <a:r>
              <a:rPr lang="en-US" sz="1250" dirty="0">
                <a:solidFill>
                  <a:srgbClr val="4ADE80"/>
                </a:solidFill>
                <a:latin typeface="Courier New" pitchFamily="34" charset="0"/>
                <a:ea typeface="Courier New" pitchFamily="34" charset="-122"/>
                <a:cs typeface="Courier New" pitchFamily="34" charset="-120"/>
              </a:rPr>
              <a:t>admin      (Status: 301) [--&gt; http://10.10.4.10/admin/]</a:t>
            </a:r>
            <a:endParaRPr lang="en-US" sz="1250" dirty="0"/>
          </a:p>
          <a:p>
            <a:pPr indent="0" marL="0">
              <a:lnSpc>
                <a:spcPct val="115000"/>
              </a:lnSpc>
              <a:buNone/>
            </a:pPr>
            <a:r>
              <a:rPr lang="en-US" sz="1250" dirty="0">
                <a:solidFill>
                  <a:srgbClr val="4ADE80"/>
                </a:solidFill>
                <a:latin typeface="Courier New" pitchFamily="34" charset="0"/>
                <a:ea typeface="Courier New" pitchFamily="34" charset="-122"/>
                <a:cs typeface="Courier New" pitchFamily="34" charset="-120"/>
              </a:rPr>
              <a:t>backup     (Status: 301) [--&gt; http://10.10.4.10/backup/]</a:t>
            </a:r>
            <a:endParaRPr lang="en-US" sz="1250" dirty="0"/>
          </a:p>
          <a:p>
            <a:pPr indent="0" marL="0">
              <a:lnSpc>
                <a:spcPct val="115000"/>
              </a:lnSpc>
              <a:buNone/>
            </a:pPr>
            <a:r>
              <a:rPr lang="en-US" sz="1250" dirty="0">
                <a:solidFill>
                  <a:srgbClr val="E2E8F0"/>
                </a:solidFill>
                <a:latin typeface="Courier New" pitchFamily="34" charset="0"/>
                <a:ea typeface="Courier New" pitchFamily="34" charset="-122"/>
                <a:cs typeface="Courier New" pitchFamily="34" charset="-120"/>
              </a:rPr>
              <a:t>index.html (Status: 200)</a:t>
            </a:r>
            <a:endParaRPr lang="en-US" sz="1250" dirty="0"/>
          </a:p>
        </p:txBody>
      </p:sp>
      <p:sp>
        <p:nvSpPr>
          <p:cNvPr id="10" name="Text 8"/>
          <p:cNvSpPr/>
          <p:nvPr/>
        </p:nvSpPr>
        <p:spPr>
          <a:xfrm>
            <a:off x="640080" y="4970621"/>
            <a:ext cx="10881360" cy="1247299"/>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robots.txt exists to tell search crawlers what to skip — which makes it a free hint at "sensitive" paths</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-u sets the target, -w sets the wordlist — gobuster's dir mode is what we use for directory brute-forcing</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Notice robots.txt already told us about /admin/ and /backup/ before we even ran gobuster</a:t>
            </a:r>
            <a:endParaRPr lang="en-US" sz="1250" dirty="0"/>
          </a:p>
        </p:txBody>
      </p:sp>
      <p:sp>
        <p:nvSpPr>
          <p:cNvPr id="11" name="Text 9"/>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4 · Phase 2: Scanning &amp; Enumeration</a:t>
            </a:r>
            <a:endParaRPr lang="en-US" sz="900" dirty="0"/>
          </a:p>
        </p:txBody>
      </p:sp>
      <p:sp>
        <p:nvSpPr>
          <p:cNvPr id="12" name="Text 10"/>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F172A"/>
          </a:solidFill>
          <a:ln/>
        </p:spPr>
      </p:sp>
      <p:sp>
        <p:nvSpPr>
          <p:cNvPr id="3" name="Text 1"/>
          <p:cNvSpPr/>
          <p:nvPr/>
        </p:nvSpPr>
        <p:spPr>
          <a:xfrm>
            <a:off x="548640" y="640080"/>
            <a:ext cx="3200400" cy="320040"/>
          </a:xfrm>
          <a:prstGeom prst="rect">
            <a:avLst/>
          </a:prstGeom>
          <a:noFill/>
          <a:ln/>
        </p:spPr>
        <p:txBody>
          <a:bodyPr wrap="square" lIns="0" tIns="0" rIns="0" bIns="0" rtlCol="0" anchor="ctr"/>
          <a:lstStyle/>
          <a:p>
            <a:pPr indent="0" marL="0">
              <a:buNone/>
            </a:pPr>
            <a:r>
              <a:rPr lang="en-US" sz="1300" b="1" spc="200" kern="0" dirty="0">
                <a:solidFill>
                  <a:srgbClr val="22D3EE"/>
                </a:solidFill>
                <a:latin typeface="Calibri" pitchFamily="34" charset="0"/>
                <a:ea typeface="Calibri" pitchFamily="34" charset="-122"/>
                <a:cs typeface="Calibri" pitchFamily="34" charset="-120"/>
              </a:rPr>
              <a:t>TOOL 2</a:t>
            </a:r>
            <a:endParaRPr lang="en-US" sz="1300" dirty="0"/>
          </a:p>
        </p:txBody>
      </p:sp>
      <p:pic>
        <p:nvPicPr>
          <p:cNvPr id="4" name="Image 0" descr="preencoded.png">    </p:cNvPr>
          <p:cNvPicPr>
            <a:picLocks noChangeAspect="1"/>
          </p:cNvPicPr>
          <p:nvPr/>
        </p:nvPicPr>
        <p:blipFill>
          <a:blip r:embed="rId1"/>
          <a:stretch>
            <a:fillRect/>
          </a:stretch>
        </p:blipFill>
        <p:spPr>
          <a:xfrm>
            <a:off x="548640" y="2377440"/>
            <a:ext cx="1371600" cy="1371600"/>
          </a:xfrm>
          <a:prstGeom prst="rect">
            <a:avLst/>
          </a:prstGeom>
        </p:spPr>
      </p:pic>
      <p:sp>
        <p:nvSpPr>
          <p:cNvPr id="5" name="Text 2"/>
          <p:cNvSpPr/>
          <p:nvPr/>
        </p:nvSpPr>
        <p:spPr>
          <a:xfrm>
            <a:off x="548640" y="3886200"/>
            <a:ext cx="3383280" cy="1005840"/>
          </a:xfrm>
          <a:prstGeom prst="rect">
            <a:avLst/>
          </a:prstGeom>
          <a:noFill/>
          <a:ln/>
        </p:spPr>
        <p:txBody>
          <a:bodyPr wrap="square" lIns="0" tIns="0" rIns="0" bIns="0" rtlCol="0" anchor="ctr"/>
          <a:lstStyle/>
          <a:p>
            <a:pPr indent="0" marL="0">
              <a:buNone/>
            </a:pPr>
            <a:r>
              <a:rPr lang="en-US" sz="3200" b="1" dirty="0">
                <a:solidFill>
                  <a:srgbClr val="F8FAFC"/>
                </a:solidFill>
                <a:latin typeface="Calibri" pitchFamily="34" charset="0"/>
                <a:ea typeface="Calibri" pitchFamily="34" charset="-122"/>
                <a:cs typeface="Calibri" pitchFamily="34" charset="-120"/>
              </a:rPr>
              <a:t>dirb &amp; ffuf</a:t>
            </a:r>
            <a:endParaRPr lang="en-US" sz="3200" dirty="0"/>
          </a:p>
        </p:txBody>
      </p:sp>
      <p:sp>
        <p:nvSpPr>
          <p:cNvPr id="6" name="Text 3"/>
          <p:cNvSpPr/>
          <p:nvPr/>
        </p:nvSpPr>
        <p:spPr>
          <a:xfrm>
            <a:off x="548640" y="4846320"/>
            <a:ext cx="3383280" cy="1097280"/>
          </a:xfrm>
          <a:prstGeom prst="rect">
            <a:avLst/>
          </a:prstGeom>
          <a:noFill/>
          <a:ln/>
        </p:spPr>
        <p:txBody>
          <a:bodyPr wrap="square" lIns="0" tIns="0" rIns="0" bIns="0" rtlCol="0" anchor="ctr"/>
          <a:lstStyle/>
          <a:p>
            <a:pPr indent="0" marL="0">
              <a:buNone/>
            </a:pPr>
            <a:r>
              <a:rPr lang="en-US" sz="1350" i="1" dirty="0">
                <a:solidFill>
                  <a:srgbClr val="94A3B8"/>
                </a:solidFill>
                <a:latin typeface="Calibri" pitchFamily="34" charset="0"/>
                <a:ea typeface="Calibri" pitchFamily="34" charset="-122"/>
                <a:cs typeface="Calibri" pitchFamily="34" charset="-120"/>
              </a:rPr>
              <a:t>Two more takes on the same idea — one classic, one built for speed and flexibility.</a:t>
            </a:r>
            <a:endParaRPr lang="en-US" sz="1350" dirty="0"/>
          </a:p>
        </p:txBody>
      </p:sp>
      <p:sp>
        <p:nvSpPr>
          <p:cNvPr id="7" name="Text 4"/>
          <p:cNvSpPr/>
          <p:nvPr/>
        </p:nvSpPr>
        <p:spPr>
          <a:xfrm>
            <a:off x="4663440" y="822960"/>
            <a:ext cx="676656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WHAT IT IS</a:t>
            </a:r>
            <a:endParaRPr lang="en-US" sz="1300" dirty="0"/>
          </a:p>
        </p:txBody>
      </p:sp>
      <p:sp>
        <p:nvSpPr>
          <p:cNvPr id="8" name="Text 5"/>
          <p:cNvSpPr/>
          <p:nvPr/>
        </p:nvSpPr>
        <p:spPr>
          <a:xfrm>
            <a:off x="4663440" y="1188720"/>
            <a:ext cx="6858000" cy="2011680"/>
          </a:xfrm>
          <a:prstGeom prst="rect">
            <a:avLst/>
          </a:prstGeom>
          <a:noFill/>
          <a:ln/>
        </p:spPr>
        <p:txBody>
          <a:bodyPr wrap="square" lIns="0" tIns="0" rIns="0" bIns="0" rtlCol="0" anchor="t"/>
          <a:lstStyle/>
          <a:p>
            <a:pPr indent="0" marL="0">
              <a:lnSpc>
                <a:spcPct val="120000"/>
              </a:lnSpc>
              <a:buNone/>
            </a:pPr>
            <a:r>
              <a:rPr lang="en-US" sz="1500" dirty="0">
                <a:solidFill>
                  <a:srgbClr val="0F172A"/>
                </a:solidFill>
                <a:latin typeface="Calibri" pitchFamily="34" charset="0"/>
                <a:ea typeface="Calibri" pitchFamily="34" charset="-122"/>
                <a:cs typeface="Calibri" pitchFamily="34" charset="-120"/>
              </a:rPr>
              <a:t>dirb is an older, dependable directory brute-forcer, often shipping with its own well-known common.txt wordlist. ffuf ("fuzz faster you fool") is a modern, extremely fast fuzzer that generalizes the technique with an explicit FUZZ placeholder you control.</a:t>
            </a:r>
            <a:endParaRPr lang="en-US" sz="1500" dirty="0"/>
          </a:p>
        </p:txBody>
      </p:sp>
      <p:sp>
        <p:nvSpPr>
          <p:cNvPr id="9" name="Text 6"/>
          <p:cNvSpPr/>
          <p:nvPr/>
        </p:nvSpPr>
        <p:spPr>
          <a:xfrm>
            <a:off x="4663440" y="3429000"/>
            <a:ext cx="676656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WHEN TO USE IT</a:t>
            </a:r>
            <a:endParaRPr lang="en-US" sz="1300" dirty="0"/>
          </a:p>
        </p:txBody>
      </p:sp>
      <p:sp>
        <p:nvSpPr>
          <p:cNvPr id="10" name="Text 7"/>
          <p:cNvSpPr/>
          <p:nvPr/>
        </p:nvSpPr>
        <p:spPr>
          <a:xfrm>
            <a:off x="4663440" y="3794760"/>
            <a:ext cx="6858000" cy="2377440"/>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dirb: when you want a dependable, no-frills scan with sane defaults</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ffuf: when you need speed, or need to fuzz something other than a simple path (headers, parameters, subdomains)</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Cross-checking one tool's findings against another — they don't always agree</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ffuf's FUZZ keyword generalizes cleanly to any part of a request, not just the URL path</a:t>
            </a:r>
            <a:endParaRPr lang="en-US" sz="1400" dirty="0"/>
          </a:p>
        </p:txBody>
      </p:sp>
      <p:sp>
        <p:nvSpPr>
          <p:cNvPr id="11" name="Text 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4 · Phase 2: Scanning &amp; Enumeration</a:t>
            </a:r>
            <a:endParaRPr lang="en-US" sz="900" dirty="0"/>
          </a:p>
        </p:txBody>
      </p:sp>
      <p:sp>
        <p:nvSpPr>
          <p:cNvPr id="12" name="Text 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DIRB &amp; FFUF · ALTERNATIVE APPROACHES</a:t>
            </a:r>
            <a:endParaRPr lang="en-US" sz="1300" dirty="0"/>
          </a:p>
        </p:txBody>
      </p:sp>
      <p:sp>
        <p:nvSpPr>
          <p:cNvPr id="3" name="Text 1"/>
          <p:cNvSpPr/>
          <p:nvPr/>
        </p:nvSpPr>
        <p:spPr>
          <a:xfrm>
            <a:off x="640080" y="804672"/>
            <a:ext cx="1088136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Same Goal, Different Tools</a:t>
            </a:r>
            <a:endParaRPr lang="en-US" sz="2600" dirty="0"/>
          </a:p>
        </p:txBody>
      </p:sp>
      <p:sp>
        <p:nvSpPr>
          <p:cNvPr id="4" name="Shape 2"/>
          <p:cNvSpPr/>
          <p:nvPr/>
        </p:nvSpPr>
        <p:spPr>
          <a:xfrm>
            <a:off x="640080" y="1508760"/>
            <a:ext cx="10881360" cy="2630170"/>
          </a:xfrm>
          <a:prstGeom prst="roundRect">
            <a:avLst>
              <a:gd name="adj" fmla="val 2086"/>
            </a:avLst>
          </a:prstGeom>
          <a:solidFill>
            <a:srgbClr val="0B1220"/>
          </a:solidFill>
          <a:ln/>
        </p:spPr>
      </p:sp>
      <p:sp>
        <p:nvSpPr>
          <p:cNvPr id="5" name="Shape 3"/>
          <p:cNvSpPr/>
          <p:nvPr/>
        </p:nvSpPr>
        <p:spPr>
          <a:xfrm>
            <a:off x="914400" y="1709928"/>
            <a:ext cx="146304" cy="146304"/>
          </a:xfrm>
          <a:prstGeom prst="ellipse">
            <a:avLst/>
          </a:prstGeom>
          <a:solidFill>
            <a:srgbClr val="EF4444"/>
          </a:solidFill>
          <a:ln/>
        </p:spPr>
      </p:sp>
      <p:sp>
        <p:nvSpPr>
          <p:cNvPr id="6" name="Shape 4"/>
          <p:cNvSpPr/>
          <p:nvPr/>
        </p:nvSpPr>
        <p:spPr>
          <a:xfrm>
            <a:off x="1170432" y="1709928"/>
            <a:ext cx="146304" cy="146304"/>
          </a:xfrm>
          <a:prstGeom prst="ellipse">
            <a:avLst/>
          </a:prstGeom>
          <a:solidFill>
            <a:srgbClr val="F59E0B"/>
          </a:solidFill>
          <a:ln/>
        </p:spPr>
      </p:sp>
      <p:sp>
        <p:nvSpPr>
          <p:cNvPr id="7" name="Shape 5"/>
          <p:cNvSpPr/>
          <p:nvPr/>
        </p:nvSpPr>
        <p:spPr>
          <a:xfrm>
            <a:off x="1426464" y="1709928"/>
            <a:ext cx="146304" cy="146304"/>
          </a:xfrm>
          <a:prstGeom prst="ellipse">
            <a:avLst/>
          </a:prstGeom>
          <a:solidFill>
            <a:srgbClr val="10B981"/>
          </a:solidFill>
          <a:ln/>
        </p:spPr>
      </p:sp>
      <p:sp>
        <p:nvSpPr>
          <p:cNvPr id="8" name="Text 6"/>
          <p:cNvSpPr/>
          <p:nvPr/>
        </p:nvSpPr>
        <p:spPr>
          <a:xfrm>
            <a:off x="914400" y="2011680"/>
            <a:ext cx="10332720" cy="1990090"/>
          </a:xfrm>
          <a:prstGeom prst="rect">
            <a:avLst/>
          </a:prstGeom>
          <a:noFill/>
          <a:ln/>
        </p:spPr>
        <p:txBody>
          <a:bodyPr wrap="square" lIns="0" tIns="0" rIns="0" bIns="0" rtlCol="0" anchor="t"/>
          <a:lstStyle/>
          <a:p>
            <a:pPr indent="0" marL="0">
              <a:lnSpc>
                <a:spcPct val="115000"/>
              </a:lnSpc>
              <a:buNone/>
            </a:pPr>
            <a:r>
              <a:rPr lang="en-US" sz="1250" b="1" dirty="0">
                <a:solidFill>
                  <a:srgbClr val="4ADE80"/>
                </a:solidFill>
                <a:latin typeface="Courier New" pitchFamily="34" charset="0"/>
                <a:ea typeface="Courier New" pitchFamily="34" charset="-122"/>
                <a:cs typeface="Courier New" pitchFamily="34" charset="-120"/>
              </a:rPr>
              <a:t>$ dirb http://10.10.4.10 /usr/share/dirb/wordlists/common.txt</a:t>
            </a:r>
            <a:endParaRPr lang="en-US" sz="1250" dirty="0"/>
          </a:p>
          <a:p>
            <a:pPr indent="0" marL="0">
              <a:lnSpc>
                <a:spcPct val="115000"/>
              </a:lnSpc>
              <a:buNone/>
            </a:pPr>
            <a:r>
              <a:rPr lang="en-US" sz="1250" dirty="0">
                <a:solidFill>
                  <a:srgbClr val="E2E8F0"/>
                </a:solidFill>
                <a:latin typeface="Courier New" pitchFamily="34" charset="0"/>
                <a:ea typeface="Courier New" pitchFamily="34" charset="-122"/>
                <a:cs typeface="Courier New" pitchFamily="34" charset="-120"/>
              </a:rPr>
              <a:t>+ http://10.10.4.10/admin (CODE:301)</a:t>
            </a:r>
            <a:endParaRPr lang="en-US" sz="1250" dirty="0"/>
          </a:p>
          <a:p>
            <a:pPr indent="0" marL="0">
              <a:lnSpc>
                <a:spcPct val="115000"/>
              </a:lnSpc>
              <a:buNone/>
            </a:pPr>
            <a:r>
              <a:rPr lang="en-US" sz="1250" dirty="0">
                <a:solidFill>
                  <a:srgbClr val="E2E8F0"/>
                </a:solidFill>
                <a:latin typeface="Courier New" pitchFamily="34" charset="0"/>
                <a:ea typeface="Courier New" pitchFamily="34" charset="-122"/>
                <a:cs typeface="Courier New" pitchFamily="34" charset="-120"/>
              </a:rPr>
              <a:t>+ http://10.10.4.10/backup (CODE:301)</a:t>
            </a:r>
            <a:endParaRPr lang="en-US" sz="1250" dirty="0"/>
          </a:p>
          <a:p>
            <a:pPr indent="0" marL="0">
              <a:lnSpc>
                <a:spcPct val="115000"/>
              </a:lnSpc>
              <a:buNone/>
            </a:pPr>
            <a:endParaRPr lang="en-US" sz="1250" dirty="0"/>
          </a:p>
          <a:p>
            <a:pPr indent="0" marL="0">
              <a:lnSpc>
                <a:spcPct val="115000"/>
              </a:lnSpc>
              <a:buNone/>
            </a:pPr>
            <a:r>
              <a:rPr lang="en-US" sz="1250" b="1" dirty="0">
                <a:solidFill>
                  <a:srgbClr val="4ADE80"/>
                </a:solidFill>
                <a:latin typeface="Courier New" pitchFamily="34" charset="0"/>
                <a:ea typeface="Courier New" pitchFamily="34" charset="-122"/>
                <a:cs typeface="Courier New" pitchFamily="34" charset="-120"/>
              </a:rPr>
              <a:t>$ ffuf -w /usr/share/dirb/wordlists/common.txt -u http://10.10.4.10/FUZZ</a:t>
            </a:r>
            <a:endParaRPr lang="en-US" sz="1250" dirty="0"/>
          </a:p>
          <a:p>
            <a:pPr indent="0" marL="0">
              <a:lnSpc>
                <a:spcPct val="115000"/>
              </a:lnSpc>
              <a:buNone/>
            </a:pPr>
            <a:r>
              <a:rPr lang="en-US" sz="1250" dirty="0">
                <a:solidFill>
                  <a:srgbClr val="E2E8F0"/>
                </a:solidFill>
                <a:latin typeface="Courier New" pitchFamily="34" charset="0"/>
                <a:ea typeface="Courier New" pitchFamily="34" charset="-122"/>
                <a:cs typeface="Courier New" pitchFamily="34" charset="-120"/>
              </a:rPr>
              <a:t>admin    [Status: 301, Size: 169]</a:t>
            </a:r>
            <a:endParaRPr lang="en-US" sz="1250" dirty="0"/>
          </a:p>
          <a:p>
            <a:pPr indent="0" marL="0">
              <a:lnSpc>
                <a:spcPct val="115000"/>
              </a:lnSpc>
              <a:buNone/>
            </a:pPr>
            <a:r>
              <a:rPr lang="en-US" sz="1250" dirty="0">
                <a:solidFill>
                  <a:srgbClr val="E2E8F0"/>
                </a:solidFill>
                <a:latin typeface="Courier New" pitchFamily="34" charset="0"/>
                <a:ea typeface="Courier New" pitchFamily="34" charset="-122"/>
                <a:cs typeface="Courier New" pitchFamily="34" charset="-120"/>
              </a:rPr>
              <a:t>backup   [Status: 301, Size: 169]</a:t>
            </a:r>
            <a:endParaRPr lang="en-US" sz="1250" dirty="0"/>
          </a:p>
          <a:p>
            <a:pPr indent="0" marL="0">
              <a:lnSpc>
                <a:spcPct val="115000"/>
              </a:lnSpc>
              <a:buNone/>
            </a:pPr>
            <a:r>
              <a:rPr lang="en-US" sz="1250" dirty="0">
                <a:solidFill>
                  <a:srgbClr val="E2E8F0"/>
                </a:solidFill>
                <a:latin typeface="Courier New" pitchFamily="34" charset="0"/>
                <a:ea typeface="Courier New" pitchFamily="34" charset="-122"/>
                <a:cs typeface="Courier New" pitchFamily="34" charset="-120"/>
              </a:rPr>
              <a:t>uploads  [Status: 301, Size: 169]</a:t>
            </a:r>
            <a:endParaRPr lang="en-US" sz="1250" dirty="0"/>
          </a:p>
        </p:txBody>
      </p:sp>
      <p:sp>
        <p:nvSpPr>
          <p:cNvPr id="9" name="Text 7"/>
          <p:cNvSpPr/>
          <p:nvPr/>
        </p:nvSpPr>
        <p:spPr>
          <a:xfrm>
            <a:off x="640080" y="4413250"/>
            <a:ext cx="10881360" cy="1804670"/>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dirb needs no special placeholder — it appends each wordlist entry to the base URL automatically</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ffuf requires the literal FUZZ keyword marking exactly where substitution happens</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ffuf is typically dramatically faster — worth demonstrating the speed difference live if time allows</a:t>
            </a:r>
            <a:endParaRPr lang="en-US" sz="1250" dirty="0"/>
          </a:p>
        </p:txBody>
      </p:sp>
      <p:sp>
        <p:nvSpPr>
          <p:cNvPr id="10" name="Text 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4 · Phase 2: Scanning &amp; Enumeration</a:t>
            </a:r>
            <a:endParaRPr lang="en-US" sz="900" dirty="0"/>
          </a:p>
        </p:txBody>
      </p:sp>
      <p:sp>
        <p:nvSpPr>
          <p:cNvPr id="11" name="Text 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640080" y="804672"/>
            <a:ext cx="10881360" cy="6858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What Automation Can Never Find Alone</a:t>
            </a:r>
            <a:endParaRPr lang="en-US" sz="2800" dirty="0"/>
          </a:p>
        </p:txBody>
      </p:sp>
      <p:sp>
        <p:nvSpPr>
          <p:cNvPr id="4" name="Text 2"/>
          <p:cNvSpPr/>
          <p:nvPr/>
        </p:nvSpPr>
        <p:spPr>
          <a:xfrm>
            <a:off x="640080" y="1691640"/>
            <a:ext cx="6675120" cy="4480560"/>
          </a:xfrm>
          <a:prstGeom prst="rect">
            <a:avLst/>
          </a:prstGeom>
          <a:noFill/>
          <a:ln/>
        </p:spPr>
        <p:txBody>
          <a:bodyPr wrap="square" lIns="0" tIns="0" rIns="0" bIns="0" rtlCol="0" anchor="t"/>
          <a:lstStyle/>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The limitation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A wordlist scan can only find a path that is literally spelled out in its wordlist. An unpredictable, context-specific filename will never be guessed.</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The fix: read what you find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A discovered page's content — an HTML comment, a linked filename, a hint in the text — often names something no wordlist would guess.</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This is manual enumeration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Following up on what automated tools surface is not optional busywork — it is where a meaningful number of real findings actually come from.</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Neither replaces the other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Automated + manual enumeration are complementary skills, not competing ones.</a:t>
            </a:r>
            <a:endParaRPr lang="en-US" sz="1500" dirty="0"/>
          </a:p>
        </p:txBody>
      </p:sp>
      <p:sp>
        <p:nvSpPr>
          <p:cNvPr id="5" name="Shape 3"/>
          <p:cNvSpPr/>
          <p:nvPr/>
        </p:nvSpPr>
        <p:spPr>
          <a:xfrm>
            <a:off x="7635240" y="1691640"/>
            <a:ext cx="3886200" cy="4023360"/>
          </a:xfrm>
          <a:prstGeom prst="roundRect">
            <a:avLst>
              <a:gd name="adj" fmla="val 1882"/>
            </a:avLst>
          </a:prstGeom>
          <a:solidFill>
            <a:srgbClr val="0F172A"/>
          </a:solidFill>
          <a:ln/>
          <a:effectLst>
            <a:outerShdw sx="100000" sy="100000" kx="0" ky="0" algn="bl" rotWithShape="0" blurRad="101600" dist="38100" dir="5400000">
              <a:srgbClr val="1E293B">
                <a:alpha val="25000"/>
              </a:srgbClr>
            </a:outerShdw>
          </a:effectLst>
        </p:spPr>
      </p:sp>
      <p:pic>
        <p:nvPicPr>
          <p:cNvPr id="6" name="Image 0" descr="preencoded.png">    </p:cNvPr>
          <p:cNvPicPr>
            <a:picLocks noChangeAspect="1"/>
          </p:cNvPicPr>
          <p:nvPr/>
        </p:nvPicPr>
        <p:blipFill>
          <a:blip r:embed="rId1"/>
          <a:stretch>
            <a:fillRect/>
          </a:stretch>
        </p:blipFill>
        <p:spPr>
          <a:xfrm>
            <a:off x="8001000" y="2011680"/>
            <a:ext cx="502920" cy="502920"/>
          </a:xfrm>
          <a:prstGeom prst="rect">
            <a:avLst/>
          </a:prstGeom>
        </p:spPr>
      </p:pic>
      <p:sp>
        <p:nvSpPr>
          <p:cNvPr id="7" name="Text 4"/>
          <p:cNvSpPr/>
          <p:nvPr/>
        </p:nvSpPr>
        <p:spPr>
          <a:xfrm>
            <a:off x="8001000" y="2651760"/>
            <a:ext cx="3246120" cy="457200"/>
          </a:xfrm>
          <a:prstGeom prst="rect">
            <a:avLst/>
          </a:prstGeom>
          <a:noFill/>
          <a:ln/>
        </p:spPr>
        <p:txBody>
          <a:bodyPr wrap="square" lIns="0" tIns="0" rIns="0" bIns="0" rtlCol="0" anchor="ctr"/>
          <a:lstStyle/>
          <a:p>
            <a:pPr indent="0" marL="0">
              <a:buNone/>
            </a:pPr>
            <a:r>
              <a:rPr lang="en-US" sz="1500" b="1" dirty="0">
                <a:solidFill>
                  <a:srgbClr val="22D3EE"/>
                </a:solidFill>
                <a:latin typeface="Calibri" pitchFamily="34" charset="0"/>
                <a:ea typeface="Calibri" pitchFamily="34" charset="-122"/>
                <a:cs typeface="Calibri" pitchFamily="34" charset="-120"/>
              </a:rPr>
              <a:t>Tonight's Lab, in One Line</a:t>
            </a:r>
            <a:endParaRPr lang="en-US" sz="1500" dirty="0"/>
          </a:p>
        </p:txBody>
      </p:sp>
      <p:sp>
        <p:nvSpPr>
          <p:cNvPr id="8" name="Text 5"/>
          <p:cNvSpPr/>
          <p:nvPr/>
        </p:nvSpPr>
        <p:spPr>
          <a:xfrm>
            <a:off x="8001000" y="3154680"/>
            <a:ext cx="3246120" cy="2468880"/>
          </a:xfrm>
          <a:prstGeom prst="rect">
            <a:avLst/>
          </a:prstGeom>
          <a:noFill/>
          <a:ln/>
        </p:spPr>
        <p:txBody>
          <a:bodyPr wrap="square" lIns="0" tIns="0" rIns="0" bIns="0" rtlCol="0" anchor="t"/>
          <a:lstStyle/>
          <a:p>
            <a:pPr indent="0" marL="0">
              <a:lnSpc>
                <a:spcPct val="120000"/>
              </a:lnSpc>
              <a:buNone/>
            </a:pPr>
            <a:r>
              <a:rPr lang="en-US" sz="1250" dirty="0">
                <a:solidFill>
                  <a:srgbClr val="F8FAFC"/>
                </a:solidFill>
                <a:latin typeface="Calibri" pitchFamily="34" charset="0"/>
                <a:ea typeface="Calibri" pitchFamily="34" charset="-122"/>
                <a:cs typeface="Calibri" pitchFamily="34" charset="-120"/>
              </a:rPr>
              <a:t>Your first flag comes from brute-forcing. Your second comes from reading what the first one told you and following up by hand.</a:t>
            </a:r>
            <a:endParaRPr lang="en-US" sz="1250" dirty="0"/>
          </a:p>
        </p:txBody>
      </p:sp>
      <p:sp>
        <p:nvSpPr>
          <p:cNvPr id="9" name="Text 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4 · Phase 2: Scanning &amp; Enumeration</a:t>
            </a:r>
            <a:endParaRPr lang="en-US" sz="900" dirty="0"/>
          </a:p>
        </p:txBody>
      </p:sp>
      <p:sp>
        <p:nvSpPr>
          <p:cNvPr id="10" name="Text 7"/>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F172A"/>
          </a:solidFill>
          <a:ln/>
        </p:spPr>
      </p:sp>
      <p:sp>
        <p:nvSpPr>
          <p:cNvPr id="3" name="Text 1"/>
          <p:cNvSpPr/>
          <p:nvPr/>
        </p:nvSpPr>
        <p:spPr>
          <a:xfrm>
            <a:off x="548640" y="640080"/>
            <a:ext cx="3200400" cy="320040"/>
          </a:xfrm>
          <a:prstGeom prst="rect">
            <a:avLst/>
          </a:prstGeom>
          <a:noFill/>
          <a:ln/>
        </p:spPr>
        <p:txBody>
          <a:bodyPr wrap="square" lIns="0" tIns="0" rIns="0" bIns="0" rtlCol="0" anchor="ctr"/>
          <a:lstStyle/>
          <a:p>
            <a:pPr indent="0" marL="0">
              <a:buNone/>
            </a:pPr>
            <a:r>
              <a:rPr lang="en-US" sz="1300" b="1" spc="200" kern="0" dirty="0">
                <a:solidFill>
                  <a:srgbClr val="22D3EE"/>
                </a:solidFill>
                <a:latin typeface="Calibri" pitchFamily="34" charset="0"/>
                <a:ea typeface="Calibri" pitchFamily="34" charset="-122"/>
                <a:cs typeface="Calibri" pitchFamily="34" charset="-120"/>
              </a:rPr>
              <a:t>TOOL 3</a:t>
            </a:r>
            <a:endParaRPr lang="en-US" sz="1300" dirty="0"/>
          </a:p>
        </p:txBody>
      </p:sp>
      <p:pic>
        <p:nvPicPr>
          <p:cNvPr id="4" name="Image 0" descr="preencoded.png">    </p:cNvPr>
          <p:cNvPicPr>
            <a:picLocks noChangeAspect="1"/>
          </p:cNvPicPr>
          <p:nvPr/>
        </p:nvPicPr>
        <p:blipFill>
          <a:blip r:embed="rId1"/>
          <a:stretch>
            <a:fillRect/>
          </a:stretch>
        </p:blipFill>
        <p:spPr>
          <a:xfrm>
            <a:off x="548640" y="2377440"/>
            <a:ext cx="1371600" cy="1371600"/>
          </a:xfrm>
          <a:prstGeom prst="rect">
            <a:avLst/>
          </a:prstGeom>
        </p:spPr>
      </p:pic>
      <p:sp>
        <p:nvSpPr>
          <p:cNvPr id="5" name="Text 2"/>
          <p:cNvSpPr/>
          <p:nvPr/>
        </p:nvSpPr>
        <p:spPr>
          <a:xfrm>
            <a:off x="548640" y="3886200"/>
            <a:ext cx="3383280" cy="1005840"/>
          </a:xfrm>
          <a:prstGeom prst="rect">
            <a:avLst/>
          </a:prstGeom>
          <a:noFill/>
          <a:ln/>
        </p:spPr>
        <p:txBody>
          <a:bodyPr wrap="square" lIns="0" tIns="0" rIns="0" bIns="0" rtlCol="0" anchor="ctr"/>
          <a:lstStyle/>
          <a:p>
            <a:pPr indent="0" marL="0">
              <a:buNone/>
            </a:pPr>
            <a:r>
              <a:rPr lang="en-US" sz="3200" b="1" dirty="0">
                <a:solidFill>
                  <a:srgbClr val="F8FAFC"/>
                </a:solidFill>
                <a:latin typeface="Calibri" pitchFamily="34" charset="0"/>
                <a:ea typeface="Calibri" pitchFamily="34" charset="-122"/>
                <a:cs typeface="Calibri" pitchFamily="34" charset="-120"/>
              </a:rPr>
              <a:t>nikto</a:t>
            </a:r>
            <a:endParaRPr lang="en-US" sz="3200" dirty="0"/>
          </a:p>
        </p:txBody>
      </p:sp>
      <p:sp>
        <p:nvSpPr>
          <p:cNvPr id="6" name="Text 3"/>
          <p:cNvSpPr/>
          <p:nvPr/>
        </p:nvSpPr>
        <p:spPr>
          <a:xfrm>
            <a:off x="548640" y="4846320"/>
            <a:ext cx="3383280" cy="1097280"/>
          </a:xfrm>
          <a:prstGeom prst="rect">
            <a:avLst/>
          </a:prstGeom>
          <a:noFill/>
          <a:ln/>
        </p:spPr>
        <p:txBody>
          <a:bodyPr wrap="square" lIns="0" tIns="0" rIns="0" bIns="0" rtlCol="0" anchor="ctr"/>
          <a:lstStyle/>
          <a:p>
            <a:pPr indent="0" marL="0">
              <a:buNone/>
            </a:pPr>
            <a:r>
              <a:rPr lang="en-US" sz="1350" i="1" dirty="0">
                <a:solidFill>
                  <a:srgbClr val="94A3B8"/>
                </a:solidFill>
                <a:latin typeface="Calibri" pitchFamily="34" charset="0"/>
                <a:ea typeface="Calibri" pitchFamily="34" charset="-122"/>
                <a:cs typeface="Calibri" pitchFamily="34" charset="-120"/>
              </a:rPr>
              <a:t>An automated web server misconfiguration and vulnerability scanner.</a:t>
            </a:r>
            <a:endParaRPr lang="en-US" sz="1350" dirty="0"/>
          </a:p>
        </p:txBody>
      </p:sp>
      <p:sp>
        <p:nvSpPr>
          <p:cNvPr id="7" name="Text 4"/>
          <p:cNvSpPr/>
          <p:nvPr/>
        </p:nvSpPr>
        <p:spPr>
          <a:xfrm>
            <a:off x="4663440" y="822960"/>
            <a:ext cx="676656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WHAT IT IS</a:t>
            </a:r>
            <a:endParaRPr lang="en-US" sz="1300" dirty="0"/>
          </a:p>
        </p:txBody>
      </p:sp>
      <p:sp>
        <p:nvSpPr>
          <p:cNvPr id="8" name="Text 5"/>
          <p:cNvSpPr/>
          <p:nvPr/>
        </p:nvSpPr>
        <p:spPr>
          <a:xfrm>
            <a:off x="4663440" y="1188720"/>
            <a:ext cx="6858000" cy="2011680"/>
          </a:xfrm>
          <a:prstGeom prst="rect">
            <a:avLst/>
          </a:prstGeom>
          <a:noFill/>
          <a:ln/>
        </p:spPr>
        <p:txBody>
          <a:bodyPr wrap="square" lIns="0" tIns="0" rIns="0" bIns="0" rtlCol="0" anchor="t"/>
          <a:lstStyle/>
          <a:p>
            <a:pPr indent="0" marL="0">
              <a:lnSpc>
                <a:spcPct val="120000"/>
              </a:lnSpc>
              <a:buNone/>
            </a:pPr>
            <a:r>
              <a:rPr lang="en-US" sz="1500" dirty="0">
                <a:solidFill>
                  <a:srgbClr val="0F172A"/>
                </a:solidFill>
                <a:latin typeface="Calibri" pitchFamily="34" charset="0"/>
                <a:ea typeface="Calibri" pitchFamily="34" charset="-122"/>
                <a:cs typeface="Calibri" pitchFamily="34" charset="-120"/>
              </a:rPr>
              <a:t>A scanner that checks a web server against thousands of known issues: outdated software banners, missing security headers, risky default files, and directory indexing — a fundamentally different job from directory brute-forcing.</a:t>
            </a:r>
            <a:endParaRPr lang="en-US" sz="1500" dirty="0"/>
          </a:p>
        </p:txBody>
      </p:sp>
      <p:sp>
        <p:nvSpPr>
          <p:cNvPr id="9" name="Text 6"/>
          <p:cNvSpPr/>
          <p:nvPr/>
        </p:nvSpPr>
        <p:spPr>
          <a:xfrm>
            <a:off x="4663440" y="3429000"/>
            <a:ext cx="676656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WHEN TO USE IT</a:t>
            </a:r>
            <a:endParaRPr lang="en-US" sz="1300" dirty="0"/>
          </a:p>
        </p:txBody>
      </p:sp>
      <p:sp>
        <p:nvSpPr>
          <p:cNvPr id="10" name="Text 7"/>
          <p:cNvSpPr/>
          <p:nvPr/>
        </p:nvSpPr>
        <p:spPr>
          <a:xfrm>
            <a:off x="4663440" y="3794760"/>
            <a:ext cx="6858000" cy="2377440"/>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After you know a target is a web server, as a broad automated sweep</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To check for missing security headers and outdated software versions</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To flag "known risky" files/configurations rather than guess at hidden ones</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As a complement to gobuster/dirb/ffuf, not a replacement for them</a:t>
            </a:r>
            <a:endParaRPr lang="en-US" sz="1400" dirty="0"/>
          </a:p>
        </p:txBody>
      </p:sp>
      <p:sp>
        <p:nvSpPr>
          <p:cNvPr id="11" name="Text 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4 · Phase 2: Scanning &amp; Enumeration</a:t>
            </a:r>
            <a:endParaRPr lang="en-US" sz="900" dirty="0"/>
          </a:p>
        </p:txBody>
      </p:sp>
      <p:sp>
        <p:nvSpPr>
          <p:cNvPr id="12" name="Text 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NIKTO · AUTOMATED VULNERABILITY SCANNING</a:t>
            </a:r>
            <a:endParaRPr lang="en-US" sz="1300" dirty="0"/>
          </a:p>
        </p:txBody>
      </p:sp>
      <p:sp>
        <p:nvSpPr>
          <p:cNvPr id="3" name="Text 1"/>
          <p:cNvSpPr/>
          <p:nvPr/>
        </p:nvSpPr>
        <p:spPr>
          <a:xfrm>
            <a:off x="640080" y="804672"/>
            <a:ext cx="1088136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What Nikto Looks For</a:t>
            </a:r>
            <a:endParaRPr lang="en-US" sz="2600" dirty="0"/>
          </a:p>
        </p:txBody>
      </p:sp>
      <p:sp>
        <p:nvSpPr>
          <p:cNvPr id="4" name="Shape 2"/>
          <p:cNvSpPr/>
          <p:nvPr/>
        </p:nvSpPr>
        <p:spPr>
          <a:xfrm>
            <a:off x="640080" y="1508760"/>
            <a:ext cx="10881360" cy="2609533"/>
          </a:xfrm>
          <a:prstGeom prst="roundRect">
            <a:avLst>
              <a:gd name="adj" fmla="val 2102"/>
            </a:avLst>
          </a:prstGeom>
          <a:solidFill>
            <a:srgbClr val="0B1220"/>
          </a:solidFill>
          <a:ln/>
        </p:spPr>
      </p:sp>
      <p:sp>
        <p:nvSpPr>
          <p:cNvPr id="5" name="Shape 3"/>
          <p:cNvSpPr/>
          <p:nvPr/>
        </p:nvSpPr>
        <p:spPr>
          <a:xfrm>
            <a:off x="914400" y="1709928"/>
            <a:ext cx="146304" cy="146304"/>
          </a:xfrm>
          <a:prstGeom prst="ellipse">
            <a:avLst/>
          </a:prstGeom>
          <a:solidFill>
            <a:srgbClr val="EF4444"/>
          </a:solidFill>
          <a:ln/>
        </p:spPr>
      </p:sp>
      <p:sp>
        <p:nvSpPr>
          <p:cNvPr id="6" name="Shape 4"/>
          <p:cNvSpPr/>
          <p:nvPr/>
        </p:nvSpPr>
        <p:spPr>
          <a:xfrm>
            <a:off x="1170432" y="1709928"/>
            <a:ext cx="146304" cy="146304"/>
          </a:xfrm>
          <a:prstGeom prst="ellipse">
            <a:avLst/>
          </a:prstGeom>
          <a:solidFill>
            <a:srgbClr val="F59E0B"/>
          </a:solidFill>
          <a:ln/>
        </p:spPr>
      </p:sp>
      <p:sp>
        <p:nvSpPr>
          <p:cNvPr id="7" name="Shape 5"/>
          <p:cNvSpPr/>
          <p:nvPr/>
        </p:nvSpPr>
        <p:spPr>
          <a:xfrm>
            <a:off x="1426464" y="1709928"/>
            <a:ext cx="146304" cy="146304"/>
          </a:xfrm>
          <a:prstGeom prst="ellipse">
            <a:avLst/>
          </a:prstGeom>
          <a:solidFill>
            <a:srgbClr val="10B981"/>
          </a:solidFill>
          <a:ln/>
        </p:spPr>
      </p:sp>
      <p:sp>
        <p:nvSpPr>
          <p:cNvPr id="8" name="Text 6"/>
          <p:cNvSpPr/>
          <p:nvPr/>
        </p:nvSpPr>
        <p:spPr>
          <a:xfrm>
            <a:off x="914400" y="2011680"/>
            <a:ext cx="10332720" cy="1969452"/>
          </a:xfrm>
          <a:prstGeom prst="rect">
            <a:avLst/>
          </a:prstGeom>
          <a:noFill/>
          <a:ln/>
        </p:spPr>
        <p:txBody>
          <a:bodyPr wrap="square" lIns="0" tIns="0" rIns="0" bIns="0" rtlCol="0" anchor="t"/>
          <a:lstStyle/>
          <a:p>
            <a:pPr indent="0" marL="0">
              <a:lnSpc>
                <a:spcPct val="125000"/>
              </a:lnSpc>
              <a:buNone/>
            </a:pPr>
            <a:r>
              <a:rPr lang="en-US" sz="1300" b="1" dirty="0">
                <a:solidFill>
                  <a:srgbClr val="4ADE80"/>
                </a:solidFill>
                <a:latin typeface="Courier New" pitchFamily="34" charset="0"/>
                <a:ea typeface="Courier New" pitchFamily="34" charset="-122"/>
                <a:cs typeface="Courier New" pitchFamily="34" charset="-120"/>
              </a:rPr>
              <a:t>$ nikto -h http://10.10.4.10</a:t>
            </a:r>
            <a:endParaRPr lang="en-US" sz="1300" dirty="0"/>
          </a:p>
          <a:p>
            <a:pPr indent="0" marL="0">
              <a:lnSpc>
                <a:spcPct val="125000"/>
              </a:lnSpc>
              <a:buNone/>
            </a:pPr>
            <a:r>
              <a:rPr lang="en-US" sz="1300" dirty="0">
                <a:solidFill>
                  <a:srgbClr val="E2E8F0"/>
                </a:solidFill>
                <a:latin typeface="Courier New" pitchFamily="34" charset="0"/>
                <a:ea typeface="Courier New" pitchFamily="34" charset="-122"/>
                <a:cs typeface="Courier New" pitchFamily="34" charset="-120"/>
              </a:rPr>
              <a:t>+ Server: nginx/1.31.3</a:t>
            </a:r>
            <a:endParaRPr lang="en-US" sz="1300" dirty="0"/>
          </a:p>
          <a:p>
            <a:pPr indent="0" marL="0">
              <a:lnSpc>
                <a:spcPct val="125000"/>
              </a:lnSpc>
              <a:buNone/>
            </a:pPr>
            <a:r>
              <a:rPr lang="en-US" sz="1300" dirty="0">
                <a:solidFill>
                  <a:srgbClr val="4ADE80"/>
                </a:solidFill>
                <a:latin typeface="Courier New" pitchFamily="34" charset="0"/>
                <a:ea typeface="Courier New" pitchFamily="34" charset="-122"/>
                <a:cs typeface="Courier New" pitchFamily="34" charset="-120"/>
              </a:rPr>
              <a:t>+ /backup/: Directory indexing found.</a:t>
            </a:r>
            <a:endParaRPr lang="en-US" sz="1300" dirty="0"/>
          </a:p>
          <a:p>
            <a:pPr indent="0" marL="0">
              <a:lnSpc>
                <a:spcPct val="125000"/>
              </a:lnSpc>
              <a:buNone/>
            </a:pPr>
            <a:r>
              <a:rPr lang="en-US" sz="1300" dirty="0">
                <a:solidFill>
                  <a:srgbClr val="4ADE80"/>
                </a:solidFill>
                <a:latin typeface="Courier New" pitchFamily="34" charset="0"/>
                <a:ea typeface="Courier New" pitchFamily="34" charset="-122"/>
                <a:cs typeface="Courier New" pitchFamily="34" charset="-120"/>
              </a:rPr>
              <a:t>+ /admin/index.html: Admin login page/section found.</a:t>
            </a:r>
            <a:endParaRPr lang="en-US" sz="1300" dirty="0"/>
          </a:p>
          <a:p>
            <a:pPr indent="0" marL="0">
              <a:lnSpc>
                <a:spcPct val="125000"/>
              </a:lnSpc>
              <a:buNone/>
            </a:pPr>
            <a:r>
              <a:rPr lang="en-US" sz="1300" dirty="0">
                <a:solidFill>
                  <a:srgbClr val="E2E8F0"/>
                </a:solidFill>
                <a:latin typeface="Courier New" pitchFamily="34" charset="0"/>
                <a:ea typeface="Courier New" pitchFamily="34" charset="-122"/>
                <a:cs typeface="Courier New" pitchFamily="34" charset="-120"/>
              </a:rPr>
              <a:t>+ /: Suggested security header missing: content-security-policy</a:t>
            </a:r>
            <a:endParaRPr lang="en-US" sz="1300" dirty="0"/>
          </a:p>
          <a:p>
            <a:pPr indent="0" marL="0">
              <a:lnSpc>
                <a:spcPct val="125000"/>
              </a:lnSpc>
              <a:buNone/>
            </a:pPr>
            <a:r>
              <a:rPr lang="en-US" sz="1300" dirty="0">
                <a:solidFill>
                  <a:srgbClr val="E2E8F0"/>
                </a:solidFill>
                <a:latin typeface="Courier New" pitchFamily="34" charset="0"/>
                <a:ea typeface="Courier New" pitchFamily="34" charset="-122"/>
                <a:cs typeface="Courier New" pitchFamily="34" charset="-120"/>
              </a:rPr>
              <a:t>+ /: Suggested security header missing: x-content-type-options</a:t>
            </a:r>
            <a:endParaRPr lang="en-US" sz="1300" dirty="0"/>
          </a:p>
          <a:p>
            <a:pPr indent="0" marL="0">
              <a:lnSpc>
                <a:spcPct val="125000"/>
              </a:lnSpc>
              <a:buNone/>
            </a:pPr>
            <a:r>
              <a:rPr lang="en-US" sz="1300" dirty="0">
                <a:solidFill>
                  <a:srgbClr val="94A3B8"/>
                </a:solidFill>
                <a:latin typeface="Courier New" pitchFamily="34" charset="0"/>
                <a:ea typeface="Courier New" pitchFamily="34" charset="-122"/>
                <a:cs typeface="Courier New" pitchFamily="34" charset="-120"/>
              </a:rPr>
              <a:t>+ 8163 requests: 0 errors and 5 items reported</a:t>
            </a:r>
            <a:endParaRPr lang="en-US" sz="1300" dirty="0"/>
          </a:p>
        </p:txBody>
      </p:sp>
      <p:sp>
        <p:nvSpPr>
          <p:cNvPr id="9" name="Text 7"/>
          <p:cNvSpPr/>
          <p:nvPr/>
        </p:nvSpPr>
        <p:spPr>
          <a:xfrm>
            <a:off x="640080" y="4392612"/>
            <a:ext cx="10881360" cy="1825308"/>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nikto found the same /admin/ and /backup/ paths gobuster did, but framed them as findings, not just discoveries</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Missing security headers are a class of finding directory brute-forcing would never surface at all</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Note the request count — nikto runs thousands of checks automatically in one pass</a:t>
            </a:r>
            <a:endParaRPr lang="en-US" sz="1250" dirty="0"/>
          </a:p>
        </p:txBody>
      </p:sp>
      <p:sp>
        <p:nvSpPr>
          <p:cNvPr id="10" name="Text 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4 · Phase 2: Scanning &amp; Enumeration</a:t>
            </a:r>
            <a:endParaRPr lang="en-US" sz="900" dirty="0"/>
          </a:p>
        </p:txBody>
      </p:sp>
      <p:sp>
        <p:nvSpPr>
          <p:cNvPr id="11" name="Text 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DECISION GUIDE</a:t>
            </a:r>
            <a:endParaRPr lang="en-US" sz="1300" dirty="0"/>
          </a:p>
        </p:txBody>
      </p:sp>
      <p:sp>
        <p:nvSpPr>
          <p:cNvPr id="3" name="Text 1"/>
          <p:cNvSpPr/>
          <p:nvPr/>
        </p:nvSpPr>
        <p:spPr>
          <a:xfrm>
            <a:off x="640080" y="804672"/>
            <a:ext cx="1088136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gobuster vs. dirb vs. ffuf vs. nikto</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881360" cy="914400"/>
        </p:xfrm>
        <a:graphic>
          <a:graphicData uri="http://schemas.openxmlformats.org/drawingml/2006/table">
            <a:tbl>
              <a:tblPr/>
              <a:tblGrid>
                <a:gridCol w="2194560"/>
                <a:gridCol w="4206240"/>
                <a:gridCol w="4480560"/>
              </a:tblGrid>
              <a:tr h="457200">
                <a:tc>
                  <a:txBody>
                    <a:bodyPr/>
                    <a:lstStyle/>
                    <a:p>
                      <a:pPr algn="l" indent="0" marL="0">
                        <a:buNone/>
                      </a:pPr>
                      <a:r>
                        <a:rPr lang="en-US" sz="1300" b="1" dirty="0">
                          <a:solidFill>
                            <a:srgbClr val="F8FAFC"/>
                          </a:solidFill>
                        </a:rPr>
                        <a:t>Tool</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300" b="1" dirty="0">
                          <a:solidFill>
                            <a:srgbClr val="F8FAFC"/>
                          </a:solidFill>
                        </a:rPr>
                        <a:t>Finds</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300" b="1" dirty="0">
                          <a:solidFill>
                            <a:srgbClr val="F8FAFC"/>
                          </a:solidFill>
                        </a:rPr>
                        <a:t>Best for</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gobuster</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Hidden directories/files, subdomains</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Fast, reliable default choice</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dirb</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Hidden directories/files</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Dependable, well-known default wordlist</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ffuf</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Anything you mark with FUZZ</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Speed, and fuzzing beyond just URL paths</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nikto</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Misconfigurations, outdated software, missing headers</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Broad automated vulnerability sweep</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bl>
          </a:graphicData>
        </a:graphic>
      </p:graphicFrame>
      <p:sp>
        <p:nvSpPr>
          <p:cNvPr id="5" name="Text 2"/>
          <p:cNvSpPr/>
          <p:nvPr/>
        </p:nvSpPr>
        <p:spPr>
          <a:xfrm>
            <a:off x="640080" y="5943600"/>
            <a:ext cx="10881360" cy="36576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The first three answer "what exists that I don't know about." nikto answers "what's wrong with what I already know about."</a:t>
            </a:r>
            <a:endParaRPr lang="en-US" sz="1150" dirty="0"/>
          </a:p>
        </p:txBody>
      </p:sp>
      <p:sp>
        <p:nvSpPr>
          <p:cNvPr id="6" name="Text 3"/>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4 · Phase 2: Scanning &amp; Enumeration</a:t>
            </a:r>
            <a:endParaRPr lang="en-US" sz="900" dirty="0"/>
          </a:p>
        </p:txBody>
      </p:sp>
      <p:sp>
        <p:nvSpPr>
          <p:cNvPr id="7" name="Text 4"/>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COMMON PITFALLS</a:t>
            </a:r>
            <a:endParaRPr lang="en-US" sz="1300" dirty="0"/>
          </a:p>
        </p:txBody>
      </p:sp>
      <p:sp>
        <p:nvSpPr>
          <p:cNvPr id="3" name="Text 1"/>
          <p:cNvSpPr/>
          <p:nvPr/>
        </p:nvSpPr>
        <p:spPr>
          <a:xfrm>
            <a:off x="640080" y="841248"/>
            <a:ext cx="10058400" cy="731520"/>
          </a:xfrm>
          <a:prstGeom prst="rect">
            <a:avLst/>
          </a:prstGeom>
          <a:noFill/>
          <a:ln/>
        </p:spPr>
        <p:txBody>
          <a:bodyPr wrap="square" lIns="0" tIns="0" rIns="0" bIns="0" rtlCol="0" anchor="ctr"/>
          <a:lstStyle/>
          <a:p>
            <a:pPr indent="0" marL="0">
              <a:buNone/>
            </a:pPr>
            <a:r>
              <a:rPr lang="en-US" sz="3000" b="1" dirty="0">
                <a:solidFill>
                  <a:srgbClr val="F8FAFC"/>
                </a:solidFill>
                <a:latin typeface="Calibri" pitchFamily="34" charset="0"/>
                <a:ea typeface="Calibri" pitchFamily="34" charset="-122"/>
                <a:cs typeface="Calibri" pitchFamily="34" charset="-120"/>
              </a:rPr>
              <a:t>Mistakes That Cost Marks — and Time</a:t>
            </a:r>
            <a:endParaRPr lang="en-US" sz="3000" dirty="0"/>
          </a:p>
        </p:txBody>
      </p:sp>
      <p:sp>
        <p:nvSpPr>
          <p:cNvPr id="4" name="Shape 2"/>
          <p:cNvSpPr/>
          <p:nvPr/>
        </p:nvSpPr>
        <p:spPr>
          <a:xfrm>
            <a:off x="640080" y="1828800"/>
            <a:ext cx="457200" cy="457200"/>
          </a:xfrm>
          <a:prstGeom prst="roundRect">
            <a:avLst>
              <a:gd name="adj" fmla="val 16000"/>
            </a:avLst>
          </a:prstGeom>
          <a:solidFill>
            <a:srgbClr val="1B2740"/>
          </a:solidFill>
          <a:ln w="12700">
            <a:solidFill>
              <a:srgbClr val="22D3EE"/>
            </a:solidFill>
            <a:prstDash val="solid"/>
          </a:ln>
        </p:spPr>
      </p:sp>
      <p:sp>
        <p:nvSpPr>
          <p:cNvPr id="5" name="Text 3"/>
          <p:cNvSpPr/>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01</a:t>
            </a:r>
            <a:endParaRPr lang="en-US" sz="1300" dirty="0"/>
          </a:p>
        </p:txBody>
      </p:sp>
      <p:sp>
        <p:nvSpPr>
          <p:cNvPr id="6" name="Text 4"/>
          <p:cNvSpPr/>
          <p:nvPr/>
        </p:nvSpPr>
        <p:spPr>
          <a:xfrm>
            <a:off x="1234440" y="178308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Skipping robots.txt because it feels too simple</a:t>
            </a:r>
            <a:endParaRPr lang="en-US" sz="1450" dirty="0"/>
          </a:p>
        </p:txBody>
      </p:sp>
      <p:sp>
        <p:nvSpPr>
          <p:cNvPr id="7" name="Text 5"/>
          <p:cNvSpPr/>
          <p:nvPr/>
        </p:nvSpPr>
        <p:spPr>
          <a:xfrm>
            <a:off x="1234440" y="211226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It is free, instant, and frequently points directly at what a site owner considers sensitive.</a:t>
            </a:r>
            <a:endParaRPr lang="en-US" sz="1150" dirty="0"/>
          </a:p>
        </p:txBody>
      </p:sp>
      <p:sp>
        <p:nvSpPr>
          <p:cNvPr id="8" name="Shape 6"/>
          <p:cNvSpPr/>
          <p:nvPr/>
        </p:nvSpPr>
        <p:spPr>
          <a:xfrm>
            <a:off x="640080" y="2697480"/>
            <a:ext cx="457200" cy="457200"/>
          </a:xfrm>
          <a:prstGeom prst="roundRect">
            <a:avLst>
              <a:gd name="adj" fmla="val 16000"/>
            </a:avLst>
          </a:prstGeom>
          <a:solidFill>
            <a:srgbClr val="1B2740"/>
          </a:solidFill>
          <a:ln w="12700">
            <a:solidFill>
              <a:srgbClr val="22D3EE"/>
            </a:solidFill>
            <a:prstDash val="solid"/>
          </a:ln>
        </p:spPr>
      </p:sp>
      <p:sp>
        <p:nvSpPr>
          <p:cNvPr id="9" name="Text 7"/>
          <p:cNvSpPr/>
          <p:nvPr/>
        </p:nvSpPr>
        <p:spPr>
          <a:xfrm>
            <a:off x="640080" y="269748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02</a:t>
            </a:r>
            <a:endParaRPr lang="en-US" sz="1300" dirty="0"/>
          </a:p>
        </p:txBody>
      </p:sp>
      <p:sp>
        <p:nvSpPr>
          <p:cNvPr id="10" name="Text 8"/>
          <p:cNvSpPr/>
          <p:nvPr/>
        </p:nvSpPr>
        <p:spPr>
          <a:xfrm>
            <a:off x="1234440" y="265176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Stopping after the automated scan finishes</a:t>
            </a:r>
            <a:endParaRPr lang="en-US" sz="1450" dirty="0"/>
          </a:p>
        </p:txBody>
      </p:sp>
      <p:sp>
        <p:nvSpPr>
          <p:cNvPr id="11" name="Text 9"/>
          <p:cNvSpPr/>
          <p:nvPr/>
        </p:nvSpPr>
        <p:spPr>
          <a:xfrm>
            <a:off x="1234440" y="298094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The most interesting finding this week comes from reading page content and following up manually, not from the scanner's own output.</a:t>
            </a:r>
            <a:endParaRPr lang="en-US" sz="1150" dirty="0"/>
          </a:p>
        </p:txBody>
      </p:sp>
      <p:sp>
        <p:nvSpPr>
          <p:cNvPr id="12" name="Shape 10"/>
          <p:cNvSpPr/>
          <p:nvPr/>
        </p:nvSpPr>
        <p:spPr>
          <a:xfrm>
            <a:off x="640080" y="3566160"/>
            <a:ext cx="457200" cy="457200"/>
          </a:xfrm>
          <a:prstGeom prst="roundRect">
            <a:avLst>
              <a:gd name="adj" fmla="val 16000"/>
            </a:avLst>
          </a:prstGeom>
          <a:solidFill>
            <a:srgbClr val="1B2740"/>
          </a:solidFill>
          <a:ln w="12700">
            <a:solidFill>
              <a:srgbClr val="22D3EE"/>
            </a:solidFill>
            <a:prstDash val="solid"/>
          </a:ln>
        </p:spPr>
      </p:sp>
      <p:sp>
        <p:nvSpPr>
          <p:cNvPr id="13" name="Text 11"/>
          <p:cNvSpPr/>
          <p:nvPr/>
        </p:nvSpPr>
        <p:spPr>
          <a:xfrm>
            <a:off x="640080" y="356616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03</a:t>
            </a:r>
            <a:endParaRPr lang="en-US" sz="1300" dirty="0"/>
          </a:p>
        </p:txBody>
      </p:sp>
      <p:sp>
        <p:nvSpPr>
          <p:cNvPr id="14" name="Text 12"/>
          <p:cNvSpPr/>
          <p:nvPr/>
        </p:nvSpPr>
        <p:spPr>
          <a:xfrm>
            <a:off x="1234440" y="352044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Misreading a 403 as "nothing here"</a:t>
            </a:r>
            <a:endParaRPr lang="en-US" sz="1450" dirty="0"/>
          </a:p>
        </p:txBody>
      </p:sp>
      <p:sp>
        <p:nvSpPr>
          <p:cNvPr id="15" name="Text 13"/>
          <p:cNvSpPr/>
          <p:nvPr/>
        </p:nvSpPr>
        <p:spPr>
          <a:xfrm>
            <a:off x="1234440" y="384962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A 403 confirms the path exists and is protected — that is itself a meaningful finding, not a dead end.</a:t>
            </a:r>
            <a:endParaRPr lang="en-US" sz="1150" dirty="0"/>
          </a:p>
        </p:txBody>
      </p:sp>
      <p:sp>
        <p:nvSpPr>
          <p:cNvPr id="16" name="Shape 14"/>
          <p:cNvSpPr/>
          <p:nvPr/>
        </p:nvSpPr>
        <p:spPr>
          <a:xfrm>
            <a:off x="640080" y="4434840"/>
            <a:ext cx="457200" cy="457200"/>
          </a:xfrm>
          <a:prstGeom prst="roundRect">
            <a:avLst>
              <a:gd name="adj" fmla="val 16000"/>
            </a:avLst>
          </a:prstGeom>
          <a:solidFill>
            <a:srgbClr val="1B2740"/>
          </a:solidFill>
          <a:ln w="12700">
            <a:solidFill>
              <a:srgbClr val="22D3EE"/>
            </a:solidFill>
            <a:prstDash val="solid"/>
          </a:ln>
        </p:spPr>
      </p:sp>
      <p:sp>
        <p:nvSpPr>
          <p:cNvPr id="17" name="Text 15"/>
          <p:cNvSpPr/>
          <p:nvPr/>
        </p:nvSpPr>
        <p:spPr>
          <a:xfrm>
            <a:off x="640080" y="443484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04</a:t>
            </a:r>
            <a:endParaRPr lang="en-US" sz="1300" dirty="0"/>
          </a:p>
        </p:txBody>
      </p:sp>
      <p:sp>
        <p:nvSpPr>
          <p:cNvPr id="18" name="Text 16"/>
          <p:cNvSpPr/>
          <p:nvPr/>
        </p:nvSpPr>
        <p:spPr>
          <a:xfrm>
            <a:off x="1234440" y="438912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Using a tiny or mismatched wordlist</a:t>
            </a:r>
            <a:endParaRPr lang="en-US" sz="1450" dirty="0"/>
          </a:p>
        </p:txBody>
      </p:sp>
      <p:sp>
        <p:nvSpPr>
          <p:cNvPr id="19" name="Text 17"/>
          <p:cNvSpPr/>
          <p:nvPr/>
        </p:nvSpPr>
        <p:spPr>
          <a:xfrm>
            <a:off x="1234440" y="471830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A scan is only as good as its wordlist — an underpowered list will miss real content that exists.</a:t>
            </a:r>
            <a:endParaRPr lang="en-US" sz="1150" dirty="0"/>
          </a:p>
        </p:txBody>
      </p:sp>
      <p:sp>
        <p:nvSpPr>
          <p:cNvPr id="20" name="Shape 18"/>
          <p:cNvSpPr/>
          <p:nvPr/>
        </p:nvSpPr>
        <p:spPr>
          <a:xfrm>
            <a:off x="640080" y="5303520"/>
            <a:ext cx="457200" cy="457200"/>
          </a:xfrm>
          <a:prstGeom prst="roundRect">
            <a:avLst>
              <a:gd name="adj" fmla="val 16000"/>
            </a:avLst>
          </a:prstGeom>
          <a:solidFill>
            <a:srgbClr val="1B2740"/>
          </a:solidFill>
          <a:ln w="12700">
            <a:solidFill>
              <a:srgbClr val="22D3EE"/>
            </a:solidFill>
            <a:prstDash val="solid"/>
          </a:ln>
        </p:spPr>
      </p:sp>
      <p:sp>
        <p:nvSpPr>
          <p:cNvPr id="21" name="Text 19"/>
          <p:cNvSpPr/>
          <p:nvPr/>
        </p:nvSpPr>
        <p:spPr>
          <a:xfrm>
            <a:off x="640080" y="530352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05</a:t>
            </a:r>
            <a:endParaRPr lang="en-US" sz="1300" dirty="0"/>
          </a:p>
        </p:txBody>
      </p:sp>
      <p:sp>
        <p:nvSpPr>
          <p:cNvPr id="22" name="Text 20"/>
          <p:cNvSpPr/>
          <p:nvPr/>
        </p:nvSpPr>
        <p:spPr>
          <a:xfrm>
            <a:off x="1234440" y="525780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Treating nikto and gobuster as interchangeable</a:t>
            </a:r>
            <a:endParaRPr lang="en-US" sz="1450" dirty="0"/>
          </a:p>
        </p:txBody>
      </p:sp>
      <p:sp>
        <p:nvSpPr>
          <p:cNvPr id="23" name="Text 21"/>
          <p:cNvSpPr/>
          <p:nvPr/>
        </p:nvSpPr>
        <p:spPr>
          <a:xfrm>
            <a:off x="1234440" y="558698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They answer different questions; running only one leaves real gaps in your enumeration.</a:t>
            </a:r>
            <a:endParaRPr lang="en-US" sz="1150" dirty="0"/>
          </a:p>
        </p:txBody>
      </p:sp>
      <p:sp>
        <p:nvSpPr>
          <p:cNvPr id="24" name="Text 2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Week 4 · Phase 2: Scanning &amp; Enumeration</a:t>
            </a:r>
            <a:endParaRPr lang="en-US" sz="900" dirty="0"/>
          </a:p>
        </p:txBody>
      </p:sp>
      <p:sp>
        <p:nvSpPr>
          <p:cNvPr id="25" name="Text 23"/>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QUICK REFERENCE</a:t>
            </a:r>
            <a:endParaRPr lang="en-US" sz="1300" dirty="0"/>
          </a:p>
        </p:txBody>
      </p:sp>
      <p:sp>
        <p:nvSpPr>
          <p:cNvPr id="3" name="Text 1"/>
          <p:cNvSpPr/>
          <p:nvPr/>
        </p:nvSpPr>
        <p:spPr>
          <a:xfrm>
            <a:off x="640080" y="804672"/>
            <a:ext cx="1088136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Command Cheat Sheet</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881360" cy="914400"/>
        </p:xfrm>
        <a:graphic>
          <a:graphicData uri="http://schemas.openxmlformats.org/drawingml/2006/table">
            <a:tbl>
              <a:tblPr/>
              <a:tblGrid>
                <a:gridCol w="5943600"/>
                <a:gridCol w="4937760"/>
              </a:tblGrid>
              <a:tr h="457200">
                <a:tc>
                  <a:txBody>
                    <a:bodyPr/>
                    <a:lstStyle/>
                    <a:p>
                      <a:pPr algn="l" indent="0" marL="0">
                        <a:buNone/>
                      </a:pPr>
                      <a:r>
                        <a:rPr lang="en-US" sz="1300" b="1" dirty="0">
                          <a:solidFill>
                            <a:srgbClr val="F8FAFC"/>
                          </a:solidFill>
                        </a:rPr>
                        <a:t>Command</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300" b="1" dirty="0">
                          <a:solidFill>
                            <a:srgbClr val="F8FAFC"/>
                          </a:solidFill>
                        </a:rPr>
                        <a:t>What it does</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curl http://target/robots.txt</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Check for crawler-disallowed paths first</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gobuster dir -u http://target -w wordlist.txt</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Brute-force directories/files with gobuster</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dirb http://target wordlist.txt</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Brute-force directories/files with dirb</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ffuf -w wordlist.txt -u http://target/FUZZ</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Fuzz the URL path with ffuf</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nikto -h http://target</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Run an automated misconfiguration/vuln scan</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4 · Phase 2: Scanning &amp; Enumeration</a:t>
            </a:r>
            <a:endParaRPr lang="en-US" sz="900" dirty="0"/>
          </a:p>
        </p:txBody>
      </p:sp>
      <p:sp>
        <p:nvSpPr>
          <p:cNvPr id="6" name="Text 3"/>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HANDS-ON LAB · 2–2.5 HOURS</a:t>
            </a:r>
            <a:endParaRPr lang="en-US" sz="1300" dirty="0"/>
          </a:p>
        </p:txBody>
      </p:sp>
      <p:sp>
        <p:nvSpPr>
          <p:cNvPr id="3" name="Text 1"/>
          <p:cNvSpPr/>
          <p:nvPr/>
        </p:nvSpPr>
        <p:spPr>
          <a:xfrm>
            <a:off x="640080" y="804672"/>
            <a:ext cx="10881360" cy="6858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Lab 4: Web Enumeration</a:t>
            </a:r>
            <a:endParaRPr lang="en-US" sz="2800" dirty="0"/>
          </a:p>
        </p:txBody>
      </p:sp>
      <p:sp>
        <p:nvSpPr>
          <p:cNvPr id="4" name="Text 2"/>
          <p:cNvSpPr/>
          <p:nvPr/>
        </p:nvSpPr>
        <p:spPr>
          <a:xfrm>
            <a:off x="640080" y="1691640"/>
            <a:ext cx="6675120" cy="4480560"/>
          </a:xfrm>
          <a:prstGeom prst="rect">
            <a:avLst/>
          </a:prstGeom>
          <a:noFill/>
          <a:ln/>
        </p:spPr>
        <p:txBody>
          <a:bodyPr wrap="square" lIns="0" tIns="0" rIns="0" bIns="0" rtlCol="0" anchor="t"/>
          <a:lstStyle/>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Environment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A single Nginx web server with undisclosed paths — everything this week happens against one target.</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Part 1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Check robots.txt as your first, free recon step.</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Part 2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Brute-force directories with gobuster, dirb, and ffuf, comparing what each finds.</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Part 3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Follow up manually on a discovered page — find and request a filename no wordlist would ever guess.</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Part 4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Run nikto for an automated misconfiguration sweep.</a:t>
            </a:r>
            <a:endParaRPr lang="en-US" sz="1500" dirty="0"/>
          </a:p>
        </p:txBody>
      </p:sp>
      <p:sp>
        <p:nvSpPr>
          <p:cNvPr id="5" name="Shape 3"/>
          <p:cNvSpPr/>
          <p:nvPr/>
        </p:nvSpPr>
        <p:spPr>
          <a:xfrm>
            <a:off x="7635240" y="1691640"/>
            <a:ext cx="3886200" cy="4023360"/>
          </a:xfrm>
          <a:prstGeom prst="roundRect">
            <a:avLst>
              <a:gd name="adj" fmla="val 1882"/>
            </a:avLst>
          </a:prstGeom>
          <a:solidFill>
            <a:srgbClr val="0F172A"/>
          </a:solidFill>
          <a:ln/>
          <a:effectLst>
            <a:outerShdw sx="100000" sy="100000" kx="0" ky="0" algn="bl" rotWithShape="0" blurRad="101600" dist="38100" dir="5400000">
              <a:srgbClr val="1E293B">
                <a:alpha val="25000"/>
              </a:srgbClr>
            </a:outerShdw>
          </a:effectLst>
        </p:spPr>
      </p:sp>
      <p:pic>
        <p:nvPicPr>
          <p:cNvPr id="6" name="Image 0" descr="preencoded.png">    </p:cNvPr>
          <p:cNvPicPr>
            <a:picLocks noChangeAspect="1"/>
          </p:cNvPicPr>
          <p:nvPr/>
        </p:nvPicPr>
        <p:blipFill>
          <a:blip r:embed="rId1"/>
          <a:stretch>
            <a:fillRect/>
          </a:stretch>
        </p:blipFill>
        <p:spPr>
          <a:xfrm>
            <a:off x="8001000" y="2011680"/>
            <a:ext cx="502920" cy="502920"/>
          </a:xfrm>
          <a:prstGeom prst="rect">
            <a:avLst/>
          </a:prstGeom>
        </p:spPr>
      </p:pic>
      <p:sp>
        <p:nvSpPr>
          <p:cNvPr id="7" name="Text 4"/>
          <p:cNvSpPr/>
          <p:nvPr/>
        </p:nvSpPr>
        <p:spPr>
          <a:xfrm>
            <a:off x="8001000" y="2651760"/>
            <a:ext cx="3246120" cy="457200"/>
          </a:xfrm>
          <a:prstGeom prst="rect">
            <a:avLst/>
          </a:prstGeom>
          <a:noFill/>
          <a:ln/>
        </p:spPr>
        <p:txBody>
          <a:bodyPr wrap="square" lIns="0" tIns="0" rIns="0" bIns="0" rtlCol="0" anchor="ctr"/>
          <a:lstStyle/>
          <a:p>
            <a:pPr indent="0" marL="0">
              <a:buNone/>
            </a:pPr>
            <a:r>
              <a:rPr lang="en-US" sz="1500" b="1" dirty="0">
                <a:solidFill>
                  <a:srgbClr val="22D3EE"/>
                </a:solidFill>
                <a:latin typeface="Calibri" pitchFamily="34" charset="0"/>
                <a:ea typeface="Calibri" pitchFamily="34" charset="-122"/>
                <a:cs typeface="Calibri" pitchFamily="34" charset="-120"/>
              </a:rPr>
              <a:t>Optional CTF</a:t>
            </a:r>
            <a:endParaRPr lang="en-US" sz="1500" dirty="0"/>
          </a:p>
        </p:txBody>
      </p:sp>
      <p:sp>
        <p:nvSpPr>
          <p:cNvPr id="8" name="Text 5"/>
          <p:cNvSpPr/>
          <p:nvPr/>
        </p:nvSpPr>
        <p:spPr>
          <a:xfrm>
            <a:off x="8001000" y="3154680"/>
            <a:ext cx="3246120" cy="2468880"/>
          </a:xfrm>
          <a:prstGeom prst="rect">
            <a:avLst/>
          </a:prstGeom>
          <a:noFill/>
          <a:ln/>
        </p:spPr>
        <p:txBody>
          <a:bodyPr wrap="square" lIns="0" tIns="0" rIns="0" bIns="0" rtlCol="0" anchor="t"/>
          <a:lstStyle/>
          <a:p>
            <a:pPr indent="0" marL="0">
              <a:lnSpc>
                <a:spcPct val="120000"/>
              </a:lnSpc>
              <a:buNone/>
            </a:pPr>
            <a:r>
              <a:rPr lang="en-US" sz="1250" dirty="0">
                <a:solidFill>
                  <a:srgbClr val="F8FAFC"/>
                </a:solidFill>
                <a:latin typeface="Calibri" pitchFamily="34" charset="0"/>
                <a:ea typeface="Calibri" pitchFamily="34" charset="-122"/>
                <a:cs typeface="Calibri" pitchFamily="34" charset="-120"/>
              </a:rPr>
              <a:t>Two flags — one from brute-forcing, one that only the manual follow-up in Part 3 will find. This is this week's core lesson made concrete.</a:t>
            </a:r>
            <a:endParaRPr lang="en-US" sz="1250" dirty="0"/>
          </a:p>
        </p:txBody>
      </p:sp>
      <p:sp>
        <p:nvSpPr>
          <p:cNvPr id="9" name="Text 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4 · Phase 2: Scanning &amp; Enumeration</a:t>
            </a:r>
            <a:endParaRPr lang="en-US" sz="900" dirty="0"/>
          </a:p>
        </p:txBody>
      </p:sp>
      <p:sp>
        <p:nvSpPr>
          <p:cNvPr id="10" name="Text 7"/>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KNOWLEDGE CHECK</a:t>
            </a:r>
            <a:endParaRPr lang="en-US" sz="1300" dirty="0"/>
          </a:p>
        </p:txBody>
      </p:sp>
      <p:sp>
        <p:nvSpPr>
          <p:cNvPr id="3" name="Text 1"/>
          <p:cNvSpPr/>
          <p:nvPr/>
        </p:nvSpPr>
        <p:spPr>
          <a:xfrm>
            <a:off x="640080" y="841248"/>
            <a:ext cx="10058400" cy="640080"/>
          </a:xfrm>
          <a:prstGeom prst="rect">
            <a:avLst/>
          </a:prstGeom>
          <a:noFill/>
          <a:ln/>
        </p:spPr>
        <p:txBody>
          <a:bodyPr wrap="square" lIns="0" tIns="0" rIns="0" bIns="0" rtlCol="0" anchor="ctr"/>
          <a:lstStyle/>
          <a:p>
            <a:pPr indent="0" marL="0">
              <a:buNone/>
            </a:pPr>
            <a:r>
              <a:rPr lang="en-US" sz="2800" b="1" dirty="0">
                <a:solidFill>
                  <a:srgbClr val="F8FAFC"/>
                </a:solidFill>
                <a:latin typeface="Calibri" pitchFamily="34" charset="0"/>
                <a:ea typeface="Calibri" pitchFamily="34" charset="-122"/>
                <a:cs typeface="Calibri" pitchFamily="34" charset="-120"/>
              </a:rPr>
              <a:t>Test Yourself Before the Lab</a:t>
            </a:r>
            <a:endParaRPr lang="en-US" sz="2800" dirty="0"/>
          </a:p>
        </p:txBody>
      </p:sp>
      <p:sp>
        <p:nvSpPr>
          <p:cNvPr id="4" name="Shape 2"/>
          <p:cNvSpPr/>
          <p:nvPr/>
        </p:nvSpPr>
        <p:spPr>
          <a:xfrm>
            <a:off x="640080" y="1691640"/>
            <a:ext cx="5257800" cy="2103120"/>
          </a:xfrm>
          <a:prstGeom prst="roundRect">
            <a:avLst>
              <a:gd name="adj" fmla="val 2609"/>
            </a:avLst>
          </a:prstGeom>
          <a:solidFill>
            <a:srgbClr val="1B2740"/>
          </a:solidFill>
          <a:ln/>
        </p:spPr>
      </p:sp>
      <p:sp>
        <p:nvSpPr>
          <p:cNvPr id="5" name="Text 3"/>
          <p:cNvSpPr/>
          <p:nvPr/>
        </p:nvSpPr>
        <p:spPr>
          <a:xfrm>
            <a:off x="868680" y="1856232"/>
            <a:ext cx="914400" cy="320040"/>
          </a:xfrm>
          <a:prstGeom prst="rect">
            <a:avLst/>
          </a:prstGeom>
          <a:noFill/>
          <a:ln/>
        </p:spPr>
        <p:txBody>
          <a:bodyPr wrap="square" lIns="0" tIns="0" rIns="0" bIns="0" rtlCol="0" anchor="ctr"/>
          <a:lstStyle/>
          <a:p>
            <a:pPr indent="0" marL="0">
              <a:buNone/>
            </a:pPr>
            <a:r>
              <a:rPr lang="en-US" sz="1300" b="1" dirty="0">
                <a:solidFill>
                  <a:srgbClr val="22D3EE"/>
                </a:solidFill>
                <a:latin typeface="Courier New" pitchFamily="34" charset="0"/>
                <a:ea typeface="Courier New" pitchFamily="34" charset="-122"/>
                <a:cs typeface="Courier New" pitchFamily="34" charset="-120"/>
              </a:rPr>
              <a:t>Q1</a:t>
            </a:r>
            <a:endParaRPr lang="en-US" sz="1300" dirty="0"/>
          </a:p>
        </p:txBody>
      </p:sp>
      <p:sp>
        <p:nvSpPr>
          <p:cNvPr id="6" name="Text 4"/>
          <p:cNvSpPr/>
          <p:nvPr/>
        </p:nvSpPr>
        <p:spPr>
          <a:xfrm>
            <a:off x="868680" y="2148840"/>
            <a:ext cx="4800600" cy="685800"/>
          </a:xfrm>
          <a:prstGeom prst="rect">
            <a:avLst/>
          </a:prstGeom>
          <a:noFill/>
          <a:ln/>
        </p:spPr>
        <p:txBody>
          <a:bodyPr wrap="square" lIns="0" tIns="0" rIns="0" bIns="0" rtlCol="0" anchor="t"/>
          <a:lstStyle/>
          <a:p>
            <a:pPr indent="0" marL="0">
              <a:buNone/>
            </a:pPr>
            <a:r>
              <a:rPr lang="en-US" sz="1300" b="1" dirty="0">
                <a:solidFill>
                  <a:srgbClr val="F8FAFC"/>
                </a:solidFill>
                <a:latin typeface="Calibri" pitchFamily="34" charset="0"/>
                <a:ea typeface="Calibri" pitchFamily="34" charset="-122"/>
                <a:cs typeface="Calibri" pitchFamily="34" charset="-120"/>
              </a:rPr>
              <a:t>What does robots.txt actually control?</a:t>
            </a:r>
            <a:endParaRPr lang="en-US" sz="1300" dirty="0"/>
          </a:p>
        </p:txBody>
      </p:sp>
      <p:sp>
        <p:nvSpPr>
          <p:cNvPr id="7" name="Text 5"/>
          <p:cNvSpPr/>
          <p:nvPr/>
        </p:nvSpPr>
        <p:spPr>
          <a:xfrm>
            <a:off x="868680" y="2834640"/>
            <a:ext cx="4800600" cy="868680"/>
          </a:xfrm>
          <a:prstGeom prst="rect">
            <a:avLst/>
          </a:prstGeom>
          <a:noFill/>
          <a:ln/>
        </p:spPr>
        <p:txBody>
          <a:bodyPr wrap="square" lIns="0" tIns="0" rIns="0" bIns="0" rtlCol="0" anchor="t"/>
          <a:lstStyle/>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A) Which paths require login</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B) Which paths search-engine crawlers should skip</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C) Server-side access control</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D) SSL certificate validation</a:t>
            </a:r>
            <a:endParaRPr lang="en-US" sz="1100" dirty="0"/>
          </a:p>
        </p:txBody>
      </p:sp>
      <p:sp>
        <p:nvSpPr>
          <p:cNvPr id="8" name="Shape 6"/>
          <p:cNvSpPr/>
          <p:nvPr/>
        </p:nvSpPr>
        <p:spPr>
          <a:xfrm>
            <a:off x="6263640" y="1691640"/>
            <a:ext cx="5257800" cy="2103120"/>
          </a:xfrm>
          <a:prstGeom prst="roundRect">
            <a:avLst>
              <a:gd name="adj" fmla="val 2609"/>
            </a:avLst>
          </a:prstGeom>
          <a:solidFill>
            <a:srgbClr val="1B2740"/>
          </a:solidFill>
          <a:ln/>
        </p:spPr>
      </p:sp>
      <p:sp>
        <p:nvSpPr>
          <p:cNvPr id="9" name="Text 7"/>
          <p:cNvSpPr/>
          <p:nvPr/>
        </p:nvSpPr>
        <p:spPr>
          <a:xfrm>
            <a:off x="6492240" y="1856232"/>
            <a:ext cx="914400" cy="320040"/>
          </a:xfrm>
          <a:prstGeom prst="rect">
            <a:avLst/>
          </a:prstGeom>
          <a:noFill/>
          <a:ln/>
        </p:spPr>
        <p:txBody>
          <a:bodyPr wrap="square" lIns="0" tIns="0" rIns="0" bIns="0" rtlCol="0" anchor="ctr"/>
          <a:lstStyle/>
          <a:p>
            <a:pPr indent="0" marL="0">
              <a:buNone/>
            </a:pPr>
            <a:r>
              <a:rPr lang="en-US" sz="1300" b="1" dirty="0">
                <a:solidFill>
                  <a:srgbClr val="22D3EE"/>
                </a:solidFill>
                <a:latin typeface="Courier New" pitchFamily="34" charset="0"/>
                <a:ea typeface="Courier New" pitchFamily="34" charset="-122"/>
                <a:cs typeface="Courier New" pitchFamily="34" charset="-120"/>
              </a:rPr>
              <a:t>Q2</a:t>
            </a:r>
            <a:endParaRPr lang="en-US" sz="1300" dirty="0"/>
          </a:p>
        </p:txBody>
      </p:sp>
      <p:sp>
        <p:nvSpPr>
          <p:cNvPr id="10" name="Text 8"/>
          <p:cNvSpPr/>
          <p:nvPr/>
        </p:nvSpPr>
        <p:spPr>
          <a:xfrm>
            <a:off x="6492240" y="2148840"/>
            <a:ext cx="4800600" cy="685800"/>
          </a:xfrm>
          <a:prstGeom prst="rect">
            <a:avLst/>
          </a:prstGeom>
          <a:noFill/>
          <a:ln/>
        </p:spPr>
        <p:txBody>
          <a:bodyPr wrap="square" lIns="0" tIns="0" rIns="0" bIns="0" rtlCol="0" anchor="t"/>
          <a:lstStyle/>
          <a:p>
            <a:pPr indent="0" marL="0">
              <a:buNone/>
            </a:pPr>
            <a:r>
              <a:rPr lang="en-US" sz="1300" b="1" dirty="0">
                <a:solidFill>
                  <a:srgbClr val="F8FAFC"/>
                </a:solidFill>
                <a:latin typeface="Calibri" pitchFamily="34" charset="0"/>
                <a:ea typeface="Calibri" pitchFamily="34" charset="-122"/>
                <a:cs typeface="Calibri" pitchFamily="34" charset="-120"/>
              </a:rPr>
              <a:t>In ffuf -u http://target/FUZZ, what does FUZZ represent?</a:t>
            </a:r>
            <a:endParaRPr lang="en-US" sz="1300" dirty="0"/>
          </a:p>
        </p:txBody>
      </p:sp>
      <p:sp>
        <p:nvSpPr>
          <p:cNvPr id="11" name="Text 9"/>
          <p:cNvSpPr/>
          <p:nvPr/>
        </p:nvSpPr>
        <p:spPr>
          <a:xfrm>
            <a:off x="6492240" y="2834640"/>
            <a:ext cx="4800600" cy="868680"/>
          </a:xfrm>
          <a:prstGeom prst="rect">
            <a:avLst/>
          </a:prstGeom>
          <a:noFill/>
          <a:ln/>
        </p:spPr>
        <p:txBody>
          <a:bodyPr wrap="square" lIns="0" tIns="0" rIns="0" bIns="0" rtlCol="0" anchor="t"/>
          <a:lstStyle/>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A) A literal folder name</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B) The substitution point where each wordlist entry gets inserted</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C) An HTTP header</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D) An IP range</a:t>
            </a:r>
            <a:endParaRPr lang="en-US" sz="1100" dirty="0"/>
          </a:p>
        </p:txBody>
      </p:sp>
      <p:sp>
        <p:nvSpPr>
          <p:cNvPr id="12" name="Shape 10"/>
          <p:cNvSpPr/>
          <p:nvPr/>
        </p:nvSpPr>
        <p:spPr>
          <a:xfrm>
            <a:off x="640080" y="4023360"/>
            <a:ext cx="5257800" cy="2103120"/>
          </a:xfrm>
          <a:prstGeom prst="roundRect">
            <a:avLst>
              <a:gd name="adj" fmla="val 2609"/>
            </a:avLst>
          </a:prstGeom>
          <a:solidFill>
            <a:srgbClr val="1B2740"/>
          </a:solidFill>
          <a:ln/>
        </p:spPr>
      </p:sp>
      <p:sp>
        <p:nvSpPr>
          <p:cNvPr id="13" name="Text 11"/>
          <p:cNvSpPr/>
          <p:nvPr/>
        </p:nvSpPr>
        <p:spPr>
          <a:xfrm>
            <a:off x="868680" y="4187952"/>
            <a:ext cx="914400" cy="320040"/>
          </a:xfrm>
          <a:prstGeom prst="rect">
            <a:avLst/>
          </a:prstGeom>
          <a:noFill/>
          <a:ln/>
        </p:spPr>
        <p:txBody>
          <a:bodyPr wrap="square" lIns="0" tIns="0" rIns="0" bIns="0" rtlCol="0" anchor="ctr"/>
          <a:lstStyle/>
          <a:p>
            <a:pPr indent="0" marL="0">
              <a:buNone/>
            </a:pPr>
            <a:r>
              <a:rPr lang="en-US" sz="1300" b="1" dirty="0">
                <a:solidFill>
                  <a:srgbClr val="22D3EE"/>
                </a:solidFill>
                <a:latin typeface="Courier New" pitchFamily="34" charset="0"/>
                <a:ea typeface="Courier New" pitchFamily="34" charset="-122"/>
                <a:cs typeface="Courier New" pitchFamily="34" charset="-120"/>
              </a:rPr>
              <a:t>Q3</a:t>
            </a:r>
            <a:endParaRPr lang="en-US" sz="1300" dirty="0"/>
          </a:p>
        </p:txBody>
      </p:sp>
      <p:sp>
        <p:nvSpPr>
          <p:cNvPr id="14" name="Text 12"/>
          <p:cNvSpPr/>
          <p:nvPr/>
        </p:nvSpPr>
        <p:spPr>
          <a:xfrm>
            <a:off x="868680" y="4480560"/>
            <a:ext cx="4800600" cy="685800"/>
          </a:xfrm>
          <a:prstGeom prst="rect">
            <a:avLst/>
          </a:prstGeom>
          <a:noFill/>
          <a:ln/>
        </p:spPr>
        <p:txBody>
          <a:bodyPr wrap="square" lIns="0" tIns="0" rIns="0" bIns="0" rtlCol="0" anchor="t"/>
          <a:lstStyle/>
          <a:p>
            <a:pPr indent="0" marL="0">
              <a:buNone/>
            </a:pPr>
            <a:r>
              <a:rPr lang="en-US" sz="1300" b="1" dirty="0">
                <a:solidFill>
                  <a:srgbClr val="F8FAFC"/>
                </a:solidFill>
                <a:latin typeface="Calibri" pitchFamily="34" charset="0"/>
                <a:ea typeface="Calibri" pitchFamily="34" charset="-122"/>
                <a:cs typeface="Calibri" pitchFamily="34" charset="-120"/>
              </a:rPr>
              <a:t>What kind of file will directory brute-forcing never find on its own?</a:t>
            </a:r>
            <a:endParaRPr lang="en-US" sz="1300" dirty="0"/>
          </a:p>
        </p:txBody>
      </p:sp>
      <p:sp>
        <p:nvSpPr>
          <p:cNvPr id="15" name="Text 13"/>
          <p:cNvSpPr/>
          <p:nvPr/>
        </p:nvSpPr>
        <p:spPr>
          <a:xfrm>
            <a:off x="868680" y="5166360"/>
            <a:ext cx="4800600" cy="868680"/>
          </a:xfrm>
          <a:prstGeom prst="rect">
            <a:avLst/>
          </a:prstGeom>
          <a:noFill/>
          <a:ln/>
        </p:spPr>
        <p:txBody>
          <a:bodyPr wrap="square" lIns="0" tIns="0" rIns="0" bIns="0" rtlCol="0" anchor="t"/>
          <a:lstStyle/>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A) Common folder names like /admin/</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B) A file with an unpredictable, context-specific name mentioned nowhere else</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C) The homepage</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D) robots.txt</a:t>
            </a:r>
            <a:endParaRPr lang="en-US" sz="1100" dirty="0"/>
          </a:p>
        </p:txBody>
      </p:sp>
      <p:sp>
        <p:nvSpPr>
          <p:cNvPr id="16" name="Shape 14"/>
          <p:cNvSpPr/>
          <p:nvPr/>
        </p:nvSpPr>
        <p:spPr>
          <a:xfrm>
            <a:off x="6263640" y="4023360"/>
            <a:ext cx="5257800" cy="2103120"/>
          </a:xfrm>
          <a:prstGeom prst="roundRect">
            <a:avLst>
              <a:gd name="adj" fmla="val 2609"/>
            </a:avLst>
          </a:prstGeom>
          <a:solidFill>
            <a:srgbClr val="1B2740"/>
          </a:solidFill>
          <a:ln/>
        </p:spPr>
      </p:sp>
      <p:sp>
        <p:nvSpPr>
          <p:cNvPr id="17" name="Text 15"/>
          <p:cNvSpPr/>
          <p:nvPr/>
        </p:nvSpPr>
        <p:spPr>
          <a:xfrm>
            <a:off x="6492240" y="4187952"/>
            <a:ext cx="914400" cy="320040"/>
          </a:xfrm>
          <a:prstGeom prst="rect">
            <a:avLst/>
          </a:prstGeom>
          <a:noFill/>
          <a:ln/>
        </p:spPr>
        <p:txBody>
          <a:bodyPr wrap="square" lIns="0" tIns="0" rIns="0" bIns="0" rtlCol="0" anchor="ctr"/>
          <a:lstStyle/>
          <a:p>
            <a:pPr indent="0" marL="0">
              <a:buNone/>
            </a:pPr>
            <a:r>
              <a:rPr lang="en-US" sz="1300" b="1" dirty="0">
                <a:solidFill>
                  <a:srgbClr val="22D3EE"/>
                </a:solidFill>
                <a:latin typeface="Courier New" pitchFamily="34" charset="0"/>
                <a:ea typeface="Courier New" pitchFamily="34" charset="-122"/>
                <a:cs typeface="Courier New" pitchFamily="34" charset="-120"/>
              </a:rPr>
              <a:t>Q4</a:t>
            </a:r>
            <a:endParaRPr lang="en-US" sz="1300" dirty="0"/>
          </a:p>
        </p:txBody>
      </p:sp>
      <p:sp>
        <p:nvSpPr>
          <p:cNvPr id="18" name="Text 16"/>
          <p:cNvSpPr/>
          <p:nvPr/>
        </p:nvSpPr>
        <p:spPr>
          <a:xfrm>
            <a:off x="6492240" y="4480560"/>
            <a:ext cx="4800600" cy="685800"/>
          </a:xfrm>
          <a:prstGeom prst="rect">
            <a:avLst/>
          </a:prstGeom>
          <a:noFill/>
          <a:ln/>
        </p:spPr>
        <p:txBody>
          <a:bodyPr wrap="square" lIns="0" tIns="0" rIns="0" bIns="0" rtlCol="0" anchor="t"/>
          <a:lstStyle/>
          <a:p>
            <a:pPr indent="0" marL="0">
              <a:buNone/>
            </a:pPr>
            <a:r>
              <a:rPr lang="en-US" sz="1300" b="1" dirty="0">
                <a:solidFill>
                  <a:srgbClr val="F8FAFC"/>
                </a:solidFill>
                <a:latin typeface="Calibri" pitchFamily="34" charset="0"/>
                <a:ea typeface="Calibri" pitchFamily="34" charset="-122"/>
                <a:cs typeface="Calibri" pitchFamily="34" charset="-120"/>
              </a:rPr>
              <a:t>What is nikto primarily designed to check for?</a:t>
            </a:r>
            <a:endParaRPr lang="en-US" sz="1300" dirty="0"/>
          </a:p>
        </p:txBody>
      </p:sp>
      <p:sp>
        <p:nvSpPr>
          <p:cNvPr id="19" name="Text 17"/>
          <p:cNvSpPr/>
          <p:nvPr/>
        </p:nvSpPr>
        <p:spPr>
          <a:xfrm>
            <a:off x="6492240" y="5166360"/>
            <a:ext cx="4800600" cy="868680"/>
          </a:xfrm>
          <a:prstGeom prst="rect">
            <a:avLst/>
          </a:prstGeom>
          <a:noFill/>
          <a:ln/>
        </p:spPr>
        <p:txBody>
          <a:bodyPr wrap="square" lIns="0" tIns="0" rIns="0" bIns="0" rtlCol="0" anchor="t"/>
          <a:lstStyle/>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A) Only directory names</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B) Server misconfigurations, outdated software, missing security headers, and risky files</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C) Only SQL injection</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D) DNS records</a:t>
            </a:r>
            <a:endParaRPr lang="en-US" sz="1100" dirty="0"/>
          </a:p>
        </p:txBody>
      </p:sp>
      <p:sp>
        <p:nvSpPr>
          <p:cNvPr id="20" name="Text 1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Week 4 · Phase 2: Scanning &amp; Enumeration</a:t>
            </a:r>
            <a:endParaRPr lang="en-US" sz="900" dirty="0"/>
          </a:p>
        </p:txBody>
      </p:sp>
      <p:sp>
        <p:nvSpPr>
          <p:cNvPr id="21" name="Text 1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WEEK 4 SUMMARY</a:t>
            </a:r>
            <a:endParaRPr lang="en-US" sz="1300" dirty="0"/>
          </a:p>
        </p:txBody>
      </p:sp>
      <p:sp>
        <p:nvSpPr>
          <p:cNvPr id="3" name="Text 1"/>
          <p:cNvSpPr/>
          <p:nvPr/>
        </p:nvSpPr>
        <p:spPr>
          <a:xfrm>
            <a:off x="640080" y="841248"/>
            <a:ext cx="10058400" cy="731520"/>
          </a:xfrm>
          <a:prstGeom prst="rect">
            <a:avLst/>
          </a:prstGeom>
          <a:noFill/>
          <a:ln/>
        </p:spPr>
        <p:txBody>
          <a:bodyPr wrap="square" lIns="0" tIns="0" rIns="0" bIns="0" rtlCol="0" anchor="ctr"/>
          <a:lstStyle/>
          <a:p>
            <a:pPr indent="0" marL="0">
              <a:buNone/>
            </a:pPr>
            <a:r>
              <a:rPr lang="en-US" sz="3000" b="1" dirty="0">
                <a:solidFill>
                  <a:srgbClr val="F8FAFC"/>
                </a:solidFill>
                <a:latin typeface="Calibri" pitchFamily="34" charset="0"/>
                <a:ea typeface="Calibri" pitchFamily="34" charset="-122"/>
                <a:cs typeface="Calibri" pitchFamily="34" charset="-120"/>
              </a:rPr>
              <a:t>What You Now Know — and What's Next</a:t>
            </a:r>
            <a:endParaRPr lang="en-US" sz="3000" dirty="0"/>
          </a:p>
        </p:txBody>
      </p:sp>
      <p:sp>
        <p:nvSpPr>
          <p:cNvPr id="4" name="Shape 2"/>
          <p:cNvSpPr/>
          <p:nvPr/>
        </p:nvSpPr>
        <p:spPr>
          <a:xfrm>
            <a:off x="640080" y="1828800"/>
            <a:ext cx="457200" cy="457200"/>
          </a:xfrm>
          <a:prstGeom prst="roundRect">
            <a:avLst>
              <a:gd name="adj" fmla="val 16000"/>
            </a:avLst>
          </a:prstGeom>
          <a:solidFill>
            <a:srgbClr val="1B2740"/>
          </a:solidFill>
          <a:ln w="12700">
            <a:solidFill>
              <a:srgbClr val="22D3EE"/>
            </a:solidFill>
            <a:prstDash val="solid"/>
          </a:ln>
        </p:spPr>
      </p:sp>
      <p:sp>
        <p:nvSpPr>
          <p:cNvPr id="5" name="Text 3"/>
          <p:cNvSpPr/>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01</a:t>
            </a:r>
            <a:endParaRPr lang="en-US" sz="1300" dirty="0"/>
          </a:p>
        </p:txBody>
      </p:sp>
      <p:sp>
        <p:nvSpPr>
          <p:cNvPr id="6" name="Text 4"/>
          <p:cNvSpPr/>
          <p:nvPr/>
        </p:nvSpPr>
        <p:spPr>
          <a:xfrm>
            <a:off x="1234440" y="178308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Recap: Check the free hints first</a:t>
            </a:r>
            <a:endParaRPr lang="en-US" sz="1450" dirty="0"/>
          </a:p>
        </p:txBody>
      </p:sp>
      <p:sp>
        <p:nvSpPr>
          <p:cNvPr id="7" name="Text 5"/>
          <p:cNvSpPr/>
          <p:nvPr/>
        </p:nvSpPr>
        <p:spPr>
          <a:xfrm>
            <a:off x="1234440" y="211226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robots.txt costs nothing and often points straight at what matters.</a:t>
            </a:r>
            <a:endParaRPr lang="en-US" sz="1150" dirty="0"/>
          </a:p>
        </p:txBody>
      </p:sp>
      <p:sp>
        <p:nvSpPr>
          <p:cNvPr id="8" name="Shape 6"/>
          <p:cNvSpPr/>
          <p:nvPr/>
        </p:nvSpPr>
        <p:spPr>
          <a:xfrm>
            <a:off x="640080" y="2697480"/>
            <a:ext cx="457200" cy="457200"/>
          </a:xfrm>
          <a:prstGeom prst="roundRect">
            <a:avLst>
              <a:gd name="adj" fmla="val 16000"/>
            </a:avLst>
          </a:prstGeom>
          <a:solidFill>
            <a:srgbClr val="1B2740"/>
          </a:solidFill>
          <a:ln w="12700">
            <a:solidFill>
              <a:srgbClr val="22D3EE"/>
            </a:solidFill>
            <a:prstDash val="solid"/>
          </a:ln>
        </p:spPr>
      </p:sp>
      <p:sp>
        <p:nvSpPr>
          <p:cNvPr id="9" name="Text 7"/>
          <p:cNvSpPr/>
          <p:nvPr/>
        </p:nvSpPr>
        <p:spPr>
          <a:xfrm>
            <a:off x="640080" y="269748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02</a:t>
            </a:r>
            <a:endParaRPr lang="en-US" sz="1300" dirty="0"/>
          </a:p>
        </p:txBody>
      </p:sp>
      <p:sp>
        <p:nvSpPr>
          <p:cNvPr id="10" name="Text 8"/>
          <p:cNvSpPr/>
          <p:nvPr/>
        </p:nvSpPr>
        <p:spPr>
          <a:xfrm>
            <a:off x="1234440" y="265176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Recap: Three brute-forcers, one idea</a:t>
            </a:r>
            <a:endParaRPr lang="en-US" sz="1450" dirty="0"/>
          </a:p>
        </p:txBody>
      </p:sp>
      <p:sp>
        <p:nvSpPr>
          <p:cNvPr id="11" name="Text 9"/>
          <p:cNvSpPr/>
          <p:nvPr/>
        </p:nvSpPr>
        <p:spPr>
          <a:xfrm>
            <a:off x="1234440" y="298094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gobuster, dirb, and ffuf all discover unlinked content — pick based on speed, defaults, or flexibility.</a:t>
            </a:r>
            <a:endParaRPr lang="en-US" sz="1150" dirty="0"/>
          </a:p>
        </p:txBody>
      </p:sp>
      <p:sp>
        <p:nvSpPr>
          <p:cNvPr id="12" name="Shape 10"/>
          <p:cNvSpPr/>
          <p:nvPr/>
        </p:nvSpPr>
        <p:spPr>
          <a:xfrm>
            <a:off x="640080" y="3566160"/>
            <a:ext cx="457200" cy="457200"/>
          </a:xfrm>
          <a:prstGeom prst="roundRect">
            <a:avLst>
              <a:gd name="adj" fmla="val 16000"/>
            </a:avLst>
          </a:prstGeom>
          <a:solidFill>
            <a:srgbClr val="1B2740"/>
          </a:solidFill>
          <a:ln w="12700">
            <a:solidFill>
              <a:srgbClr val="22D3EE"/>
            </a:solidFill>
            <a:prstDash val="solid"/>
          </a:ln>
        </p:spPr>
      </p:sp>
      <p:sp>
        <p:nvSpPr>
          <p:cNvPr id="13" name="Text 11"/>
          <p:cNvSpPr/>
          <p:nvPr/>
        </p:nvSpPr>
        <p:spPr>
          <a:xfrm>
            <a:off x="640080" y="356616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03</a:t>
            </a:r>
            <a:endParaRPr lang="en-US" sz="1300" dirty="0"/>
          </a:p>
        </p:txBody>
      </p:sp>
      <p:sp>
        <p:nvSpPr>
          <p:cNvPr id="14" name="Text 12"/>
          <p:cNvSpPr/>
          <p:nvPr/>
        </p:nvSpPr>
        <p:spPr>
          <a:xfrm>
            <a:off x="1234440" y="352044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Recap: Automation has a hard limit</a:t>
            </a:r>
            <a:endParaRPr lang="en-US" sz="1450" dirty="0"/>
          </a:p>
        </p:txBody>
      </p:sp>
      <p:sp>
        <p:nvSpPr>
          <p:cNvPr id="15" name="Text 13"/>
          <p:cNvSpPr/>
          <p:nvPr/>
        </p:nvSpPr>
        <p:spPr>
          <a:xfrm>
            <a:off x="1234440" y="384962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A wordlist can only find what's in it — reading and following up manually is what finds the rest.</a:t>
            </a:r>
            <a:endParaRPr lang="en-US" sz="1150" dirty="0"/>
          </a:p>
        </p:txBody>
      </p:sp>
      <p:sp>
        <p:nvSpPr>
          <p:cNvPr id="16" name="Shape 14"/>
          <p:cNvSpPr/>
          <p:nvPr/>
        </p:nvSpPr>
        <p:spPr>
          <a:xfrm>
            <a:off x="640080" y="4434840"/>
            <a:ext cx="457200" cy="457200"/>
          </a:xfrm>
          <a:prstGeom prst="roundRect">
            <a:avLst>
              <a:gd name="adj" fmla="val 16000"/>
            </a:avLst>
          </a:prstGeom>
          <a:solidFill>
            <a:srgbClr val="1B2740"/>
          </a:solidFill>
          <a:ln w="12700">
            <a:solidFill>
              <a:srgbClr val="22D3EE"/>
            </a:solidFill>
            <a:prstDash val="solid"/>
          </a:ln>
        </p:spPr>
      </p:sp>
      <p:sp>
        <p:nvSpPr>
          <p:cNvPr id="17" name="Text 15"/>
          <p:cNvSpPr/>
          <p:nvPr/>
        </p:nvSpPr>
        <p:spPr>
          <a:xfrm>
            <a:off x="640080" y="443484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04</a:t>
            </a:r>
            <a:endParaRPr lang="en-US" sz="1300" dirty="0"/>
          </a:p>
        </p:txBody>
      </p:sp>
      <p:sp>
        <p:nvSpPr>
          <p:cNvPr id="18" name="Text 16"/>
          <p:cNvSpPr/>
          <p:nvPr/>
        </p:nvSpPr>
        <p:spPr>
          <a:xfrm>
            <a:off x="1234440" y="438912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Next week: Directory Service &amp; DB Enumeration</a:t>
            </a:r>
            <a:endParaRPr lang="en-US" sz="1450" dirty="0"/>
          </a:p>
        </p:txBody>
      </p:sp>
      <p:sp>
        <p:nvSpPr>
          <p:cNvPr id="19" name="Text 17"/>
          <p:cNvSpPr/>
          <p:nvPr/>
        </p:nvSpPr>
        <p:spPr>
          <a:xfrm>
            <a:off x="1234440" y="471830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Still Phase 2 — we move from a single web server to LDAP, SMB, and database enumeration.</a:t>
            </a:r>
            <a:endParaRPr lang="en-US" sz="1150" dirty="0"/>
          </a:p>
        </p:txBody>
      </p:sp>
      <p:pic>
        <p:nvPicPr>
          <p:cNvPr id="20" name="Image 0" descr="preencoded.png">    </p:cNvPr>
          <p:cNvPicPr>
            <a:picLocks noChangeAspect="1"/>
          </p:cNvPicPr>
          <p:nvPr/>
        </p:nvPicPr>
        <p:blipFill>
          <a:blip r:embed="rId1">
            <a:alphaModFix amt="20000"/>
          </a:blip>
          <a:stretch>
            <a:fillRect/>
          </a:stretch>
        </p:blipFill>
        <p:spPr>
          <a:xfrm>
            <a:off x="10454335" y="5303520"/>
            <a:ext cx="1188720" cy="1188720"/>
          </a:xfrm>
          <a:prstGeom prst="rect">
            <a:avLst/>
          </a:prstGeom>
        </p:spPr>
      </p:pic>
      <p:sp>
        <p:nvSpPr>
          <p:cNvPr id="21" name="Text 1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Week 4 · Phase 2: Scanning &amp; Enumeration</a:t>
            </a:r>
            <a:endParaRPr lang="en-US" sz="900" dirty="0"/>
          </a:p>
        </p:txBody>
      </p:sp>
      <p:sp>
        <p:nvSpPr>
          <p:cNvPr id="22" name="Text 1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2026-08-19T10:45:21Z</dcterms:created>
  <dcterms:modified xsi:type="dcterms:W3CDTF">2026-08-19T10:45:21Z</dcterms:modified>
</cp:coreProperties>
</file>