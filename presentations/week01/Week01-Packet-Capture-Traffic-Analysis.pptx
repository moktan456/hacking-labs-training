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frame the whole course before diving in: five weeks of theory paired with hands-on Docker labs, building from recon all the way to covering tracks. Today is entirely about observation — we are not touching anything yet, just learning to read what is already on the wire. Set expectations: 1 hour of lecture, then 2-2.5 hours of hands-on lab time using the exact tools shown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five phases briefly so students see the whole map before we zoom into week one. Emphasize this is the same lifecycle used industry-wide, not something specific to this course. We will revisit this exact slide, with the highlighted box moving, at the start of every week — it is the throughline for the whole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these quickly — they double as the rubric for tonight's lab. Point out that objective six ("choose the right tool") is the one people skip past mentally but it is actually the most exam-relevant: certification questions love asking "which tool is most appropriate for X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"if you had to break into a building, would you start by kicking the door, or by watching it for a day first?" That framing usually lands. Stress that passive vs active is a spectrum, not a hard binary — packet capture on your own tap is about as passive as it gets, but the moment you start pinging things you have crossed into active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moment for a quick show of hands: "who here has ever had a bug that only showed up in production and logs didn't explain why?" Packet capture is the tool for exactly that class of problem, on top of its security use. Preview that in the lab, they will literally read a password out of a Telnet session — it sticks better than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over-teach this table — it is a reference, not a lecture. Just confirm everyone recognizes port 80/443/22 already, and flag 23 (Telnet) and 21 (FTP) as "the two you'll actually exploit in tonight's lab." Tell them to bookmark this slide; it comes back essentially unchanged in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"meet the tool" pattern you will see for every tool in the course: what it is, then when you'd actually reach for it. tcpdump is the one tool in this trio that is basically guaranteed to exist on any server you SSH into, which is exactly why it goes first — it is often your only option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this live if you can rather than just showing the slide — muscle memory matters more than recognition for command-line tools. Point out the [S] and [S.] flags in the first capture; that is literally the TCP handshake starting, and it is exactly what we'll revisit on the "recognizing scans" slide later. If someone asks why we need -w at all, explain that piped/printed output disappears when the terminal closes — a .pcap file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slide sit for a moment — students often need a second to spot "USER anonymous" in the ASCII column unaided. That "aha" is the whole point of the lesson: raw bytes are not scary once you know hex-and-ASCII is just two views of the same data. Mention -c is also great practice hygiene for a certification exam scenario that says "capture exactly N packets."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that lands best here: "tshark is Wireshark's brain without its face." Same dissectors under the hood — nothing is lost by using the CLI version, you just give up the visual convenience. Good moment to mention this is also how you'd build automated alerting off live traffic in a real SOC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 the distinction between -Y (display filter syntax) and the BPF syntax from tcpdump two tools ago is the single most common point of confusion all course long. Say explicitly: "tcp.port==23 is Wireshark syntax; port 23 is BPF syntax; they are not interchangeable." The field-extraction example is worth typing live since it is directly reusable in the lab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already have Wireshark open in their head as "the" packet tool — use that familiarity, but reframe it as the third option, not the default one. The real skill this course teaches is knowing when NOT to reach for the GUI. In the lab tonight they will open the browser-based Wireshark GUI provided in the Docker environment — no local install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callout box is the exam-ready soundbite — read it out loud verbatim, it is worth memorizing. Follow TCP Stream is the single most useful click in the entire GUI; if you only demo one Wireshark feature live, make it this one, ideally on the same Telnet capture from tonight's lab so it feels immediately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screenshot and keep — it answers "which tool do I use" in one glance. If you are short on time, this table plus the pitfalls slide next are the two you must not cut; everything else can be 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come directly from where past students actually lose marks or waste lab time — worth reading each one out loud rather than rushing. Pitfall three (switched networks) preempts a question that always comes up in the lab: "why can't I see the other container's traffic?" — now they'll already know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explicitly that this slide is designed to be screenshotted or copied into their own notes — it is the practical companion to the decision-guide table. Nothing new to teach here; just pause a beat before moving to the lab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lab here — walk the room to `make build-base` and `docker compose up -d` together so nobody starts behind. Remind them the optional CTF flags are genuinely optional; the graded objective is completing Parts 1-3, the CTF is for students who finish early or want extra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live poll if you have the tooling, or just cold-call students — do not let it become a silent reading exercise. Correct answers: Q1-B, Q2-B, Q3-B, Q4-B. If more than half the room misses Q1, stop and re-do the capture-vs-display slide before releasing them into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that everything this week was passive/observational — next week is where they start actively touching things, even if gently. Remind them to keep their Week 1 pcap files; several later labs reuse the same "read the cleartext session" instinct on different protocols.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595360" y="0"/>
            <a:ext cx="3596335" cy="6858000"/>
          </a:xfrm>
          <a:prstGeom prst="rect">
            <a:avLst/>
          </a:prstGeom>
          <a:solidFill>
            <a:srgbClr val="1B2740"/>
          </a:solidFill>
          <a:ln/>
        </p:spPr>
      </p:sp>
      <p:pic>
        <p:nvPicPr>
          <p:cNvPr id="3" name="Image 0" descr="preencoded.png">    </p:cNvPr>
          <p:cNvPicPr>
            <a:picLocks noChangeAspect="1"/>
          </p:cNvPicPr>
          <p:nvPr/>
        </p:nvPicPr>
        <p:blipFill>
          <a:blip r:embed="rId1">
            <a:alphaModFix amt="85000"/>
          </a:blip>
          <a:stretch>
            <a:fillRect/>
          </a:stretch>
        </p:blipFill>
        <p:spPr>
          <a:xfrm>
            <a:off x="9189720" y="2606040"/>
            <a:ext cx="2011680" cy="2011680"/>
          </a:xfrm>
          <a:prstGeom prst="rect">
            <a:avLst/>
          </a:prstGeom>
        </p:spPr>
      </p:pic>
      <p:sp>
        <p:nvSpPr>
          <p:cNvPr id="4" name="Text 1"/>
          <p:cNvSpPr/>
          <p:nvPr/>
        </p:nvSpPr>
        <p:spPr>
          <a:xfrm>
            <a:off x="731520" y="960120"/>
            <a:ext cx="73152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PHASE 1 — RECONNAISSANCE</a:t>
            </a:r>
            <a:endParaRPr lang="en-US" sz="1300" dirty="0"/>
          </a:p>
        </p:txBody>
      </p:sp>
      <p:sp>
        <p:nvSpPr>
          <p:cNvPr id="5" name="Text 2"/>
          <p:cNvSpPr/>
          <p:nvPr/>
        </p:nvSpPr>
        <p:spPr>
          <a:xfrm>
            <a:off x="685800" y="1371600"/>
            <a:ext cx="7589520" cy="2377440"/>
          </a:xfrm>
          <a:prstGeom prst="rect">
            <a:avLst/>
          </a:prstGeom>
          <a:noFill/>
          <a:ln/>
        </p:spPr>
        <p:txBody>
          <a:bodyPr wrap="square" lIns="0" tIns="0" rIns="0" bIns="0" rtlCol="0" anchor="t"/>
          <a:lstStyle/>
          <a:p>
            <a:pPr indent="0" marL="0">
              <a:lnSpc>
                <a:spcPct val="105000"/>
              </a:lnSpc>
              <a:buNone/>
            </a:pPr>
            <a:r>
              <a:rPr lang="en-US" sz="4000" b="1" dirty="0">
                <a:solidFill>
                  <a:srgbClr val="F8FAFC"/>
                </a:solidFill>
                <a:latin typeface="Calibri" pitchFamily="34" charset="0"/>
                <a:ea typeface="Calibri" pitchFamily="34" charset="-122"/>
                <a:cs typeface="Calibri" pitchFamily="34" charset="-120"/>
              </a:rPr>
              <a:t>Packet Capture &amp;</a:t>
            </a:r>
            <a:endParaRPr lang="en-US" sz="4000" dirty="0"/>
          </a:p>
          <a:p>
            <a:pPr indent="0" marL="0">
              <a:lnSpc>
                <a:spcPct val="105000"/>
              </a:lnSpc>
              <a:buNone/>
            </a:pPr>
            <a:r>
              <a:rPr lang="en-US" sz="4000" b="1" dirty="0">
                <a:solidFill>
                  <a:srgbClr val="F8FAFC"/>
                </a:solidFill>
                <a:latin typeface="Calibri" pitchFamily="34" charset="0"/>
                <a:ea typeface="Calibri" pitchFamily="34" charset="-122"/>
                <a:cs typeface="Calibri" pitchFamily="34" charset="-120"/>
              </a:rPr>
              <a:t>Traffic Analysis</a:t>
            </a:r>
            <a:endParaRPr lang="en-US" sz="4000" dirty="0"/>
          </a:p>
        </p:txBody>
      </p:sp>
      <p:sp>
        <p:nvSpPr>
          <p:cNvPr id="6" name="Text 3"/>
          <p:cNvSpPr/>
          <p:nvPr/>
        </p:nvSpPr>
        <p:spPr>
          <a:xfrm>
            <a:off x="731520" y="3520440"/>
            <a:ext cx="7315200" cy="73152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Reading the wire: capturing, filtering, and interpreting live network traffic.</a:t>
            </a:r>
            <a:endParaRPr lang="en-US" sz="1700" dirty="0"/>
          </a:p>
        </p:txBody>
      </p:sp>
      <p:sp>
        <p:nvSpPr>
          <p:cNvPr id="7" name="Shape 4"/>
          <p:cNvSpPr/>
          <p:nvPr/>
        </p:nvSpPr>
        <p:spPr>
          <a:xfrm>
            <a:off x="731520" y="4572000"/>
            <a:ext cx="2286000" cy="566928"/>
          </a:xfrm>
          <a:prstGeom prst="roundRect">
            <a:avLst>
              <a:gd name="adj" fmla="val 16129"/>
            </a:avLst>
          </a:prstGeom>
          <a:solidFill>
            <a:srgbClr val="22D3EE"/>
          </a:solidFill>
          <a:ln/>
        </p:spPr>
      </p:sp>
      <p:sp>
        <p:nvSpPr>
          <p:cNvPr id="8" name="Text 5"/>
          <p:cNvSpPr/>
          <p:nvPr/>
        </p:nvSpPr>
        <p:spPr>
          <a:xfrm>
            <a:off x="731520" y="4572000"/>
            <a:ext cx="2286000" cy="56692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WEEK 1</a:t>
            </a:r>
            <a:endParaRPr lang="en-US" sz="1500" dirty="0"/>
          </a:p>
        </p:txBody>
      </p:sp>
      <p:sp>
        <p:nvSpPr>
          <p:cNvPr id="9" name="Shape 6"/>
          <p:cNvSpPr/>
          <p:nvPr/>
        </p:nvSpPr>
        <p:spPr>
          <a:xfrm>
            <a:off x="3200400" y="4572000"/>
            <a:ext cx="3200400" cy="566928"/>
          </a:xfrm>
          <a:prstGeom prst="roundRect">
            <a:avLst>
              <a:gd name="adj" fmla="val 16129"/>
            </a:avLst>
          </a:prstGeom>
          <a:solidFill>
            <a:srgbClr val="FFFFFF">
              <a:alpha val="8000"/>
            </a:srgbClr>
          </a:solidFill>
          <a:ln w="12700">
            <a:solidFill>
              <a:srgbClr val="94A3B8"/>
            </a:solidFill>
            <a:prstDash val="solid"/>
          </a:ln>
        </p:spPr>
      </p:sp>
      <p:sp>
        <p:nvSpPr>
          <p:cNvPr id="10" name="Text 7"/>
          <p:cNvSpPr/>
          <p:nvPr/>
        </p:nvSpPr>
        <p:spPr>
          <a:xfrm>
            <a:off x="3200400" y="4572000"/>
            <a:ext cx="3200400" cy="566928"/>
          </a:xfrm>
          <a:prstGeom prst="rect">
            <a:avLst/>
          </a:prstGeom>
          <a:noFill/>
          <a:ln/>
        </p:spPr>
        <p:txBody>
          <a:bodyPr wrap="square" lIns="0" tIns="0" rIns="0" bIns="0"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Phase 1 of 5: Reconnaissance</a:t>
            </a:r>
            <a:endParaRPr lang="en-US" sz="1400" dirty="0"/>
          </a:p>
        </p:txBody>
      </p:sp>
      <p:sp>
        <p:nvSpPr>
          <p:cNvPr id="11" name="Text 8"/>
          <p:cNvSpPr/>
          <p:nvPr/>
        </p:nvSpPr>
        <p:spPr>
          <a:xfrm>
            <a:off x="731520" y="635508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Ethical Hacking Course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COURSE ROADMAP</a:t>
            </a:r>
            <a:endParaRPr lang="en-US" sz="1300" dirty="0"/>
          </a:p>
        </p:txBody>
      </p:sp>
      <p:sp>
        <p:nvSpPr>
          <p:cNvPr id="3" name="Text 1"/>
          <p:cNvSpPr/>
          <p:nvPr/>
        </p:nvSpPr>
        <p:spPr>
          <a:xfrm>
            <a:off x="640080" y="841248"/>
            <a:ext cx="10058400" cy="640080"/>
          </a:xfrm>
          <a:prstGeom prst="rect">
            <a:avLst/>
          </a:prstGeom>
          <a:noFill/>
          <a:ln/>
        </p:spPr>
        <p:txBody>
          <a:bodyPr wrap="square" lIns="0" tIns="0" rIns="0" bIns="0" rtlCol="0" anchor="ctr"/>
          <a:lstStyle/>
          <a:p>
            <a:pPr indent="0" marL="0">
              <a:buNone/>
            </a:pPr>
            <a:r>
              <a:rPr lang="en-US" sz="2800" b="1" dirty="0">
                <a:solidFill>
                  <a:srgbClr val="F8FAFC"/>
                </a:solidFill>
                <a:latin typeface="Calibri" pitchFamily="34" charset="0"/>
                <a:ea typeface="Calibri" pitchFamily="34" charset="-122"/>
                <a:cs typeface="Calibri" pitchFamily="34" charset="-120"/>
              </a:rPr>
              <a:t>Where This Week Fits</a:t>
            </a:r>
            <a:endParaRPr lang="en-US" sz="2800" dirty="0"/>
          </a:p>
        </p:txBody>
      </p:sp>
      <p:sp>
        <p:nvSpPr>
          <p:cNvPr id="4" name="Shape 2"/>
          <p:cNvSpPr/>
          <p:nvPr/>
        </p:nvSpPr>
        <p:spPr>
          <a:xfrm>
            <a:off x="1623060" y="3337560"/>
            <a:ext cx="8915400" cy="0"/>
          </a:xfrm>
          <a:prstGeom prst="line">
            <a:avLst/>
          </a:prstGeom>
          <a:noFill/>
          <a:ln w="38100">
            <a:solidFill>
              <a:srgbClr val="1B2740"/>
            </a:solidFill>
            <a:prstDash val="solid"/>
          </a:ln>
        </p:spPr>
      </p:sp>
      <p:sp>
        <p:nvSpPr>
          <p:cNvPr id="5" name="Shape 3"/>
          <p:cNvSpPr/>
          <p:nvPr/>
        </p:nvSpPr>
        <p:spPr>
          <a:xfrm>
            <a:off x="640080" y="2377440"/>
            <a:ext cx="1965960" cy="1920240"/>
          </a:xfrm>
          <a:prstGeom prst="roundRect">
            <a:avLst>
              <a:gd name="adj" fmla="val 3810"/>
            </a:avLst>
          </a:prstGeom>
          <a:solidFill>
            <a:srgbClr val="22D3EE"/>
          </a:solidFill>
          <a:ln/>
          <a:effectLst>
            <a:outerShdw sx="100000" sy="100000" kx="0" ky="0" algn="bl" rotWithShape="0" blurRad="127000" dist="50800" dir="5400000">
              <a:srgbClr val="22D3EE">
                <a:alpha val="35000"/>
              </a:srgbClr>
            </a:outerShdw>
          </a:effectLst>
        </p:spPr>
      </p:sp>
      <p:sp>
        <p:nvSpPr>
          <p:cNvPr id="6" name="Text 4"/>
          <p:cNvSpPr/>
          <p:nvPr/>
        </p:nvSpPr>
        <p:spPr>
          <a:xfrm>
            <a:off x="777240" y="2560320"/>
            <a:ext cx="1691640" cy="274320"/>
          </a:xfrm>
          <a:prstGeom prst="rect">
            <a:avLst/>
          </a:prstGeom>
          <a:noFill/>
          <a:ln/>
        </p:spPr>
        <p:txBody>
          <a:bodyPr wrap="square" lIns="0" tIns="0" rIns="0" bIns="0" rtlCol="0" anchor="ctr"/>
          <a:lstStyle/>
          <a:p>
            <a:pPr indent="0" marL="0">
              <a:buNone/>
            </a:pPr>
            <a:r>
              <a:rPr lang="en-US" sz="1050" b="1" dirty="0">
                <a:solidFill>
                  <a:srgbClr val="0F172A"/>
                </a:solidFill>
                <a:latin typeface="Courier New" pitchFamily="34" charset="0"/>
                <a:ea typeface="Courier New" pitchFamily="34" charset="-122"/>
                <a:cs typeface="Courier New" pitchFamily="34" charset="-120"/>
              </a:rPr>
              <a:t>PHASE 1</a:t>
            </a:r>
            <a:endParaRPr lang="en-US" sz="1050" dirty="0"/>
          </a:p>
        </p:txBody>
      </p:sp>
      <p:sp>
        <p:nvSpPr>
          <p:cNvPr id="7" name="Text 5"/>
          <p:cNvSpPr/>
          <p:nvPr/>
        </p:nvSpPr>
        <p:spPr>
          <a:xfrm>
            <a:off x="7772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0F172A"/>
                </a:solidFill>
                <a:latin typeface="Calibri" pitchFamily="34" charset="0"/>
                <a:ea typeface="Calibri" pitchFamily="34" charset="-122"/>
                <a:cs typeface="Calibri" pitchFamily="34" charset="-120"/>
              </a:rPr>
              <a:t>Reconnaissance</a:t>
            </a:r>
            <a:endParaRPr lang="en-US" sz="1400" dirty="0"/>
          </a:p>
        </p:txBody>
      </p:sp>
      <p:sp>
        <p:nvSpPr>
          <p:cNvPr id="8" name="Shape 6"/>
          <p:cNvSpPr/>
          <p:nvPr/>
        </p:nvSpPr>
        <p:spPr>
          <a:xfrm>
            <a:off x="777240" y="4434840"/>
            <a:ext cx="1691640" cy="320040"/>
          </a:xfrm>
          <a:prstGeom prst="roundRect">
            <a:avLst>
              <a:gd name="adj" fmla="val 85714"/>
            </a:avLst>
          </a:prstGeom>
          <a:solidFill>
            <a:srgbClr val="FFFFFF">
              <a:alpha val="10000"/>
            </a:srgbClr>
          </a:solidFill>
          <a:ln/>
        </p:spPr>
      </p:sp>
      <p:sp>
        <p:nvSpPr>
          <p:cNvPr id="9" name="Text 7"/>
          <p:cNvSpPr/>
          <p:nvPr/>
        </p:nvSpPr>
        <p:spPr>
          <a:xfrm>
            <a:off x="777240" y="4434840"/>
            <a:ext cx="1691640" cy="320040"/>
          </a:xfrm>
          <a:prstGeom prst="rect">
            <a:avLst/>
          </a:prstGeom>
          <a:noFill/>
          <a:ln/>
        </p:spPr>
        <p:txBody>
          <a:bodyPr wrap="square" lIns="0" tIns="0" rIns="0" bIns="0" rtlCol="0" anchor="ctr"/>
          <a:lstStyle/>
          <a:p>
            <a:pPr algn="ctr" indent="0" marL="0">
              <a:buNone/>
            </a:pPr>
            <a:r>
              <a:rPr lang="en-US" sz="950" b="1" dirty="0">
                <a:solidFill>
                  <a:srgbClr val="22D3EE"/>
                </a:solidFill>
                <a:latin typeface="Calibri" pitchFamily="34" charset="0"/>
                <a:ea typeface="Calibri" pitchFamily="34" charset="-122"/>
                <a:cs typeface="Calibri" pitchFamily="34" charset="-120"/>
              </a:rPr>
              <a:t>YOU ARE HERE</a:t>
            </a:r>
            <a:endParaRPr lang="en-US" sz="950" dirty="0"/>
          </a:p>
        </p:txBody>
      </p:sp>
      <p:sp>
        <p:nvSpPr>
          <p:cNvPr id="10" name="Shape 8"/>
          <p:cNvSpPr/>
          <p:nvPr/>
        </p:nvSpPr>
        <p:spPr>
          <a:xfrm>
            <a:off x="2868930" y="2377440"/>
            <a:ext cx="1965960" cy="1920240"/>
          </a:xfrm>
          <a:prstGeom prst="roundRect">
            <a:avLst>
              <a:gd name="adj" fmla="val 3810"/>
            </a:avLst>
          </a:prstGeom>
          <a:solidFill>
            <a:srgbClr val="1B2740"/>
          </a:solidFill>
          <a:ln w="9525">
            <a:solidFill>
              <a:srgbClr val="64748B"/>
            </a:solidFill>
            <a:prstDash val="solid"/>
          </a:ln>
        </p:spPr>
      </p:sp>
      <p:sp>
        <p:nvSpPr>
          <p:cNvPr id="11" name="Text 9"/>
          <p:cNvSpPr/>
          <p:nvPr/>
        </p:nvSpPr>
        <p:spPr>
          <a:xfrm>
            <a:off x="300609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2</a:t>
            </a:r>
            <a:endParaRPr lang="en-US" sz="1050" dirty="0"/>
          </a:p>
        </p:txBody>
      </p:sp>
      <p:sp>
        <p:nvSpPr>
          <p:cNvPr id="12" name="Text 10"/>
          <p:cNvSpPr/>
          <p:nvPr/>
        </p:nvSpPr>
        <p:spPr>
          <a:xfrm>
            <a:off x="300609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Scanning &amp;</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Enumeration</a:t>
            </a:r>
            <a:endParaRPr lang="en-US" sz="1400" dirty="0"/>
          </a:p>
        </p:txBody>
      </p:sp>
      <p:sp>
        <p:nvSpPr>
          <p:cNvPr id="13" name="Shape 11"/>
          <p:cNvSpPr/>
          <p:nvPr/>
        </p:nvSpPr>
        <p:spPr>
          <a:xfrm>
            <a:off x="5097780" y="2377440"/>
            <a:ext cx="1965960" cy="1920240"/>
          </a:xfrm>
          <a:prstGeom prst="roundRect">
            <a:avLst>
              <a:gd name="adj" fmla="val 3810"/>
            </a:avLst>
          </a:prstGeom>
          <a:solidFill>
            <a:srgbClr val="1B2740"/>
          </a:solidFill>
          <a:ln w="9525">
            <a:solidFill>
              <a:srgbClr val="64748B"/>
            </a:solidFill>
            <a:prstDash val="solid"/>
          </a:ln>
        </p:spPr>
      </p:sp>
      <p:sp>
        <p:nvSpPr>
          <p:cNvPr id="14" name="Text 12"/>
          <p:cNvSpPr/>
          <p:nvPr/>
        </p:nvSpPr>
        <p:spPr>
          <a:xfrm>
            <a:off x="523494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3</a:t>
            </a:r>
            <a:endParaRPr lang="en-US" sz="1050" dirty="0"/>
          </a:p>
        </p:txBody>
      </p:sp>
      <p:sp>
        <p:nvSpPr>
          <p:cNvPr id="15" name="Text 13"/>
          <p:cNvSpPr/>
          <p:nvPr/>
        </p:nvSpPr>
        <p:spPr>
          <a:xfrm>
            <a:off x="52349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Gaining</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Access</a:t>
            </a:r>
            <a:endParaRPr lang="en-US" sz="1400" dirty="0"/>
          </a:p>
        </p:txBody>
      </p:sp>
      <p:sp>
        <p:nvSpPr>
          <p:cNvPr id="16" name="Shape 14"/>
          <p:cNvSpPr/>
          <p:nvPr/>
        </p:nvSpPr>
        <p:spPr>
          <a:xfrm>
            <a:off x="7326630" y="2377440"/>
            <a:ext cx="1965960" cy="1920240"/>
          </a:xfrm>
          <a:prstGeom prst="roundRect">
            <a:avLst>
              <a:gd name="adj" fmla="val 3810"/>
            </a:avLst>
          </a:prstGeom>
          <a:solidFill>
            <a:srgbClr val="1B2740"/>
          </a:solidFill>
          <a:ln w="9525">
            <a:solidFill>
              <a:srgbClr val="64748B"/>
            </a:solidFill>
            <a:prstDash val="solid"/>
          </a:ln>
        </p:spPr>
      </p:sp>
      <p:sp>
        <p:nvSpPr>
          <p:cNvPr id="17" name="Text 15"/>
          <p:cNvSpPr/>
          <p:nvPr/>
        </p:nvSpPr>
        <p:spPr>
          <a:xfrm>
            <a:off x="746379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4</a:t>
            </a:r>
            <a:endParaRPr lang="en-US" sz="1050" dirty="0"/>
          </a:p>
        </p:txBody>
      </p:sp>
      <p:sp>
        <p:nvSpPr>
          <p:cNvPr id="18" name="Text 16"/>
          <p:cNvSpPr/>
          <p:nvPr/>
        </p:nvSpPr>
        <p:spPr>
          <a:xfrm>
            <a:off x="746379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Maintaining</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Access</a:t>
            </a:r>
            <a:endParaRPr lang="en-US" sz="1400" dirty="0"/>
          </a:p>
        </p:txBody>
      </p:sp>
      <p:sp>
        <p:nvSpPr>
          <p:cNvPr id="19" name="Shape 17"/>
          <p:cNvSpPr/>
          <p:nvPr/>
        </p:nvSpPr>
        <p:spPr>
          <a:xfrm>
            <a:off x="9555480" y="2377440"/>
            <a:ext cx="1965960" cy="1920240"/>
          </a:xfrm>
          <a:prstGeom prst="roundRect">
            <a:avLst>
              <a:gd name="adj" fmla="val 3810"/>
            </a:avLst>
          </a:prstGeom>
          <a:solidFill>
            <a:srgbClr val="1B2740"/>
          </a:solidFill>
          <a:ln w="9525">
            <a:solidFill>
              <a:srgbClr val="64748B"/>
            </a:solidFill>
            <a:prstDash val="solid"/>
          </a:ln>
        </p:spPr>
      </p:sp>
      <p:sp>
        <p:nvSpPr>
          <p:cNvPr id="20" name="Text 18"/>
          <p:cNvSpPr/>
          <p:nvPr/>
        </p:nvSpPr>
        <p:spPr>
          <a:xfrm>
            <a:off x="969264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5</a:t>
            </a:r>
            <a:endParaRPr lang="en-US" sz="1050" dirty="0"/>
          </a:p>
        </p:txBody>
      </p:sp>
      <p:sp>
        <p:nvSpPr>
          <p:cNvPr id="21" name="Text 19"/>
          <p:cNvSpPr/>
          <p:nvPr/>
        </p:nvSpPr>
        <p:spPr>
          <a:xfrm>
            <a:off x="96926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Covering</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Tracks</a:t>
            </a:r>
            <a:endParaRPr lang="en-US" sz="140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1 · Phase 1: Reconnaissance</a:t>
            </a:r>
            <a:endParaRPr lang="en-US" sz="900" dirty="0"/>
          </a:p>
        </p:txBody>
      </p:sp>
      <p:sp>
        <p:nvSpPr>
          <p:cNvPr id="23" name="Text 21"/>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LEARNING OBJECTIVES</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By the End of This Week, You Will Be Able To</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Explain the reconnaissance phase</a:t>
            </a:r>
            <a:endParaRPr lang="en-US" sz="1450" dirty="0"/>
          </a:p>
        </p:txBody>
      </p:sp>
      <p:sp>
        <p:nvSpPr>
          <p:cNvPr id="7" name="Text 5"/>
          <p:cNvSpPr/>
          <p:nvPr/>
        </p:nvSpPr>
        <p:spPr>
          <a:xfrm>
            <a:off x="1234440" y="211226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Distinguish passive from active recon and place packet capture within the wider methodology.</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Capture live traffic with tcpdump</a:t>
            </a:r>
            <a:endParaRPr lang="en-US" sz="1450" dirty="0"/>
          </a:p>
        </p:txBody>
      </p:sp>
      <p:sp>
        <p:nvSpPr>
          <p:cNvPr id="11" name="Text 9"/>
          <p:cNvSpPr/>
          <p:nvPr/>
        </p:nvSpPr>
        <p:spPr>
          <a:xfrm>
            <a:off x="1234440" y="298094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Use interface selection, BPF capture filters, and file output on the command line.</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Analyze captures with tshark</a:t>
            </a:r>
            <a:endParaRPr lang="en-US" sz="1450" dirty="0"/>
          </a:p>
        </p:txBody>
      </p:sp>
      <p:sp>
        <p:nvSpPr>
          <p:cNvPr id="15" name="Text 13"/>
          <p:cNvSpPr/>
          <p:nvPr/>
        </p:nvSpPr>
        <p:spPr>
          <a:xfrm>
            <a:off x="1234440" y="384962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Apply display filters and extract specific fields for scripted, repeatable analysis.</a:t>
            </a:r>
            <a:endParaRPr lang="en-US" sz="1150" dirty="0"/>
          </a:p>
        </p:txBody>
      </p:sp>
      <p:sp>
        <p:nvSpPr>
          <p:cNvPr id="16" name="Shape 14"/>
          <p:cNvSpPr/>
          <p:nvPr/>
        </p:nvSpPr>
        <p:spPr>
          <a:xfrm>
            <a:off x="6126480" y="182880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1264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6720840" y="178308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Investigate traffic in Wireshark</a:t>
            </a:r>
            <a:endParaRPr lang="en-US" sz="1450" dirty="0"/>
          </a:p>
        </p:txBody>
      </p:sp>
      <p:sp>
        <p:nvSpPr>
          <p:cNvPr id="19" name="Text 17"/>
          <p:cNvSpPr/>
          <p:nvPr/>
        </p:nvSpPr>
        <p:spPr>
          <a:xfrm>
            <a:off x="6720840" y="211226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Navigate the GUI, apply display filters, and reconstruct a session with Follow TCP Stream.</a:t>
            </a:r>
            <a:endParaRPr lang="en-US" sz="1150" dirty="0"/>
          </a:p>
        </p:txBody>
      </p:sp>
      <p:sp>
        <p:nvSpPr>
          <p:cNvPr id="20" name="Shape 18"/>
          <p:cNvSpPr/>
          <p:nvPr/>
        </p:nvSpPr>
        <p:spPr>
          <a:xfrm>
            <a:off x="6126480" y="2697480"/>
            <a:ext cx="457200" cy="457200"/>
          </a:xfrm>
          <a:prstGeom prst="roundRect">
            <a:avLst>
              <a:gd name="adj" fmla="val 16000"/>
            </a:avLst>
          </a:prstGeom>
          <a:solidFill>
            <a:srgbClr val="1B2740"/>
          </a:solidFill>
          <a:ln w="12700">
            <a:solidFill>
              <a:srgbClr val="22D3EE"/>
            </a:solidFill>
            <a:prstDash val="solid"/>
          </a:ln>
        </p:spPr>
      </p:sp>
      <p:sp>
        <p:nvSpPr>
          <p:cNvPr id="21" name="Text 19"/>
          <p:cNvSpPr/>
          <p:nvPr/>
        </p:nvSpPr>
        <p:spPr>
          <a:xfrm>
            <a:off x="61264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05</a:t>
            </a:r>
            <a:endParaRPr lang="en-US" sz="1300" dirty="0"/>
          </a:p>
        </p:txBody>
      </p:sp>
      <p:sp>
        <p:nvSpPr>
          <p:cNvPr id="22" name="Text 20"/>
          <p:cNvSpPr/>
          <p:nvPr/>
        </p:nvSpPr>
        <p:spPr>
          <a:xfrm>
            <a:off x="6720840" y="265176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Recognize scan traffic on the wire</a:t>
            </a:r>
            <a:endParaRPr lang="en-US" sz="1450" dirty="0"/>
          </a:p>
        </p:txBody>
      </p:sp>
      <p:sp>
        <p:nvSpPr>
          <p:cNvPr id="23" name="Text 21"/>
          <p:cNvSpPr/>
          <p:nvPr/>
        </p:nvSpPr>
        <p:spPr>
          <a:xfrm>
            <a:off x="6720840" y="298094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Identify the SYN/SYN-ACK/RST patterns that reveal an active port scan in a capture.</a:t>
            </a:r>
            <a:endParaRPr lang="en-US" sz="1150" dirty="0"/>
          </a:p>
        </p:txBody>
      </p:sp>
      <p:sp>
        <p:nvSpPr>
          <p:cNvPr id="24" name="Shape 22"/>
          <p:cNvSpPr/>
          <p:nvPr/>
        </p:nvSpPr>
        <p:spPr>
          <a:xfrm>
            <a:off x="6126480" y="3566160"/>
            <a:ext cx="457200" cy="457200"/>
          </a:xfrm>
          <a:prstGeom prst="roundRect">
            <a:avLst>
              <a:gd name="adj" fmla="val 16000"/>
            </a:avLst>
          </a:prstGeom>
          <a:solidFill>
            <a:srgbClr val="1B2740"/>
          </a:solidFill>
          <a:ln w="12700">
            <a:solidFill>
              <a:srgbClr val="22D3EE"/>
            </a:solidFill>
            <a:prstDash val="solid"/>
          </a:ln>
        </p:spPr>
      </p:sp>
      <p:sp>
        <p:nvSpPr>
          <p:cNvPr id="25" name="Text 23"/>
          <p:cNvSpPr/>
          <p:nvPr/>
        </p:nvSpPr>
        <p:spPr>
          <a:xfrm>
            <a:off x="61264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06</a:t>
            </a:r>
            <a:endParaRPr lang="en-US" sz="1300" dirty="0"/>
          </a:p>
        </p:txBody>
      </p:sp>
      <p:sp>
        <p:nvSpPr>
          <p:cNvPr id="26" name="Text 24"/>
          <p:cNvSpPr/>
          <p:nvPr/>
        </p:nvSpPr>
        <p:spPr>
          <a:xfrm>
            <a:off x="6720840" y="352044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Choose the right tool for the job</a:t>
            </a:r>
            <a:endParaRPr lang="en-US" sz="1450" dirty="0"/>
          </a:p>
        </p:txBody>
      </p:sp>
      <p:sp>
        <p:nvSpPr>
          <p:cNvPr id="27" name="Text 25"/>
          <p:cNvSpPr/>
          <p:nvPr/>
        </p:nvSpPr>
        <p:spPr>
          <a:xfrm>
            <a:off x="6720840" y="384962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Decide when a quick tcpdump one-liner beats a full Wireshark session, or vice versa.</a:t>
            </a:r>
            <a:endParaRPr lang="en-US" sz="1150" dirty="0"/>
          </a:p>
        </p:txBody>
      </p:sp>
      <p:pic>
        <p:nvPicPr>
          <p:cNvPr id="28" name="Image 0" descr="preencoded.png">    </p:cNvPr>
          <p:cNvPicPr>
            <a:picLocks noChangeAspect="1"/>
          </p:cNvPicPr>
          <p:nvPr/>
        </p:nvPicPr>
        <p:blipFill>
          <a:blip r:embed="rId1">
            <a:alphaModFix amt="20000"/>
          </a:blip>
          <a:stretch>
            <a:fillRect/>
          </a:stretch>
        </p:blipFill>
        <p:spPr>
          <a:xfrm>
            <a:off x="10454335" y="5303520"/>
            <a:ext cx="1188720" cy="1188720"/>
          </a:xfrm>
          <a:prstGeom prst="rect">
            <a:avLst/>
          </a:prstGeom>
        </p:spPr>
      </p:pic>
      <p:sp>
        <p:nvSpPr>
          <p:cNvPr id="29" name="Text 2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1 · Phase 1: Reconnaissance</a:t>
            </a:r>
            <a:endParaRPr lang="en-US" sz="900" dirty="0"/>
          </a:p>
        </p:txBody>
      </p:sp>
      <p:sp>
        <p:nvSpPr>
          <p:cNvPr id="30" name="Text 2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What Is Reconnaissance?</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Definition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The systematic gathering of information about a target before any exploitation is attempted. It answers one question: "What is actually out there?"</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First phase, every time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Every recognized attack methodology places recon first. Attacking blind wastes time and creates unnecessary noise.</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Two flavors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Passive recon never touches the target directly (public records, DNS, packet observation). Active recon makes direct contact (pings, scans, banner grabs).</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This week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Packet capture sits at the passive/observational end of recon: you watch what is already moving across the wire.</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Why It Matters</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A findings report is only as strong as the recon behind it. Weak or skipped recon is the single most common reason a real engagement misses something exploitable.</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Why Capture Packets At All?</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0F172A"/>
                </a:solidFill>
                <a:latin typeface="Calibri" pitchFamily="34" charset="0"/>
                <a:ea typeface="Calibri" pitchFamily="34" charset="-122"/>
                <a:cs typeface="Calibri" pitchFamily="34" charset="-120"/>
              </a:rPr>
              <a:t>Logs and dashboards tell you what an application decided to record — a packet capture shows you exactly what left or arrived on the wire, unfiltered by any application's own reporting.</a:t>
            </a:r>
            <a:endParaRPr lang="en-US" sz="1500" dirty="0"/>
          </a:p>
          <a:p>
            <a:pPr marL="228600" indent="-228600">
              <a:lnSpc>
                <a:spcPct val="115000"/>
              </a:lnSpc>
              <a:spcAft>
                <a:spcPts val="1400"/>
              </a:spcAft>
              <a:buSzPct val="100000"/>
              <a:buChar char="•"/>
            </a:pPr>
            <a:r>
              <a:rPr lang="en-US" sz="1500" dirty="0">
                <a:solidFill>
                  <a:srgbClr val="0F172A"/>
                </a:solidFill>
                <a:latin typeface="Calibri" pitchFamily="34" charset="0"/>
                <a:ea typeface="Calibri" pitchFamily="34" charset="-122"/>
                <a:cs typeface="Calibri" pitchFamily="34" charset="-120"/>
              </a:rPr>
              <a:t>Cleartext protocols (Telnet, FTP, unencrypted HTTP) leak credentials directly into a capture — no exploit required, just observation.</a:t>
            </a:r>
            <a:endParaRPr lang="en-US" sz="1500" dirty="0"/>
          </a:p>
          <a:p>
            <a:pPr marL="228600" indent="-228600">
              <a:lnSpc>
                <a:spcPct val="115000"/>
              </a:lnSpc>
              <a:spcAft>
                <a:spcPts val="1400"/>
              </a:spcAft>
              <a:buSzPct val="100000"/>
              <a:buChar char="•"/>
            </a:pPr>
            <a:r>
              <a:rPr lang="en-US" sz="1500" dirty="0">
                <a:solidFill>
                  <a:srgbClr val="0F172A"/>
                </a:solidFill>
                <a:latin typeface="Calibri" pitchFamily="34" charset="0"/>
                <a:ea typeface="Calibri" pitchFamily="34" charset="-122"/>
                <a:cs typeface="Calibri" pitchFamily="34" charset="-120"/>
              </a:rPr>
              <a:t>A capture is evidence: it can be replayed, shared, and re-analyzed after the fact, unlike a live terminal session.</a:t>
            </a:r>
            <a:endParaRPr lang="en-US" sz="1500" dirty="0"/>
          </a:p>
          <a:p>
            <a:pPr marL="228600" indent="-228600">
              <a:lnSpc>
                <a:spcPct val="115000"/>
              </a:lnSpc>
              <a:spcAft>
                <a:spcPts val="1400"/>
              </a:spcAft>
              <a:buSzPct val="100000"/>
              <a:buChar char="•"/>
            </a:pPr>
            <a:r>
              <a:rPr lang="en-US" sz="1500" dirty="0">
                <a:solidFill>
                  <a:srgbClr val="0F172A"/>
                </a:solidFill>
                <a:latin typeface="Calibri" pitchFamily="34" charset="0"/>
                <a:ea typeface="Calibri" pitchFamily="34" charset="-122"/>
                <a:cs typeface="Calibri" pitchFamily="34" charset="-120"/>
              </a:rPr>
              <a:t>The same skill set — capture, filter, reconstruct — is also how you will later recognize your own scans and exploits from a defender's point of view.</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Three Tools, One Skill</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tcpdump, tshark, and Wireshark all read and write the same capture format. Today you will use all three on the same traffic, so you learn where each one earns its place.</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REFRESHER</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Ports &amp; Protocols You Will See Constantly</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1188720"/>
                <a:gridCol w="1920240"/>
                <a:gridCol w="3840480"/>
                <a:gridCol w="3931920"/>
              </a:tblGrid>
              <a:tr h="457200">
                <a:tc>
                  <a:txBody>
                    <a:bodyPr/>
                    <a:lstStyle/>
                    <a:p>
                      <a:pPr algn="l" indent="0" marL="0">
                        <a:buNone/>
                      </a:pPr>
                      <a:r>
                        <a:rPr lang="en-US" sz="1300" b="1" dirty="0">
                          <a:solidFill>
                            <a:srgbClr val="F8FAFC"/>
                          </a:solidFill>
                        </a:rPr>
                        <a:t>Port</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Protocol</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Carries</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Recon relevance</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21</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FTP</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File transfer, often cleartext auth</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Anonymous login + creds visible in a capture</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22</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SSH</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Encrypted remote shell</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Banner reveals version; payload stays encrypted</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23</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Telnet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Cleartext remote shell</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Entire session, including password, is readable</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53</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DNS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Name resolution</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Reveals what hosts a target is looking up</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80 / 443</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HTTP / HTTPS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Web traffic</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HTTP is fully readable; HTTPS payload is not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445</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SMB</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Windows file sharing</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Share names and auth attempts visible unsigned</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5" name="Text 2"/>
          <p:cNvSpPr/>
          <p:nvPr/>
        </p:nvSpPr>
        <p:spPr>
          <a:xfrm>
            <a:off x="640080" y="5943600"/>
            <a:ext cx="10881360" cy="36576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You do not need to memorize every port today — you need to recognize these on sight by Week 3.</a:t>
            </a:r>
            <a:endParaRPr lang="en-US" sz="1150" dirty="0"/>
          </a:p>
        </p:txBody>
      </p:sp>
      <p:sp>
        <p:nvSpPr>
          <p:cNvPr id="6" name="Text 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7" name="Text 4"/>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F172A"/>
          </a:solidFill>
          <a:ln/>
        </p:spPr>
      </p:sp>
      <p:sp>
        <p:nvSpPr>
          <p:cNvPr id="3" name="Text 1"/>
          <p:cNvSpPr/>
          <p:nvPr/>
        </p:nvSpPr>
        <p:spPr>
          <a:xfrm>
            <a:off x="548640" y="640080"/>
            <a:ext cx="32004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TOOL 1</a:t>
            </a:r>
            <a:endParaRPr lang="en-US" sz="1300" dirty="0"/>
          </a:p>
        </p:txBody>
      </p:sp>
      <p:pic>
        <p:nvPicPr>
          <p:cNvPr id="4" name="Image 0" descr="preencoded.png">    </p:cNvPr>
          <p:cNvPicPr>
            <a:picLocks noChangeAspect="1"/>
          </p:cNvPicPr>
          <p:nvPr/>
        </p:nvPicPr>
        <p:blipFill>
          <a:blip r:embed="rId1"/>
          <a:stretch>
            <a:fillRect/>
          </a:stretch>
        </p:blipFill>
        <p:spPr>
          <a:xfrm>
            <a:off x="548640" y="2377440"/>
            <a:ext cx="1371600" cy="1371600"/>
          </a:xfrm>
          <a:prstGeom prst="rect">
            <a:avLst/>
          </a:prstGeom>
        </p:spPr>
      </p:pic>
      <p:sp>
        <p:nvSpPr>
          <p:cNvPr id="5" name="Text 2"/>
          <p:cNvSpPr/>
          <p:nvPr/>
        </p:nvSpPr>
        <p:spPr>
          <a:xfrm>
            <a:off x="548640" y="3886200"/>
            <a:ext cx="3383280" cy="100584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tcpdump</a:t>
            </a:r>
            <a:endParaRPr lang="en-US" sz="3200" dirty="0"/>
          </a:p>
        </p:txBody>
      </p:sp>
      <p:sp>
        <p:nvSpPr>
          <p:cNvPr id="6" name="Text 3"/>
          <p:cNvSpPr/>
          <p:nvPr/>
        </p:nvSpPr>
        <p:spPr>
          <a:xfrm>
            <a:off x="548640" y="4846320"/>
            <a:ext cx="3383280" cy="1097280"/>
          </a:xfrm>
          <a:prstGeom prst="rect">
            <a:avLst/>
          </a:prstGeom>
          <a:noFill/>
          <a:ln/>
        </p:spPr>
        <p:txBody>
          <a:bodyPr wrap="square" lIns="0" tIns="0" rIns="0" bIns="0" rtlCol="0" anchor="ctr"/>
          <a:lstStyle/>
          <a:p>
            <a:pPr indent="0" marL="0">
              <a:buNone/>
            </a:pPr>
            <a:r>
              <a:rPr lang="en-US" sz="1350" i="1" dirty="0">
                <a:solidFill>
                  <a:srgbClr val="94A3B8"/>
                </a:solidFill>
                <a:latin typeface="Calibri" pitchFamily="34" charset="0"/>
                <a:ea typeface="Calibri" pitchFamily="34" charset="-122"/>
                <a:cs typeface="Calibri" pitchFamily="34" charset="-120"/>
              </a:rPr>
              <a:t>The command-line packet sniffer every other capture tool is measured against.</a:t>
            </a:r>
            <a:endParaRPr lang="en-US" sz="1350" dirty="0"/>
          </a:p>
        </p:txBody>
      </p:sp>
      <p:sp>
        <p:nvSpPr>
          <p:cNvPr id="7" name="Text 4"/>
          <p:cNvSpPr/>
          <p:nvPr/>
        </p:nvSpPr>
        <p:spPr>
          <a:xfrm>
            <a:off x="4663440" y="82296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WHAT IT IS</a:t>
            </a:r>
            <a:endParaRPr lang="en-US" sz="1300" dirty="0"/>
          </a:p>
        </p:txBody>
      </p:sp>
      <p:sp>
        <p:nvSpPr>
          <p:cNvPr id="8" name="Text 5"/>
          <p:cNvSpPr/>
          <p:nvPr/>
        </p:nvSpPr>
        <p:spPr>
          <a:xfrm>
            <a:off x="4663440" y="1188720"/>
            <a:ext cx="6858000" cy="2011680"/>
          </a:xfrm>
          <a:prstGeom prst="rect">
            <a:avLst/>
          </a:prstGeom>
          <a:noFill/>
          <a:ln/>
        </p:spPr>
        <p:txBody>
          <a:bodyPr wrap="square" lIns="0" tIns="0" rIns="0" bIns="0" rtlCol="0" anchor="t"/>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A lightweight, scriptable command-line utility that captures packets directly from a network interface and either prints them or writes them to a .pcap file. It has shipped on virtually every Unix-like system for over 30 years.</a:t>
            </a:r>
            <a:endParaRPr lang="en-US" sz="1500" dirty="0"/>
          </a:p>
        </p:txBody>
      </p:sp>
      <p:sp>
        <p:nvSpPr>
          <p:cNvPr id="9" name="Text 6"/>
          <p:cNvSpPr/>
          <p:nvPr/>
        </p:nvSpPr>
        <p:spPr>
          <a:xfrm>
            <a:off x="4663440" y="342900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WHEN TO USE IT</a:t>
            </a:r>
            <a:endParaRPr lang="en-US" sz="1300" dirty="0"/>
          </a:p>
        </p:txBody>
      </p:sp>
      <p:sp>
        <p:nvSpPr>
          <p:cNvPr id="10" name="Text 7"/>
          <p:cNvSpPr/>
          <p:nvPr/>
        </p:nvSpPr>
        <p:spPr>
          <a:xfrm>
            <a:off x="4663440" y="3794760"/>
            <a:ext cx="6858000" cy="237744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are on a remote box with no GUI (a server, a container, a jump host)</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need a fast, disposable capture to confirm traffic exists at all</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want to script or automate a capture as part of a larger workflow</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need to hand a .pcap off to Wireshark for deeper visual analysis later</a:t>
            </a:r>
            <a:endParaRPr lang="en-US" sz="1400" dirty="0"/>
          </a:p>
        </p:txBody>
      </p:sp>
      <p:sp>
        <p:nvSpPr>
          <p:cNvPr id="11"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12"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TCPDUMP · LIVE CAPTURE</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Capturing and Filtering Traffic</a:t>
            </a:r>
            <a:endParaRPr lang="en-US" sz="2600" dirty="0"/>
          </a:p>
        </p:txBody>
      </p:sp>
      <p:sp>
        <p:nvSpPr>
          <p:cNvPr id="4" name="Text 2"/>
          <p:cNvSpPr/>
          <p:nvPr/>
        </p:nvSpPr>
        <p:spPr>
          <a:xfrm>
            <a:off x="640080" y="1298448"/>
            <a:ext cx="10881360" cy="41148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Capture filters use BPF (Berkeley Packet Filter) syntax — applied while capturing, before a single packet is written.</a:t>
            </a:r>
            <a:endParaRPr lang="en-US" sz="1350" dirty="0"/>
          </a:p>
        </p:txBody>
      </p:sp>
      <p:sp>
        <p:nvSpPr>
          <p:cNvPr id="5" name="Shape 3"/>
          <p:cNvSpPr/>
          <p:nvPr/>
        </p:nvSpPr>
        <p:spPr>
          <a:xfrm>
            <a:off x="640080" y="1828800"/>
            <a:ext cx="10881360" cy="2820035"/>
          </a:xfrm>
          <a:prstGeom prst="roundRect">
            <a:avLst>
              <a:gd name="adj" fmla="val 1946"/>
            </a:avLst>
          </a:prstGeom>
          <a:solidFill>
            <a:srgbClr val="0B1220"/>
          </a:solidFill>
          <a:ln/>
        </p:spPr>
      </p:sp>
      <p:sp>
        <p:nvSpPr>
          <p:cNvPr id="6" name="Shape 4"/>
          <p:cNvSpPr/>
          <p:nvPr/>
        </p:nvSpPr>
        <p:spPr>
          <a:xfrm>
            <a:off x="914400" y="2029968"/>
            <a:ext cx="146304" cy="146304"/>
          </a:xfrm>
          <a:prstGeom prst="ellipse">
            <a:avLst/>
          </a:prstGeom>
          <a:solidFill>
            <a:srgbClr val="EF4444"/>
          </a:solidFill>
          <a:ln/>
        </p:spPr>
      </p:sp>
      <p:sp>
        <p:nvSpPr>
          <p:cNvPr id="7" name="Shape 5"/>
          <p:cNvSpPr/>
          <p:nvPr/>
        </p:nvSpPr>
        <p:spPr>
          <a:xfrm>
            <a:off x="1170432" y="2029968"/>
            <a:ext cx="146304" cy="146304"/>
          </a:xfrm>
          <a:prstGeom prst="ellipse">
            <a:avLst/>
          </a:prstGeom>
          <a:solidFill>
            <a:srgbClr val="F59E0B"/>
          </a:solidFill>
          <a:ln/>
        </p:spPr>
      </p:sp>
      <p:sp>
        <p:nvSpPr>
          <p:cNvPr id="8" name="Shape 6"/>
          <p:cNvSpPr/>
          <p:nvPr/>
        </p:nvSpPr>
        <p:spPr>
          <a:xfrm>
            <a:off x="1426464" y="2029968"/>
            <a:ext cx="146304" cy="146304"/>
          </a:xfrm>
          <a:prstGeom prst="ellipse">
            <a:avLst/>
          </a:prstGeom>
          <a:solidFill>
            <a:srgbClr val="10B981"/>
          </a:solidFill>
          <a:ln/>
        </p:spPr>
      </p:sp>
      <p:sp>
        <p:nvSpPr>
          <p:cNvPr id="9" name="Text 7"/>
          <p:cNvSpPr/>
          <p:nvPr/>
        </p:nvSpPr>
        <p:spPr>
          <a:xfrm>
            <a:off x="914400" y="2331720"/>
            <a:ext cx="10332720" cy="2179955"/>
          </a:xfrm>
          <a:prstGeom prst="rect">
            <a:avLst/>
          </a:prstGeom>
          <a:noFill/>
          <a:ln/>
        </p:spPr>
        <p:txBody>
          <a:bodyPr wrap="square" lIns="0" tIns="0" rIns="0" bIns="0" rtlCol="0" anchor="t"/>
          <a:lstStyle/>
          <a:p>
            <a:pPr indent="0" marL="0">
              <a:lnSpc>
                <a:spcPct val="110000"/>
              </a:lnSpc>
              <a:buNone/>
            </a:pPr>
            <a:r>
              <a:rPr lang="en-US" sz="1150" b="1" dirty="0">
                <a:solidFill>
                  <a:srgbClr val="4ADE80"/>
                </a:solidFill>
                <a:latin typeface="Courier New" pitchFamily="34" charset="0"/>
                <a:ea typeface="Courier New" pitchFamily="34" charset="-122"/>
                <a:cs typeface="Courier New" pitchFamily="34" charset="-120"/>
              </a:rPr>
              <a:t>$ tcpdump -i eth0</a:t>
            </a:r>
            <a:endParaRPr lang="en-US" sz="1150" dirty="0"/>
          </a:p>
          <a:p>
            <a:pPr indent="0" marL="0">
              <a:lnSpc>
                <a:spcPct val="110000"/>
              </a:lnSpc>
              <a:buNone/>
            </a:pPr>
            <a:r>
              <a:rPr lang="en-US" sz="1150" dirty="0">
                <a:solidFill>
                  <a:srgbClr val="94A3B8"/>
                </a:solidFill>
                <a:latin typeface="Courier New" pitchFamily="34" charset="0"/>
                <a:ea typeface="Courier New" pitchFamily="34" charset="-122"/>
                <a:cs typeface="Courier New" pitchFamily="34" charset="-120"/>
              </a:rPr>
              <a:t>listening on eth0, link-type EN10MB (Ethernet), snapshot length 262144 bytes</a:t>
            </a:r>
            <a:endParaRPr lang="en-US" sz="1150" dirty="0"/>
          </a:p>
          <a:p>
            <a:pPr indent="0" marL="0">
              <a:lnSpc>
                <a:spcPct val="110000"/>
              </a:lnSpc>
              <a:buNone/>
            </a:pPr>
            <a:r>
              <a:rPr lang="en-US" sz="1150" dirty="0">
                <a:solidFill>
                  <a:srgbClr val="E2E8F0"/>
                </a:solidFill>
                <a:latin typeface="Courier New" pitchFamily="34" charset="0"/>
                <a:ea typeface="Courier New" pitchFamily="34" charset="-122"/>
                <a:cs typeface="Courier New" pitchFamily="34" charset="-120"/>
              </a:rPr>
              <a:t>14:32:01.221331 IP 10.10.1.2.54210 &gt; 10.10.1.10.23: Flags [S], seq 189234</a:t>
            </a:r>
            <a:endParaRPr lang="en-US" sz="1150" dirty="0"/>
          </a:p>
          <a:p>
            <a:pPr indent="0" marL="0">
              <a:lnSpc>
                <a:spcPct val="110000"/>
              </a:lnSpc>
              <a:buNone/>
            </a:pPr>
            <a:r>
              <a:rPr lang="en-US" sz="1150" dirty="0">
                <a:solidFill>
                  <a:srgbClr val="E2E8F0"/>
                </a:solidFill>
                <a:latin typeface="Courier New" pitchFamily="34" charset="0"/>
                <a:ea typeface="Courier New" pitchFamily="34" charset="-122"/>
                <a:cs typeface="Courier New" pitchFamily="34" charset="-120"/>
              </a:rPr>
              <a:t>14:32:01.221502 IP 10.10.1.10.23 &gt; 10.10.1.2.54210: Flags [S.], seq 928811</a:t>
            </a:r>
            <a:endParaRPr lang="en-US" sz="1150" dirty="0"/>
          </a:p>
          <a:p>
            <a:pPr indent="0" marL="0">
              <a:lnSpc>
                <a:spcPct val="110000"/>
              </a:lnSpc>
              <a:buNone/>
            </a:pPr>
            <a:endParaRPr lang="en-US" sz="1150" dirty="0"/>
          </a:p>
          <a:p>
            <a:pPr indent="0" marL="0">
              <a:lnSpc>
                <a:spcPct val="110000"/>
              </a:lnSpc>
              <a:buNone/>
            </a:pPr>
            <a:r>
              <a:rPr lang="en-US" sz="1150" b="1" dirty="0">
                <a:solidFill>
                  <a:srgbClr val="4ADE80"/>
                </a:solidFill>
                <a:latin typeface="Courier New" pitchFamily="34" charset="0"/>
                <a:ea typeface="Courier New" pitchFamily="34" charset="-122"/>
                <a:cs typeface="Courier New" pitchFamily="34" charset="-120"/>
              </a:rPr>
              <a:t>$ tcpdump -i eth0 host 10.10.1.10 and port 23</a:t>
            </a:r>
            <a:endParaRPr lang="en-US" sz="1150" dirty="0"/>
          </a:p>
          <a:p>
            <a:pPr indent="0" marL="0">
              <a:lnSpc>
                <a:spcPct val="110000"/>
              </a:lnSpc>
              <a:buNone/>
            </a:pPr>
            <a:r>
              <a:rPr lang="en-US" sz="1150" dirty="0">
                <a:solidFill>
                  <a:srgbClr val="94A3B8"/>
                </a:solidFill>
                <a:latin typeface="Courier New" pitchFamily="34" charset="0"/>
                <a:ea typeface="Courier New" pitchFamily="34" charset="-122"/>
                <a:cs typeface="Courier New" pitchFamily="34" charset="-120"/>
              </a:rPr>
              <a:t># narrows the capture to one host, one port — far less noise</a:t>
            </a:r>
            <a:endParaRPr lang="en-US" sz="1150" dirty="0"/>
          </a:p>
          <a:p>
            <a:pPr indent="0" marL="0">
              <a:lnSpc>
                <a:spcPct val="110000"/>
              </a:lnSpc>
              <a:buNone/>
            </a:pPr>
            <a:endParaRPr lang="en-US" sz="1150" dirty="0"/>
          </a:p>
          <a:p>
            <a:pPr indent="0" marL="0">
              <a:lnSpc>
                <a:spcPct val="110000"/>
              </a:lnSpc>
              <a:buNone/>
            </a:pPr>
            <a:r>
              <a:rPr lang="en-US" sz="1150" b="1" dirty="0">
                <a:solidFill>
                  <a:srgbClr val="4ADE80"/>
                </a:solidFill>
                <a:latin typeface="Courier New" pitchFamily="34" charset="0"/>
                <a:ea typeface="Courier New" pitchFamily="34" charset="-122"/>
                <a:cs typeface="Courier New" pitchFamily="34" charset="-120"/>
              </a:rPr>
              <a:t>$ tcpdump -i eth0 -w capture.pcap</a:t>
            </a:r>
            <a:endParaRPr lang="en-US" sz="1150" dirty="0"/>
          </a:p>
          <a:p>
            <a:pPr indent="0" marL="0">
              <a:lnSpc>
                <a:spcPct val="110000"/>
              </a:lnSpc>
              <a:buNone/>
            </a:pPr>
            <a:r>
              <a:rPr lang="en-US" sz="1150" dirty="0">
                <a:solidFill>
                  <a:srgbClr val="94A3B8"/>
                </a:solidFill>
                <a:latin typeface="Courier New" pitchFamily="34" charset="0"/>
                <a:ea typeface="Courier New" pitchFamily="34" charset="-122"/>
                <a:cs typeface="Courier New" pitchFamily="34" charset="-120"/>
              </a:rPr>
              <a:t># -w writes raw packets to a file instead of printing them</a:t>
            </a:r>
            <a:endParaRPr lang="en-US" sz="1150" dirty="0"/>
          </a:p>
        </p:txBody>
      </p:sp>
      <p:sp>
        <p:nvSpPr>
          <p:cNvPr id="10" name="Text 8"/>
          <p:cNvSpPr/>
          <p:nvPr/>
        </p:nvSpPr>
        <p:spPr>
          <a:xfrm>
            <a:off x="640080" y="4923155"/>
            <a:ext cx="10881360" cy="1294765"/>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-i selects the interface; host / net / port build the BPF filter expression</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-w saves a capture for later analysis; -r reads a saved capture back</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-n skips DNS resolution — faster, and does not generate extra DNS traffic of its own</a:t>
            </a:r>
            <a:endParaRPr lang="en-US" sz="1250" dirty="0"/>
          </a:p>
        </p:txBody>
      </p:sp>
      <p:sp>
        <p:nvSpPr>
          <p:cNvPr id="11" name="Text 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12" name="Text 10"/>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TCPDUMP · DEEPER INSPECTION</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Reading Raw Bytes and Limiting Output</a:t>
            </a:r>
            <a:endParaRPr lang="en-US" sz="2600" dirty="0"/>
          </a:p>
        </p:txBody>
      </p:sp>
      <p:sp>
        <p:nvSpPr>
          <p:cNvPr id="4" name="Shape 2"/>
          <p:cNvSpPr/>
          <p:nvPr/>
        </p:nvSpPr>
        <p:spPr>
          <a:xfrm>
            <a:off x="640080" y="1508760"/>
            <a:ext cx="10881360" cy="2630170"/>
          </a:xfrm>
          <a:prstGeom prst="roundRect">
            <a:avLst>
              <a:gd name="adj" fmla="val 2086"/>
            </a:avLst>
          </a:prstGeom>
          <a:solidFill>
            <a:srgbClr val="0B1220"/>
          </a:solidFill>
          <a:ln/>
        </p:spPr>
      </p:sp>
      <p:sp>
        <p:nvSpPr>
          <p:cNvPr id="5" name="Shape 3"/>
          <p:cNvSpPr/>
          <p:nvPr/>
        </p:nvSpPr>
        <p:spPr>
          <a:xfrm>
            <a:off x="914400" y="1709928"/>
            <a:ext cx="146304" cy="146304"/>
          </a:xfrm>
          <a:prstGeom prst="ellipse">
            <a:avLst/>
          </a:prstGeom>
          <a:solidFill>
            <a:srgbClr val="EF4444"/>
          </a:solidFill>
          <a:ln/>
        </p:spPr>
      </p:sp>
      <p:sp>
        <p:nvSpPr>
          <p:cNvPr id="6" name="Shape 4"/>
          <p:cNvSpPr/>
          <p:nvPr/>
        </p:nvSpPr>
        <p:spPr>
          <a:xfrm>
            <a:off x="1170432" y="1709928"/>
            <a:ext cx="146304" cy="146304"/>
          </a:xfrm>
          <a:prstGeom prst="ellipse">
            <a:avLst/>
          </a:prstGeom>
          <a:solidFill>
            <a:srgbClr val="F59E0B"/>
          </a:solidFill>
          <a:ln/>
        </p:spPr>
      </p:sp>
      <p:sp>
        <p:nvSpPr>
          <p:cNvPr id="7" name="Shape 5"/>
          <p:cNvSpPr/>
          <p:nvPr/>
        </p:nvSpPr>
        <p:spPr>
          <a:xfrm>
            <a:off x="1426464" y="1709928"/>
            <a:ext cx="146304" cy="146304"/>
          </a:xfrm>
          <a:prstGeom prst="ellipse">
            <a:avLst/>
          </a:prstGeom>
          <a:solidFill>
            <a:srgbClr val="10B981"/>
          </a:solidFill>
          <a:ln/>
        </p:spPr>
      </p:sp>
      <p:sp>
        <p:nvSpPr>
          <p:cNvPr id="8" name="Text 6"/>
          <p:cNvSpPr/>
          <p:nvPr/>
        </p:nvSpPr>
        <p:spPr>
          <a:xfrm>
            <a:off x="914400" y="2011680"/>
            <a:ext cx="10332720" cy="1990090"/>
          </a:xfrm>
          <a:prstGeom prst="rect">
            <a:avLst/>
          </a:prstGeom>
          <a:noFill/>
          <a:ln/>
        </p:spPr>
        <p:txBody>
          <a:bodyPr wrap="square" lIns="0" tIns="0" rIns="0" bIns="0" rtlCol="0" anchor="t"/>
          <a:lstStyle/>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tcpdump -i eth0 -c 5 -X port 21</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14:33:02 IP 10.10.3.2.51110 &gt; 10.10.3.11.21: Flags [P.], seq 1:15</a:t>
            </a:r>
            <a:endParaRPr lang="en-US" sz="1250" dirty="0"/>
          </a:p>
          <a:p>
            <a:pPr indent="0" marL="0">
              <a:lnSpc>
                <a:spcPct val="115000"/>
              </a:lnSpc>
              <a:buNone/>
            </a:pPr>
            <a:r>
              <a:rPr lang="en-US" sz="1250" dirty="0">
                <a:solidFill>
                  <a:srgbClr val="94A3B8"/>
                </a:solidFill>
                <a:latin typeface="Courier New" pitchFamily="34" charset="0"/>
                <a:ea typeface="Courier New" pitchFamily="34" charset="-122"/>
                <a:cs typeface="Courier New" pitchFamily="34" charset="-120"/>
              </a:rPr>
              <a:t>  0x0000:  4500 0037 1a2b 4000 4006 b1c4 0a0a 0302  E..7.+@.@.......</a:t>
            </a:r>
            <a:endParaRPr lang="en-US" sz="1250" dirty="0"/>
          </a:p>
          <a:p>
            <a:pPr indent="0" marL="0">
              <a:lnSpc>
                <a:spcPct val="115000"/>
              </a:lnSpc>
              <a:buNone/>
            </a:pPr>
            <a:r>
              <a:rPr lang="en-US" sz="1250" dirty="0">
                <a:solidFill>
                  <a:srgbClr val="94A3B8"/>
                </a:solidFill>
                <a:latin typeface="Courier New" pitchFamily="34" charset="0"/>
                <a:ea typeface="Courier New" pitchFamily="34" charset="-122"/>
                <a:cs typeface="Courier New" pitchFamily="34" charset="-120"/>
              </a:rPr>
              <a:t>  0x0010:  0a0a 030b c766 0015 3a8e 1f22 8a41 c2f0  .....f..:.."A..</a:t>
            </a:r>
            <a:endParaRPr lang="en-US" sz="1250" dirty="0"/>
          </a:p>
          <a:p>
            <a:pPr indent="0" marL="0">
              <a:lnSpc>
                <a:spcPct val="115000"/>
              </a:lnSpc>
              <a:buNone/>
            </a:pPr>
            <a:r>
              <a:rPr lang="en-US" sz="1250" dirty="0">
                <a:solidFill>
                  <a:srgbClr val="94A3B8"/>
                </a:solidFill>
                <a:latin typeface="Courier New" pitchFamily="34" charset="0"/>
                <a:ea typeface="Courier New" pitchFamily="34" charset="-122"/>
                <a:cs typeface="Courier New" pitchFamily="34" charset="-120"/>
              </a:rPr>
              <a:t>  0x0020:  5018 0200 6e1b 0000 5553 4552 2061 6e6f  P...n...USER.ano</a:t>
            </a:r>
            <a:endParaRPr lang="en-US" sz="1250" dirty="0"/>
          </a:p>
          <a:p>
            <a:pPr indent="0" marL="0">
              <a:lnSpc>
                <a:spcPct val="115000"/>
              </a:lnSpc>
              <a:buNone/>
            </a:pPr>
            <a:r>
              <a:rPr lang="en-US" sz="1250" dirty="0">
                <a:solidFill>
                  <a:srgbClr val="94A3B8"/>
                </a:solidFill>
                <a:latin typeface="Courier New" pitchFamily="34" charset="0"/>
                <a:ea typeface="Courier New" pitchFamily="34" charset="-122"/>
                <a:cs typeface="Courier New" pitchFamily="34" charset="-120"/>
              </a:rPr>
              <a:t>  0x0030:  6e79 6d6f 7573 0d0a                      nymous..</a:t>
            </a:r>
            <a:endParaRPr lang="en-US" sz="1250" dirty="0"/>
          </a:p>
          <a:p>
            <a:pPr indent="0" marL="0">
              <a:lnSpc>
                <a:spcPct val="115000"/>
              </a:lnSpc>
              <a:buNone/>
            </a:pPr>
            <a:endParaRPr lang="en-US" sz="1250" dirty="0"/>
          </a:p>
          <a:p>
            <a:pPr indent="0" marL="0">
              <a:lnSpc>
                <a:spcPct val="115000"/>
              </a:lnSpc>
              <a:buNone/>
            </a:pPr>
            <a:r>
              <a:rPr lang="en-US" sz="1250" dirty="0">
                <a:solidFill>
                  <a:srgbClr val="4ADE80"/>
                </a:solidFill>
                <a:latin typeface="Courier New" pitchFamily="34" charset="0"/>
                <a:ea typeface="Courier New" pitchFamily="34" charset="-122"/>
                <a:cs typeface="Courier New" pitchFamily="34" charset="-120"/>
              </a:rPr>
              <a:t># the ASCII column on the right already shows "USER anonymous"</a:t>
            </a:r>
            <a:endParaRPr lang="en-US" sz="1250" dirty="0"/>
          </a:p>
        </p:txBody>
      </p:sp>
      <p:sp>
        <p:nvSpPr>
          <p:cNvPr id="9" name="Text 7"/>
          <p:cNvSpPr/>
          <p:nvPr/>
        </p:nvSpPr>
        <p:spPr>
          <a:xfrm>
            <a:off x="640080" y="4413250"/>
            <a:ext cx="10881360" cy="180467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-c 5 stops after exactly 5 packets — invaluable when you only need a sample</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-X prints both hex and ASCII side by side, exactly like this slide</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Cleartext protocols like FTP show their commands directly in the ASCII column</a:t>
            </a:r>
            <a:endParaRPr lang="en-US" sz="1250" dirty="0"/>
          </a:p>
        </p:txBody>
      </p:sp>
      <p:sp>
        <p:nvSpPr>
          <p:cNvPr id="10"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11"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F172A"/>
          </a:solidFill>
          <a:ln/>
        </p:spPr>
      </p:sp>
      <p:sp>
        <p:nvSpPr>
          <p:cNvPr id="3" name="Text 1"/>
          <p:cNvSpPr/>
          <p:nvPr/>
        </p:nvSpPr>
        <p:spPr>
          <a:xfrm>
            <a:off x="548640" y="640080"/>
            <a:ext cx="32004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TOOL 2</a:t>
            </a:r>
            <a:endParaRPr lang="en-US" sz="1300" dirty="0"/>
          </a:p>
        </p:txBody>
      </p:sp>
      <p:pic>
        <p:nvPicPr>
          <p:cNvPr id="4" name="Image 0" descr="preencoded.png">    </p:cNvPr>
          <p:cNvPicPr>
            <a:picLocks noChangeAspect="1"/>
          </p:cNvPicPr>
          <p:nvPr/>
        </p:nvPicPr>
        <p:blipFill>
          <a:blip r:embed="rId1"/>
          <a:stretch>
            <a:fillRect/>
          </a:stretch>
        </p:blipFill>
        <p:spPr>
          <a:xfrm>
            <a:off x="548640" y="2377440"/>
            <a:ext cx="1371600" cy="1371600"/>
          </a:xfrm>
          <a:prstGeom prst="rect">
            <a:avLst/>
          </a:prstGeom>
        </p:spPr>
      </p:pic>
      <p:sp>
        <p:nvSpPr>
          <p:cNvPr id="5" name="Text 2"/>
          <p:cNvSpPr/>
          <p:nvPr/>
        </p:nvSpPr>
        <p:spPr>
          <a:xfrm>
            <a:off x="548640" y="3886200"/>
            <a:ext cx="3383280" cy="100584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tshark</a:t>
            </a:r>
            <a:endParaRPr lang="en-US" sz="3200" dirty="0"/>
          </a:p>
        </p:txBody>
      </p:sp>
      <p:sp>
        <p:nvSpPr>
          <p:cNvPr id="6" name="Text 3"/>
          <p:cNvSpPr/>
          <p:nvPr/>
        </p:nvSpPr>
        <p:spPr>
          <a:xfrm>
            <a:off x="548640" y="4846320"/>
            <a:ext cx="3383280" cy="1097280"/>
          </a:xfrm>
          <a:prstGeom prst="rect">
            <a:avLst/>
          </a:prstGeom>
          <a:noFill/>
          <a:ln/>
        </p:spPr>
        <p:txBody>
          <a:bodyPr wrap="square" lIns="0" tIns="0" rIns="0" bIns="0" rtlCol="0" anchor="ctr"/>
          <a:lstStyle/>
          <a:p>
            <a:pPr indent="0" marL="0">
              <a:buNone/>
            </a:pPr>
            <a:r>
              <a:rPr lang="en-US" sz="1350" i="1" dirty="0">
                <a:solidFill>
                  <a:srgbClr val="94A3B8"/>
                </a:solidFill>
                <a:latin typeface="Calibri" pitchFamily="34" charset="0"/>
                <a:ea typeface="Calibri" pitchFamily="34" charset="-122"/>
                <a:cs typeface="Calibri" pitchFamily="34" charset="-120"/>
              </a:rPr>
              <a:t>Wireshark's dissection engine, driven entirely from the command line.</a:t>
            </a:r>
            <a:endParaRPr lang="en-US" sz="1350" dirty="0"/>
          </a:p>
        </p:txBody>
      </p:sp>
      <p:sp>
        <p:nvSpPr>
          <p:cNvPr id="7" name="Text 4"/>
          <p:cNvSpPr/>
          <p:nvPr/>
        </p:nvSpPr>
        <p:spPr>
          <a:xfrm>
            <a:off x="4663440" y="82296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WHAT IT IS</a:t>
            </a:r>
            <a:endParaRPr lang="en-US" sz="1300" dirty="0"/>
          </a:p>
        </p:txBody>
      </p:sp>
      <p:sp>
        <p:nvSpPr>
          <p:cNvPr id="8" name="Text 5"/>
          <p:cNvSpPr/>
          <p:nvPr/>
        </p:nvSpPr>
        <p:spPr>
          <a:xfrm>
            <a:off x="4663440" y="1188720"/>
            <a:ext cx="6858000" cy="2011680"/>
          </a:xfrm>
          <a:prstGeom prst="rect">
            <a:avLst/>
          </a:prstGeom>
          <a:noFill/>
          <a:ln/>
        </p:spPr>
        <p:txBody>
          <a:bodyPr wrap="square" lIns="0" tIns="0" rIns="0" bIns="0" rtlCol="0" anchor="t"/>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The terminal counterpart to Wireshark — same protocol dissectors, same filter language, zero GUI. It reads live interfaces or saved .pcap files and can print exactly the fields you ask for.</a:t>
            </a:r>
            <a:endParaRPr lang="en-US" sz="1500" dirty="0"/>
          </a:p>
        </p:txBody>
      </p:sp>
      <p:sp>
        <p:nvSpPr>
          <p:cNvPr id="9" name="Text 6"/>
          <p:cNvSpPr/>
          <p:nvPr/>
        </p:nvSpPr>
        <p:spPr>
          <a:xfrm>
            <a:off x="4663440" y="342900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WHEN TO USE IT</a:t>
            </a:r>
            <a:endParaRPr lang="en-US" sz="1300" dirty="0"/>
          </a:p>
        </p:txBody>
      </p:sp>
      <p:sp>
        <p:nvSpPr>
          <p:cNvPr id="10" name="Text 7"/>
          <p:cNvSpPr/>
          <p:nvPr/>
        </p:nvSpPr>
        <p:spPr>
          <a:xfrm>
            <a:off x="4663440" y="3794760"/>
            <a:ext cx="6858000" cy="237744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need Wireshark-quality protocol parsing but have no GUI available</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want to extract specific fields (IPs, ports, hostnames) into a script or report</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are analyzing a capture on a remote server over SSH</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need repeatable, scriptable analysis rather than manual point-and-click</a:t>
            </a:r>
            <a:endParaRPr lang="en-US" sz="1400" dirty="0"/>
          </a:p>
        </p:txBody>
      </p:sp>
      <p:sp>
        <p:nvSpPr>
          <p:cNvPr id="11"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12"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TSHARK · DISPLAY FILTERS &amp; FIELD EXTRACTION</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Filtering and Extracting Fields</a:t>
            </a:r>
            <a:endParaRPr lang="en-US" sz="2600" dirty="0"/>
          </a:p>
        </p:txBody>
      </p:sp>
      <p:sp>
        <p:nvSpPr>
          <p:cNvPr id="4" name="Text 2"/>
          <p:cNvSpPr/>
          <p:nvPr/>
        </p:nvSpPr>
        <p:spPr>
          <a:xfrm>
            <a:off x="640080" y="1298448"/>
            <a:ext cx="10881360" cy="41148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Unlike tcpdump's capture filter, -Y is a display filter — it runs against packets already captured, using Wireshark's own filter language.</a:t>
            </a:r>
            <a:endParaRPr lang="en-US" sz="1350" dirty="0"/>
          </a:p>
        </p:txBody>
      </p:sp>
      <p:sp>
        <p:nvSpPr>
          <p:cNvPr id="5" name="Shape 3"/>
          <p:cNvSpPr/>
          <p:nvPr/>
        </p:nvSpPr>
        <p:spPr>
          <a:xfrm>
            <a:off x="640080" y="1828800"/>
            <a:ext cx="10881360" cy="2609533"/>
          </a:xfrm>
          <a:prstGeom prst="roundRect">
            <a:avLst>
              <a:gd name="adj" fmla="val 2102"/>
            </a:avLst>
          </a:prstGeom>
          <a:solidFill>
            <a:srgbClr val="0B1220"/>
          </a:solidFill>
          <a:ln/>
        </p:spPr>
      </p:sp>
      <p:sp>
        <p:nvSpPr>
          <p:cNvPr id="6" name="Shape 4"/>
          <p:cNvSpPr/>
          <p:nvPr/>
        </p:nvSpPr>
        <p:spPr>
          <a:xfrm>
            <a:off x="914400" y="2029968"/>
            <a:ext cx="146304" cy="146304"/>
          </a:xfrm>
          <a:prstGeom prst="ellipse">
            <a:avLst/>
          </a:prstGeom>
          <a:solidFill>
            <a:srgbClr val="EF4444"/>
          </a:solidFill>
          <a:ln/>
        </p:spPr>
      </p:sp>
      <p:sp>
        <p:nvSpPr>
          <p:cNvPr id="7" name="Shape 5"/>
          <p:cNvSpPr/>
          <p:nvPr/>
        </p:nvSpPr>
        <p:spPr>
          <a:xfrm>
            <a:off x="1170432" y="2029968"/>
            <a:ext cx="146304" cy="146304"/>
          </a:xfrm>
          <a:prstGeom prst="ellipse">
            <a:avLst/>
          </a:prstGeom>
          <a:solidFill>
            <a:srgbClr val="F59E0B"/>
          </a:solidFill>
          <a:ln/>
        </p:spPr>
      </p:sp>
      <p:sp>
        <p:nvSpPr>
          <p:cNvPr id="8" name="Shape 6"/>
          <p:cNvSpPr/>
          <p:nvPr/>
        </p:nvSpPr>
        <p:spPr>
          <a:xfrm>
            <a:off x="1426464" y="2029968"/>
            <a:ext cx="146304" cy="146304"/>
          </a:xfrm>
          <a:prstGeom prst="ellipse">
            <a:avLst/>
          </a:prstGeom>
          <a:solidFill>
            <a:srgbClr val="10B981"/>
          </a:solidFill>
          <a:ln/>
        </p:spPr>
      </p:sp>
      <p:sp>
        <p:nvSpPr>
          <p:cNvPr id="9" name="Text 7"/>
          <p:cNvSpPr/>
          <p:nvPr/>
        </p:nvSpPr>
        <p:spPr>
          <a:xfrm>
            <a:off x="914400" y="2331720"/>
            <a:ext cx="10332720" cy="1969452"/>
          </a:xfrm>
          <a:prstGeom prst="rect">
            <a:avLst/>
          </a:prstGeom>
          <a:noFill/>
          <a:ln/>
        </p:spPr>
        <p:txBody>
          <a:bodyPr wrap="square" lIns="0" tIns="0" rIns="0" bIns="0" rtlCol="0" anchor="t"/>
          <a:lstStyle/>
          <a:p>
            <a:pPr indent="0" marL="0">
              <a:lnSpc>
                <a:spcPct val="125000"/>
              </a:lnSpc>
              <a:buNone/>
            </a:pPr>
            <a:r>
              <a:rPr lang="en-US" sz="1300" b="1" dirty="0">
                <a:solidFill>
                  <a:srgbClr val="4ADE80"/>
                </a:solidFill>
                <a:latin typeface="Courier New" pitchFamily="34" charset="0"/>
                <a:ea typeface="Courier New" pitchFamily="34" charset="-122"/>
                <a:cs typeface="Courier New" pitchFamily="34" charset="-120"/>
              </a:rPr>
              <a:t>$ tshark -r capture.pcap -Y telnet</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4   0.000503  10.10.1.10 → 10.10.1.2   TELNET  Will Echo, Will Suppress Go Ahead</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8   0.002362  10.10.1.10 → 10.10.1.2   TELNET  21 bytes data</a:t>
            </a:r>
            <a:endParaRPr lang="en-US" sz="1300" dirty="0"/>
          </a:p>
          <a:p>
            <a:pPr indent="0" marL="0">
              <a:lnSpc>
                <a:spcPct val="125000"/>
              </a:lnSpc>
              <a:buNone/>
            </a:pPr>
            <a:endParaRPr lang="en-US" sz="1300" dirty="0"/>
          </a:p>
          <a:p>
            <a:pPr indent="0" marL="0">
              <a:lnSpc>
                <a:spcPct val="125000"/>
              </a:lnSpc>
              <a:buNone/>
            </a:pPr>
            <a:r>
              <a:rPr lang="en-US" sz="1300" b="1" dirty="0">
                <a:solidFill>
                  <a:srgbClr val="4ADE80"/>
                </a:solidFill>
                <a:latin typeface="Courier New" pitchFamily="34" charset="0"/>
                <a:ea typeface="Courier New" pitchFamily="34" charset="-122"/>
                <a:cs typeface="Courier New" pitchFamily="34" charset="-120"/>
              </a:rPr>
              <a:t>$ tshark -r capture.pcap -T fields -e ip.src -e ip.dst -e tcp.dstport</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10.10.1.2      10.10.1.10     23</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10.10.1.10     10.10.1.2      54210</a:t>
            </a:r>
            <a:endParaRPr lang="en-US" sz="1300" dirty="0"/>
          </a:p>
        </p:txBody>
      </p:sp>
      <p:sp>
        <p:nvSpPr>
          <p:cNvPr id="10" name="Text 8"/>
          <p:cNvSpPr/>
          <p:nvPr/>
        </p:nvSpPr>
        <p:spPr>
          <a:xfrm>
            <a:off x="640080" y="4712653"/>
            <a:ext cx="10881360" cy="1505268"/>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-r reads a saved capture (use -i &lt;iface&gt; instead to capture live)</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-Y applies a display filter — the exact same syntax Wireshark's GUI filter bar uses</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-T fields -e &lt;field&gt; prints only the columns you name — perfect for piping into other tools</a:t>
            </a:r>
            <a:endParaRPr lang="en-US" sz="1250" dirty="0"/>
          </a:p>
        </p:txBody>
      </p:sp>
      <p:sp>
        <p:nvSpPr>
          <p:cNvPr id="11" name="Text 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12" name="Text 10"/>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F172A"/>
          </a:solidFill>
          <a:ln/>
        </p:spPr>
      </p:sp>
      <p:sp>
        <p:nvSpPr>
          <p:cNvPr id="3" name="Text 1"/>
          <p:cNvSpPr/>
          <p:nvPr/>
        </p:nvSpPr>
        <p:spPr>
          <a:xfrm>
            <a:off x="548640" y="640080"/>
            <a:ext cx="32004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TOOL 3</a:t>
            </a:r>
            <a:endParaRPr lang="en-US" sz="1300" dirty="0"/>
          </a:p>
        </p:txBody>
      </p:sp>
      <p:pic>
        <p:nvPicPr>
          <p:cNvPr id="4" name="Image 0" descr="preencoded.png">    </p:cNvPr>
          <p:cNvPicPr>
            <a:picLocks noChangeAspect="1"/>
          </p:cNvPicPr>
          <p:nvPr/>
        </p:nvPicPr>
        <p:blipFill>
          <a:blip r:embed="rId1"/>
          <a:stretch>
            <a:fillRect/>
          </a:stretch>
        </p:blipFill>
        <p:spPr>
          <a:xfrm>
            <a:off x="548640" y="2377440"/>
            <a:ext cx="1371600" cy="1371600"/>
          </a:xfrm>
          <a:prstGeom prst="rect">
            <a:avLst/>
          </a:prstGeom>
        </p:spPr>
      </p:pic>
      <p:sp>
        <p:nvSpPr>
          <p:cNvPr id="5" name="Text 2"/>
          <p:cNvSpPr/>
          <p:nvPr/>
        </p:nvSpPr>
        <p:spPr>
          <a:xfrm>
            <a:off x="548640" y="3886200"/>
            <a:ext cx="3383280" cy="100584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Wireshark</a:t>
            </a:r>
            <a:endParaRPr lang="en-US" sz="3200" dirty="0"/>
          </a:p>
        </p:txBody>
      </p:sp>
      <p:sp>
        <p:nvSpPr>
          <p:cNvPr id="6" name="Text 3"/>
          <p:cNvSpPr/>
          <p:nvPr/>
        </p:nvSpPr>
        <p:spPr>
          <a:xfrm>
            <a:off x="548640" y="4846320"/>
            <a:ext cx="3383280" cy="1097280"/>
          </a:xfrm>
          <a:prstGeom prst="rect">
            <a:avLst/>
          </a:prstGeom>
          <a:noFill/>
          <a:ln/>
        </p:spPr>
        <p:txBody>
          <a:bodyPr wrap="square" lIns="0" tIns="0" rIns="0" bIns="0" rtlCol="0" anchor="ctr"/>
          <a:lstStyle/>
          <a:p>
            <a:pPr indent="0" marL="0">
              <a:buNone/>
            </a:pPr>
            <a:r>
              <a:rPr lang="en-US" sz="1350" i="1" dirty="0">
                <a:solidFill>
                  <a:srgbClr val="94A3B8"/>
                </a:solidFill>
                <a:latin typeface="Calibri" pitchFamily="34" charset="0"/>
                <a:ea typeface="Calibri" pitchFamily="34" charset="-122"/>
                <a:cs typeface="Calibri" pitchFamily="34" charset="-120"/>
              </a:rPr>
              <a:t>The industry-standard graphical protocol analyzer.</a:t>
            </a:r>
            <a:endParaRPr lang="en-US" sz="1350" dirty="0"/>
          </a:p>
        </p:txBody>
      </p:sp>
      <p:sp>
        <p:nvSpPr>
          <p:cNvPr id="7" name="Text 4"/>
          <p:cNvSpPr/>
          <p:nvPr/>
        </p:nvSpPr>
        <p:spPr>
          <a:xfrm>
            <a:off x="4663440" y="82296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WHAT IT IS</a:t>
            </a:r>
            <a:endParaRPr lang="en-US" sz="1300" dirty="0"/>
          </a:p>
        </p:txBody>
      </p:sp>
      <p:sp>
        <p:nvSpPr>
          <p:cNvPr id="8" name="Text 5"/>
          <p:cNvSpPr/>
          <p:nvPr/>
        </p:nvSpPr>
        <p:spPr>
          <a:xfrm>
            <a:off x="4663440" y="1188720"/>
            <a:ext cx="6858000" cy="2011680"/>
          </a:xfrm>
          <a:prstGeom prst="rect">
            <a:avLst/>
          </a:prstGeom>
          <a:noFill/>
          <a:ln/>
        </p:spPr>
        <p:txBody>
          <a:bodyPr wrap="square" lIns="0" tIns="0" rIns="0" bIns="0" rtlCol="0" anchor="t"/>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A GUI application for live capture and deep, visual inspection of network traffic. Its protocol dissectors understand thousands of protocols and reconstruct entire conversations for you, not just individual packets.</a:t>
            </a:r>
            <a:endParaRPr lang="en-US" sz="1500" dirty="0"/>
          </a:p>
        </p:txBody>
      </p:sp>
      <p:sp>
        <p:nvSpPr>
          <p:cNvPr id="9" name="Text 6"/>
          <p:cNvSpPr/>
          <p:nvPr/>
        </p:nvSpPr>
        <p:spPr>
          <a:xfrm>
            <a:off x="4663440" y="342900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WHEN TO USE IT</a:t>
            </a:r>
            <a:endParaRPr lang="en-US" sz="1300" dirty="0"/>
          </a:p>
        </p:txBody>
      </p:sp>
      <p:sp>
        <p:nvSpPr>
          <p:cNvPr id="10" name="Text 7"/>
          <p:cNvSpPr/>
          <p:nvPr/>
        </p:nvSpPr>
        <p:spPr>
          <a:xfrm>
            <a:off x="4663440" y="3794760"/>
            <a:ext cx="6858000" cy="237744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need to visually explore an unfamiliar capture rather than search for one known thing</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want to reconstruct a full conversation (login, file transfer, HTTP request/response)</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are teaching, demonstrating, or documenting findings for a report</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You need statistics — protocol hierarchy, conversation lists, IO graphs — at a glance</a:t>
            </a:r>
            <a:endParaRPr lang="en-US" sz="1400" dirty="0"/>
          </a:p>
        </p:txBody>
      </p:sp>
      <p:sp>
        <p:nvSpPr>
          <p:cNvPr id="11"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12"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TOOL 3 · WIRESHARK</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Capture Filters vs. Display Filters</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Capture filter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Set before you start capturing. Uses BPF syntax, identical to tcpdump (e.g. host 10.10.1.10). Packets that do not match are never recorded at all.</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Display filter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Applied after capture, in the filter bar. Uses Wireshark's own syntax (e.g. tcp.port == 23 or http.request). Nothing is discarded — you are only changing what's shown.</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Follow → TCP Stream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Right-click any packet in a TCP conversation to reconstruct the entire exchange as readable text, in the order it was actually sent — the fastest way to read a cleartext login.</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Color rules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Wireshark colors packets by protocol/state by default (e.g. black for errors, green for HTTP) — a fast visual triage before you filter anything.</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Rule of Thumb</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Capture filters reduce what you record. Display filters reduce what you see. When in doubt, capture broadly and filter narrowly afterward — you can't display data you never captured.</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DECISION GUIDE</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tcpdump vs. tshark vs. Wireshark</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2194560"/>
                <a:gridCol w="2880360"/>
                <a:gridCol w="2880360"/>
                <a:gridCol w="2926080"/>
              </a:tblGrid>
              <a:tr h="457200">
                <a:tc>
                  <a:txBody>
                    <a:bodyPr/>
                    <a:lstStyle/>
                    <a:p>
                      <a:pPr algn="l" indent="0" marL="0">
                        <a:buNone/>
                      </a:pP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tcpdump</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tshark</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Wireshark</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Interface</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Command line</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Command line</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Graphical</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Best for</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Fast, disposable captures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Scripted field extraction</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Deep visual investigation</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Filter syntax</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BPF only</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BPF (capture) + Wireshark (display)</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BPF (capture) + Wireshark (display)</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Needs a GUI?</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Protocol depth</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Minimal decoding</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Full Wireshark dissectors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Full Wireshark dissectors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Typical use here</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Grab traffic on a remote host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Pull fields into a report/script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Follow a stream, read a login</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5" name="Text 2"/>
          <p:cNvSpPr/>
          <p:nvPr/>
        </p:nvSpPr>
        <p:spPr>
          <a:xfrm>
            <a:off x="640080" y="5943600"/>
            <a:ext cx="10881360" cy="36576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All three read and write the same .pcap format — a capture started in one can always be finished in another.</a:t>
            </a:r>
            <a:endParaRPr lang="en-US" sz="1150" dirty="0"/>
          </a:p>
        </p:txBody>
      </p:sp>
      <p:sp>
        <p:nvSpPr>
          <p:cNvPr id="6" name="Text 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7" name="Text 4"/>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COMMON PITFALLS</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Mistakes That Cost Marks — and Time</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Confusing capture and display filter syntax</a:t>
            </a:r>
            <a:endParaRPr lang="en-US" sz="1450" dirty="0"/>
          </a:p>
        </p:txBody>
      </p:sp>
      <p:sp>
        <p:nvSpPr>
          <p:cNvPr id="7" name="Text 5"/>
          <p:cNvSpPr/>
          <p:nvPr/>
        </p:nvSpPr>
        <p:spPr>
          <a:xfrm>
            <a:off x="1234440" y="211226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BPF (host, port) is not the same language as Wireshark's display filters (ip.addr, tcp.port). Mixing them silently fails.</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Forgetting -n / not disabling name resolution</a:t>
            </a:r>
            <a:endParaRPr lang="en-US" sz="1450" dirty="0"/>
          </a:p>
        </p:txBody>
      </p:sp>
      <p:sp>
        <p:nvSpPr>
          <p:cNvPr id="11" name="Text 9"/>
          <p:cNvSpPr/>
          <p:nvPr/>
        </p:nvSpPr>
        <p:spPr>
          <a:xfrm>
            <a:off x="1234440" y="298094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Without it, both tcpdump and tshark generate extra DNS lookups — traffic you didn't mean to create, sitting in your own capture.</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Assuming a switched network shows you everything</a:t>
            </a:r>
            <a:endParaRPr lang="en-US" sz="1450" dirty="0"/>
          </a:p>
        </p:txBody>
      </p:sp>
      <p:sp>
        <p:nvSpPr>
          <p:cNvPr id="15" name="Text 13"/>
          <p:cNvSpPr/>
          <p:nvPr/>
        </p:nvSpPr>
        <p:spPr>
          <a:xfrm>
            <a:off x="1234440" y="384962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On a switch (and on a Docker bridge network), a host normally only sees traffic to and from itself — not its neighbors' conversations.</a:t>
            </a:r>
            <a:endParaRPr lang="en-US" sz="1150" dirty="0"/>
          </a:p>
        </p:txBody>
      </p:sp>
      <p:sp>
        <p:nvSpPr>
          <p:cNvPr id="16" name="Shape 14"/>
          <p:cNvSpPr/>
          <p:nvPr/>
        </p:nvSpPr>
        <p:spPr>
          <a:xfrm>
            <a:off x="640080" y="443484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1234440" y="438912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Treating an encrypted payload as "unreadable, so useless"</a:t>
            </a:r>
            <a:endParaRPr lang="en-US" sz="1450" dirty="0"/>
          </a:p>
        </p:txBody>
      </p:sp>
      <p:sp>
        <p:nvSpPr>
          <p:cNvPr id="19" name="Text 17"/>
          <p:cNvSpPr/>
          <p:nvPr/>
        </p:nvSpPr>
        <p:spPr>
          <a:xfrm>
            <a:off x="1234440" y="471830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Metadata still matters: who talked to whom, when, how much data, and what port — all visible even inside TLS.</a:t>
            </a:r>
            <a:endParaRPr lang="en-US" sz="1150" dirty="0"/>
          </a:p>
        </p:txBody>
      </p:sp>
      <p:sp>
        <p:nvSpPr>
          <p:cNvPr id="20" name="Shape 18"/>
          <p:cNvSpPr/>
          <p:nvPr/>
        </p:nvSpPr>
        <p:spPr>
          <a:xfrm>
            <a:off x="640080" y="5303520"/>
            <a:ext cx="457200" cy="457200"/>
          </a:xfrm>
          <a:prstGeom prst="roundRect">
            <a:avLst>
              <a:gd name="adj" fmla="val 16000"/>
            </a:avLst>
          </a:prstGeom>
          <a:solidFill>
            <a:srgbClr val="1B2740"/>
          </a:solidFill>
          <a:ln w="12700">
            <a:solidFill>
              <a:srgbClr val="22D3EE"/>
            </a:solidFill>
            <a:prstDash val="solid"/>
          </a:ln>
        </p:spPr>
      </p:sp>
      <p:sp>
        <p:nvSpPr>
          <p:cNvPr id="21" name="Text 19"/>
          <p:cNvSpPr/>
          <p:nvPr/>
        </p:nvSpPr>
        <p:spPr>
          <a:xfrm>
            <a:off x="640080" y="530352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05</a:t>
            </a:r>
            <a:endParaRPr lang="en-US" sz="1300" dirty="0"/>
          </a:p>
        </p:txBody>
      </p:sp>
      <p:sp>
        <p:nvSpPr>
          <p:cNvPr id="22" name="Text 20"/>
          <p:cNvSpPr/>
          <p:nvPr/>
        </p:nvSpPr>
        <p:spPr>
          <a:xfrm>
            <a:off x="1234440" y="525780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Not saving raw captures before filtering them away</a:t>
            </a:r>
            <a:endParaRPr lang="en-US" sz="1450" dirty="0"/>
          </a:p>
        </p:txBody>
      </p:sp>
      <p:sp>
        <p:nvSpPr>
          <p:cNvPr id="23" name="Text 21"/>
          <p:cNvSpPr/>
          <p:nvPr/>
        </p:nvSpPr>
        <p:spPr>
          <a:xfrm>
            <a:off x="1234440" y="558698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 display filter narrows what you see, not what exists. Always keep (or export) the original .pcap for the record.</a:t>
            </a:r>
            <a:endParaRPr lang="en-US" sz="11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1 · Phase 1: Reconnaissance</a:t>
            </a:r>
            <a:endParaRPr lang="en-US" sz="900" dirty="0"/>
          </a:p>
        </p:txBody>
      </p:sp>
      <p:sp>
        <p:nvSpPr>
          <p:cNvPr id="25" name="Text 23"/>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QUICK REFERENCE</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Command Cheat Sheet</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5029200"/>
                <a:gridCol w="5852160"/>
              </a:tblGrid>
              <a:tr h="457200">
                <a:tc>
                  <a:txBody>
                    <a:bodyPr/>
                    <a:lstStyle/>
                    <a:p>
                      <a:pPr algn="l" indent="0" marL="0">
                        <a:buNone/>
                      </a:pPr>
                      <a:r>
                        <a:rPr lang="en-US" sz="1300" b="1" dirty="0">
                          <a:solidFill>
                            <a:srgbClr val="F8FAFC"/>
                          </a:solidFill>
                        </a:rPr>
                        <a:t>Command</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What it does</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tcpdump -i eth0</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Capture live on interface eth0, print to screen</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tcpdump -i eth0 -w out.pcap</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Capture and save raw packets to a file</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tcpdump -i eth0 host 10.0.0.5</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Capture filter: only traffic to/from one host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tshark -r out.pcap -Y "tcp.port==23"</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Display filter: show only Telnet traffic in a saved capture</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tshark -r out.pcap -T fields -e ip.src -e ip.dst</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Extract just the source/destination IP of every packet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Follow → TCP Stream (Wireshark GUI)</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Reconstruct one full conversation as readable text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5" name="Text 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6" name="Text 3"/>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HANDS-ON LAB · 2–2.5 HOURS</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Lab 1: Packet Capture &amp; Traffic Analysis</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Environment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disposable Docker network: your own Kali-based attacker container, a legacy Telnet target, and a browser-based Wireshark GUI, all wired together on an isolated subnet.</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1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Capture a live Telnet login with tcpdump, save it, and inspect it with tshark on the command line.</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2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Open the same capture in the Wireshark GUI, filter to the Telnet conversation, and use Follow TCP Stream to read the login in plain text.</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3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Capture and recognize the SYN-scan traffic pattern from an nmap scan against the same target.</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Optional CTF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Two flags are hidden on the target — one earned by sniffing valid credentials, one by a follow-up recon step.</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Bring to the Lab</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Nothing to install beforehand — Docker Desktop and this week's lab repo are all you need. Your worksheet has every command; this deck is your reference while you work.</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1 · Phase 1: Reconnaissance</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KNOWLEDGE CHECK</a:t>
            </a:r>
            <a:endParaRPr lang="en-US" sz="1300" dirty="0"/>
          </a:p>
        </p:txBody>
      </p:sp>
      <p:sp>
        <p:nvSpPr>
          <p:cNvPr id="3" name="Text 1"/>
          <p:cNvSpPr/>
          <p:nvPr/>
        </p:nvSpPr>
        <p:spPr>
          <a:xfrm>
            <a:off x="640080" y="841248"/>
            <a:ext cx="10058400" cy="640080"/>
          </a:xfrm>
          <a:prstGeom prst="rect">
            <a:avLst/>
          </a:prstGeom>
          <a:noFill/>
          <a:ln/>
        </p:spPr>
        <p:txBody>
          <a:bodyPr wrap="square" lIns="0" tIns="0" rIns="0" bIns="0" rtlCol="0" anchor="ctr"/>
          <a:lstStyle/>
          <a:p>
            <a:pPr indent="0" marL="0">
              <a:buNone/>
            </a:pPr>
            <a:r>
              <a:rPr lang="en-US" sz="2800" b="1" dirty="0">
                <a:solidFill>
                  <a:srgbClr val="F8FAFC"/>
                </a:solidFill>
                <a:latin typeface="Calibri" pitchFamily="34" charset="0"/>
                <a:ea typeface="Calibri" pitchFamily="34" charset="-122"/>
                <a:cs typeface="Calibri" pitchFamily="34" charset="-120"/>
              </a:rPr>
              <a:t>Test Yourself Before the Lab</a:t>
            </a:r>
            <a:endParaRPr lang="en-US" sz="2800" dirty="0"/>
          </a:p>
        </p:txBody>
      </p:sp>
      <p:sp>
        <p:nvSpPr>
          <p:cNvPr id="4" name="Shape 2"/>
          <p:cNvSpPr/>
          <p:nvPr/>
        </p:nvSpPr>
        <p:spPr>
          <a:xfrm>
            <a:off x="640080" y="1691640"/>
            <a:ext cx="5257800" cy="2103120"/>
          </a:xfrm>
          <a:prstGeom prst="roundRect">
            <a:avLst>
              <a:gd name="adj" fmla="val 2609"/>
            </a:avLst>
          </a:prstGeom>
          <a:solidFill>
            <a:srgbClr val="1B2740"/>
          </a:solidFill>
          <a:ln/>
        </p:spPr>
      </p:sp>
      <p:sp>
        <p:nvSpPr>
          <p:cNvPr id="5" name="Text 3"/>
          <p:cNvSpPr/>
          <p:nvPr/>
        </p:nvSpPr>
        <p:spPr>
          <a:xfrm>
            <a:off x="868680" y="185623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Q1</a:t>
            </a:r>
            <a:endParaRPr lang="en-US" sz="1300" dirty="0"/>
          </a:p>
        </p:txBody>
      </p:sp>
      <p:sp>
        <p:nvSpPr>
          <p:cNvPr id="6" name="Text 4"/>
          <p:cNvSpPr/>
          <p:nvPr/>
        </p:nvSpPr>
        <p:spPr>
          <a:xfrm>
            <a:off x="868680" y="214884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What is the main difference between a capture filter and a display filter?</a:t>
            </a:r>
            <a:endParaRPr lang="en-US" sz="1300" dirty="0"/>
          </a:p>
        </p:txBody>
      </p:sp>
      <p:sp>
        <p:nvSpPr>
          <p:cNvPr id="7" name="Text 5"/>
          <p:cNvSpPr/>
          <p:nvPr/>
        </p:nvSpPr>
        <p:spPr>
          <a:xfrm>
            <a:off x="868680" y="283464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No difference</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Capture filters limit what's recorded; display filters limit what's shown from an existing capture</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Display filters are faster</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Capture filters only work in Wireshark</a:t>
            </a:r>
            <a:endParaRPr lang="en-US" sz="1100" dirty="0"/>
          </a:p>
        </p:txBody>
      </p:sp>
      <p:sp>
        <p:nvSpPr>
          <p:cNvPr id="8" name="Shape 6"/>
          <p:cNvSpPr/>
          <p:nvPr/>
        </p:nvSpPr>
        <p:spPr>
          <a:xfrm>
            <a:off x="6263640" y="1691640"/>
            <a:ext cx="5257800" cy="2103120"/>
          </a:xfrm>
          <a:prstGeom prst="roundRect">
            <a:avLst>
              <a:gd name="adj" fmla="val 2609"/>
            </a:avLst>
          </a:prstGeom>
          <a:solidFill>
            <a:srgbClr val="1B2740"/>
          </a:solidFill>
          <a:ln/>
        </p:spPr>
      </p:sp>
      <p:sp>
        <p:nvSpPr>
          <p:cNvPr id="9" name="Text 7"/>
          <p:cNvSpPr/>
          <p:nvPr/>
        </p:nvSpPr>
        <p:spPr>
          <a:xfrm>
            <a:off x="6492240" y="185623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Q2</a:t>
            </a:r>
            <a:endParaRPr lang="en-US" sz="1300" dirty="0"/>
          </a:p>
        </p:txBody>
      </p:sp>
      <p:sp>
        <p:nvSpPr>
          <p:cNvPr id="10" name="Text 8"/>
          <p:cNvSpPr/>
          <p:nvPr/>
        </p:nvSpPr>
        <p:spPr>
          <a:xfrm>
            <a:off x="6492240" y="214884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Which flag makes tcpdump write raw packets to a file?</a:t>
            </a:r>
            <a:endParaRPr lang="en-US" sz="1300" dirty="0"/>
          </a:p>
        </p:txBody>
      </p:sp>
      <p:sp>
        <p:nvSpPr>
          <p:cNvPr id="11" name="Text 9"/>
          <p:cNvSpPr/>
          <p:nvPr/>
        </p:nvSpPr>
        <p:spPr>
          <a:xfrm>
            <a:off x="6492240" y="283464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-r</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-w</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-X</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-Y</a:t>
            </a:r>
            <a:endParaRPr lang="en-US" sz="1100" dirty="0"/>
          </a:p>
        </p:txBody>
      </p:sp>
      <p:sp>
        <p:nvSpPr>
          <p:cNvPr id="12" name="Shape 10"/>
          <p:cNvSpPr/>
          <p:nvPr/>
        </p:nvSpPr>
        <p:spPr>
          <a:xfrm>
            <a:off x="640080" y="4023360"/>
            <a:ext cx="5257800" cy="2103120"/>
          </a:xfrm>
          <a:prstGeom prst="roundRect">
            <a:avLst>
              <a:gd name="adj" fmla="val 2609"/>
            </a:avLst>
          </a:prstGeom>
          <a:solidFill>
            <a:srgbClr val="1B2740"/>
          </a:solidFill>
          <a:ln/>
        </p:spPr>
      </p:sp>
      <p:sp>
        <p:nvSpPr>
          <p:cNvPr id="13" name="Text 11"/>
          <p:cNvSpPr/>
          <p:nvPr/>
        </p:nvSpPr>
        <p:spPr>
          <a:xfrm>
            <a:off x="868680" y="418795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Q3</a:t>
            </a:r>
            <a:endParaRPr lang="en-US" sz="1300" dirty="0"/>
          </a:p>
        </p:txBody>
      </p:sp>
      <p:sp>
        <p:nvSpPr>
          <p:cNvPr id="14" name="Text 12"/>
          <p:cNvSpPr/>
          <p:nvPr/>
        </p:nvSpPr>
        <p:spPr>
          <a:xfrm>
            <a:off x="868680" y="448056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Why is Telnet trivial to read in a packet capture, while SSH is not?</a:t>
            </a:r>
            <a:endParaRPr lang="en-US" sz="1300" dirty="0"/>
          </a:p>
        </p:txBody>
      </p:sp>
      <p:sp>
        <p:nvSpPr>
          <p:cNvPr id="15" name="Text 13"/>
          <p:cNvSpPr/>
          <p:nvPr/>
        </p:nvSpPr>
        <p:spPr>
          <a:xfrm>
            <a:off x="868680" y="516636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Telnet uses UDP</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Telnet is unencrypted</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SSH uses fewer packets</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No real difference</a:t>
            </a:r>
            <a:endParaRPr lang="en-US" sz="1100" dirty="0"/>
          </a:p>
        </p:txBody>
      </p:sp>
      <p:sp>
        <p:nvSpPr>
          <p:cNvPr id="16" name="Shape 14"/>
          <p:cNvSpPr/>
          <p:nvPr/>
        </p:nvSpPr>
        <p:spPr>
          <a:xfrm>
            <a:off x="6263640" y="4023360"/>
            <a:ext cx="5257800" cy="2103120"/>
          </a:xfrm>
          <a:prstGeom prst="roundRect">
            <a:avLst>
              <a:gd name="adj" fmla="val 2609"/>
            </a:avLst>
          </a:prstGeom>
          <a:solidFill>
            <a:srgbClr val="1B2740"/>
          </a:solidFill>
          <a:ln/>
        </p:spPr>
      </p:sp>
      <p:sp>
        <p:nvSpPr>
          <p:cNvPr id="17" name="Text 15"/>
          <p:cNvSpPr/>
          <p:nvPr/>
        </p:nvSpPr>
        <p:spPr>
          <a:xfrm>
            <a:off x="6492240" y="418795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Q4</a:t>
            </a:r>
            <a:endParaRPr lang="en-US" sz="1300" dirty="0"/>
          </a:p>
        </p:txBody>
      </p:sp>
      <p:sp>
        <p:nvSpPr>
          <p:cNvPr id="18" name="Text 16"/>
          <p:cNvSpPr/>
          <p:nvPr/>
        </p:nvSpPr>
        <p:spPr>
          <a:xfrm>
            <a:off x="6492240" y="448056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What does tshark's -Y flag apply?</a:t>
            </a:r>
            <a:endParaRPr lang="en-US" sz="1300" dirty="0"/>
          </a:p>
        </p:txBody>
      </p:sp>
      <p:sp>
        <p:nvSpPr>
          <p:cNvPr id="19" name="Text 17"/>
          <p:cNvSpPr/>
          <p:nvPr/>
        </p:nvSpPr>
        <p:spPr>
          <a:xfrm>
            <a:off x="6492240" y="516636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A capture filter</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A display filter (Wireshark syntax)</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An output format</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A save-file path</a:t>
            </a:r>
            <a:endParaRPr lang="en-US" sz="110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1 · Phase 1: Reconnaissance</a:t>
            </a:r>
            <a:endParaRPr lang="en-US" sz="900" dirty="0"/>
          </a:p>
        </p:txBody>
      </p:sp>
      <p:sp>
        <p:nvSpPr>
          <p:cNvPr id="21" name="Text 1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WEEK 1 SUMMARY</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What You Now Know — and What's Next</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Reconnaissance</a:t>
            </a:r>
            <a:endParaRPr lang="en-US" sz="1450" dirty="0"/>
          </a:p>
        </p:txBody>
      </p:sp>
      <p:sp>
        <p:nvSpPr>
          <p:cNvPr id="7" name="Text 5"/>
          <p:cNvSpPr/>
          <p:nvPr/>
        </p:nvSpPr>
        <p:spPr>
          <a:xfrm>
            <a:off x="1234440" y="211226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Passive observation of traffic is the quiet, low-noise starting point of every engagement.</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Three complementary tools</a:t>
            </a:r>
            <a:endParaRPr lang="en-US" sz="1450" dirty="0"/>
          </a:p>
        </p:txBody>
      </p:sp>
      <p:sp>
        <p:nvSpPr>
          <p:cNvPr id="11" name="Text 9"/>
          <p:cNvSpPr/>
          <p:nvPr/>
        </p:nvSpPr>
        <p:spPr>
          <a:xfrm>
            <a:off x="1234440" y="298094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tcpdump for fast capture, tshark for scripted analysis, Wireshark for deep visual investigation.</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Filters have two languages</a:t>
            </a:r>
            <a:endParaRPr lang="en-US" sz="1450" dirty="0"/>
          </a:p>
        </p:txBody>
      </p:sp>
      <p:sp>
        <p:nvSpPr>
          <p:cNvPr id="15" name="Text 13"/>
          <p:cNvSpPr/>
          <p:nvPr/>
        </p:nvSpPr>
        <p:spPr>
          <a:xfrm>
            <a:off x="1234440" y="384962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BPF for capture filters, Wireshark's own syntax for display filters — know which is which.</a:t>
            </a:r>
            <a:endParaRPr lang="en-US" sz="1150" dirty="0"/>
          </a:p>
        </p:txBody>
      </p:sp>
      <p:sp>
        <p:nvSpPr>
          <p:cNvPr id="16" name="Shape 14"/>
          <p:cNvSpPr/>
          <p:nvPr/>
        </p:nvSpPr>
        <p:spPr>
          <a:xfrm>
            <a:off x="640080" y="443484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1234440" y="438912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Next week: OSINT &amp; Active Host Discovery</a:t>
            </a:r>
            <a:endParaRPr lang="en-US" sz="1450" dirty="0"/>
          </a:p>
        </p:txBody>
      </p:sp>
      <p:sp>
        <p:nvSpPr>
          <p:cNvPr id="19" name="Text 17"/>
          <p:cNvSpPr/>
          <p:nvPr/>
        </p:nvSpPr>
        <p:spPr>
          <a:xfrm>
            <a:off x="1234440" y="471830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You'll move from watching traffic to actively querying DNS, WHOIS, and the network itself — still Phase 1, one step more active.</a:t>
            </a:r>
            <a:endParaRPr lang="en-US" sz="1150" dirty="0"/>
          </a:p>
        </p:txBody>
      </p:sp>
      <p:pic>
        <p:nvPicPr>
          <p:cNvPr id="20" name="Image 0" descr="preencoded.png">    </p:cNvPr>
          <p:cNvPicPr>
            <a:picLocks noChangeAspect="1"/>
          </p:cNvPicPr>
          <p:nvPr/>
        </p:nvPicPr>
        <p:blipFill>
          <a:blip r:embed="rId1">
            <a:alphaModFix amt="20000"/>
          </a:blip>
          <a:stretch>
            <a:fillRect/>
          </a:stretch>
        </p:blipFill>
        <p:spPr>
          <a:xfrm>
            <a:off x="10454335" y="5303520"/>
            <a:ext cx="1188720" cy="1188720"/>
          </a:xfrm>
          <a:prstGeom prst="rect">
            <a:avLst/>
          </a:prstGeom>
        </p:spPr>
      </p:pic>
      <p:sp>
        <p:nvSpPr>
          <p:cNvPr id="21"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1 · Phase 1: Reconnaissance</a:t>
            </a:r>
            <a:endParaRPr lang="en-US" sz="900" dirty="0"/>
          </a:p>
        </p:txBody>
      </p:sp>
      <p:sp>
        <p:nvSpPr>
          <p:cNvPr id="22" name="Text 1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2026-08-19T10:35:13Z</dcterms:created>
  <dcterms:modified xsi:type="dcterms:W3CDTF">2026-08-19T10:35:13Z</dcterms:modified>
</cp:coreProperties>
</file>